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name is Geethanjali Thota, student ID S1040006. My dissertation is AgriAI-SG — a full-stack web-based decision support system using deep learning to optimise yield for Singapore's urban farm operators. My supervisor is Dr. Preethi Kesavan. I will take you through every aspect in 10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full structure across 18 slides. I will keep to time — each slide has a time marker.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Singapore imports over 90% of its food. The SFA 30 by 30 initiative targets 30% local production by 2030. Less than 1% of land is suitable for conventional farming. Small urban farm operators currently have NO data-driven tools — they rely on experience. Existing platforms like FarmLogs are designed for large-scale US farming, not Singapore hydroponics. AgriAI-SG is the first accessible AI-powered DSS designed specifically for this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RQ1: No accessible CEA-specific AMS exists for Singapore. AI is in papers only. RQ2: Built AgriAI-SG — four layers, all tests passed. RQ3: YES — DNN Test R-squared 0.9389, exceeds the benchmark. RQ4: All three DeLone and McLean dimensions are met. I will return to evidence for each in the findings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frameworks structure AgriAI-SG. DSRM by Peffers 2007 structures the research methodology. DeLone and McLean IS Success Model 2003 is the primary evaluation framework — Dr. Kesavan required this to appear in Chapter 2 and be applied in Chapter 4. OWASP Top 10 2021 provides the security evaluation standard. Nielsen 1994 heuristics replace a SUS study — participant studies require ethics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peer-reviewed sources each shaped a specific design decision. Van Klompenburg 2020 sets the benchmark we beat. Khaki and Wang 2019 justifies our Dropout architecture. Oikonomidis 2023 identifies the research gap we fill. Avgoustaki and Xydis 2020 confirms our feature importance findings. Bouzid 2024 is our real IoT training data. Sharma 2024 justifies HuberLoss. DeLone and McLean 2003 is the evaluation framework. Patel and Patel 2022 confirms the platform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AgriAI-SG addresses all four gaps simultaneously. Gap 1: no accessible CEA AMS for Singapore. Gap 2: AI only in papers, never in web tools. Gap 3: no controlled DNN vs RF comparison on hydroponic data — Oikonomidis 2023 specifically called for this. Gap 4: no OWASP-aligned full-stack CEA AI-DSS. This is what makes the research contribution novel and significant.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Dataset from Bouzid 2024 — 9,948 real IoT readings, not synthetic. Step 2: Pre-processing — outlier removal, StandardScaler fitted ONLY on training set to prevent data leakage. Step 3: Feature engineering — 5 raw variables become 11 by creating interaction terms like temperature times nutrient TDS. Step 4: 70/15/15 split with random_state=42 for full reproducibility — test set held out completely. Step 5: CropYieldNet — four hidden layers narrowing from 128 to 16 neurons with BatchNorm and Dropout. Step 6: Random Forest with 200 trees as the baseline comparison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Training with AdamW optimiser, learning rate 0.001, HuberLoss delta 1.0 as justified by Sharma 2024. Step 8: Validation showed smooth convergence — Validation R-squared 0.9416, slightly above training, confirming regularisation is working. Step 9: Test results — R-squared 0.9389, MAE 0.165, overfitting gap 0.0016. Step 10: Feature importance via gradient sensitivity — 20 perturbation passes. Step 11: Rankings match agronomy literature exactly — external validity confirmed. WHAT: 4-layer DNN. HOW: BatchNorm and Dropout. WHY: Khaki and Wang 2019 proved this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technology layers. Layer 1: ReactJS 18 — 9 pages, functional components, hooks, Recharts for charts. Layer 2: Spring Boot 3.2 — Spring Security 6 lambda DSL, BCrypt 12 with 4096 rounds NIST compliant, jjwt 0.12.5 with userId as Long claim to prevent ClassCastException. Layer 3: MySQL 8.0 — 6 normalised tables, ENUM types at database level, parameterised JPA queries. Layer 4: Flask and PyTorch — DNN and RF prediction endpoints, health check at 32ms. Critical security point: user NEVER contacts Flask directly — Spring Boot proxies all AI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Database: 6 normalised tables with foreign key constraints and CASCADE DELETE. ENUM types enforce valid values at the database level — not just in application code. Nine ReactJS pages covering the complete farm operator workflow. The most important is AI Insights which has two tabs: Predict using the DNN and Compare showing DNN versus Random Forest side by side. 10 of 25 functional requirements implemented — 15 deferred to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result. DNN Test R-squared 0.9389 — exceeds the Van Klompenburg 2020 benchmark upper bound of 0.92. The overfitting gap for the DNN is 0.0016. The Random Forest gap is 0.0356 — 22 times larger. Van Klompenburg warned that a gap above 0.03 is concerning for CEA datasets of this size. The RF is right in the concerning zone while the DNN generalises excellently. Practical meaning: the DNN predicts yield to within 165 grams per square metre — accurate enough for harvest planning and purchasing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importance via gradient sensitivity — each input is perturbed 20 times and the change in output is measured. Nutrient TDS concentration accounts for 40% of the model's predictive power — consistent with Avgoustaki and Xydis 2020 who found nutrients are the primary driver. Temperature 28% — Kozai 2019. Humidity 18% — Khaki and Wang 2019. The fact that all rankings match the literature is called external validity — the DNN learned real agronomic patterns, not random correlations in the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functional test cases covering both happy-path and edge-case scenarios. All 12 passed. Test case 5 is the most important security test — it tests OWASP A01 Broken Access Control. When a user tries to access another user's farm by changing the farm ID in the URL, the system returns 404 Not Found instead of 403 Forbidden. The 404 is deliberate — it does not reveal whether the resource even exists, providing stronger protection. Test cases 11 and 12 verify the AI endpoints — DNN prediction and the DNN versus RF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Performance: Flask health at 32ms. All non-AI endpoints under 500ms. Login at 280ms — this is deliberate, BCrypt-12 adds about 200ms for brute-force resistance, justified by NIST 2018. AI prediction at 1.4 seconds — due to 20 perturbation passes for confidence scoring; the base DNN forward pass is only 50ms. Security: all four OWASP controls implemented and tested. A01 returns 404 not 403. A02 BCrypt-12 NIST compliant. A03 parameterised JPA. A07 JWT stateless with expiry.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Usability evaluated using Nielsen 1994 ten heuristics. A SUS participant study was not conducted because it requires formal university ethics committee approval. The heuristic method is appropriate for prototype evaluation without participant recruitment. 8 of 10 heuristics are fully compliant. H7 Flexibility is partial — no keyboard shortcuts or filters, these are in the 15 deferred FRs. H10 Help is partial — tooltip hints exist but no full help section, prototype scope limitation. Zero heuristics are non-compliant.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DeLone and McLean evaluation — directly answering Research Question 4. The model was introduced in Chapter 2 Section 2.12 and applied in Chapter 4 Section 4.13 as Dr. Kesavan required. Dimension 1 Information Quality: R-squared 0.9389 exceeds benchmark, features are agronomically valid, confidence scores on every prediction. MET. Dimension 2 System Quality: 12 of 12 tests passed, 4 of 4 OWASP controls, sub-500ms performance. MET. Dimension 3 Net Benefits: complete workflow, all 4 gaps addressed, 8 of 10 heuristics, actionable feature guidance. MET. All three dimensions are met.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close by returning to all four research questions. RQ1: Answered — no accessible CEA AMS, AI only in papers. RQ2: Answered — AgriAI-SG built and tested. RQ3: Answered — DNN Test R-squared 0.9389 exceeds the benchmark. RQ4: Answered — all three DeLone and McLean dimensions met. Four contributions: Practical — first accessible CEA AI-DSS for Singapore. Technical — exceeds benchmark. Academic — fills Oikonomidis 2023 gap. Security — OWASP compliant. AgriAI-SG directly supports Singapore's 30 by 30 food security goal.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levels of implications. At the farm operator level: first accessible tool, answers the planning question, feature importance gives actionable guidance, confidence scores, complete workflow. At the national policy level: demonstrates feasibility, supports SFA 30 by 30, PDPA compliance pathway identified, SFA partnership recommended. At the academic level: fills Oikonomidis 2023 gap, confirms Khaki and Wang 2019 prediction, replicable framework, external validity of feature rankings.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honest assessment of limitations is essential at Masters level. First and most important: the model was trained on a single crop — basil — from Tunisia. Its performance on Singapore's diverse CEA crops has not been validated. Second: 10 of 25 FRs implemented — 15 deferred to future work. Third: no SUS study — ethics approval required. Fourth: localhost only — cloud performance unknown. The roadmap addresses each limitation: near-term Singapore data collection and SFA partnership, medium-term LSTM and Docker deployment, long-term production G-Cloud deployment with real operators.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5F"/>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1E3A5F"/>
          </a:solidFill>
          <a:ln w="12700">
            <a:solidFill>
              <a:srgbClr val="1E3A5F"/>
            </a:solidFill>
            <a:prstDash val="solid"/>
          </a:ln>
        </p:spPr>
        <p:txBody>
          <a:bodyPr/>
          <a:p/>
        </p:txBody>
      </p:sp>
      <p:sp>
        <p:nvSpPr>
          <p:cNvPr id="3" name="Shape 1"/>
          <p:cNvSpPr/>
          <p:nvPr/>
        </p:nvSpPr>
        <p:spPr>
          <a:xfrm>
            <a:off x="0" y="0"/>
            <a:ext cx="109728" cy="6858000"/>
          </a:xfrm>
          <a:prstGeom prst="rect">
            <a:avLst/>
          </a:prstGeom>
          <a:solidFill>
            <a:srgbClr val="0D6B72"/>
          </a:solidFill>
          <a:ln w="12700">
            <a:solidFill>
              <a:srgbClr val="0D6B72"/>
            </a:solidFill>
            <a:prstDash val="solid"/>
          </a:ln>
        </p:spPr>
        <p:txBody>
          <a:bodyPr/>
          <a:p/>
        </p:txBody>
      </p:sp>
      <p:sp>
        <p:nvSpPr>
          <p:cNvPr id="4" name="Shape 2"/>
          <p:cNvSpPr/>
          <p:nvPr/>
        </p:nvSpPr>
        <p:spPr>
          <a:xfrm>
            <a:off x="12051792" y="0"/>
            <a:ext cx="109728" cy="6858000"/>
          </a:xfrm>
          <a:prstGeom prst="rect">
            <a:avLst/>
          </a:prstGeom>
          <a:solidFill>
            <a:srgbClr val="0D6B72"/>
          </a:solidFill>
          <a:ln w="12700">
            <a:solidFill>
              <a:srgbClr val="0D6B72"/>
            </a:solidFill>
            <a:prstDash val="solid"/>
          </a:ln>
        </p:spPr>
        <p:txBody>
          <a:bodyPr/>
          <a:p/>
        </p:txBody>
      </p:sp>
      <p:sp>
        <p:nvSpPr>
          <p:cNvPr id="5" name="Text 3"/>
          <p:cNvSpPr txBox="1"/>
          <p:nvPr/>
        </p:nvSpPr>
        <p:spPr>
          <a:xfrm>
            <a:off x="457200" y="457200"/>
            <a:ext cx="11247120" cy="731520"/>
          </a:xfrm>
          <a:prstGeom prst="rect">
            <a:avLst/>
          </a:prstGeom>
          <a:noFill/>
          <a:ln/>
        </p:spPr>
        <p:txBody>
          <a:bodyPr wrap="square" lIns="25400" tIns="25400" rIns="25400" bIns="25400" rtlCol="0" anchor="ctr"/>
          <a:lstStyle/>
          <a:p>
            <a:pPr algn="ctr" indent="0" marL="0">
              <a:buNone/>
            </a:pPr>
            <a:r>
              <a:rPr lang="en-US" sz="1400" b="1" dirty="0">
                <a:solidFill>
                  <a:srgbClr val="7EC8CC"/>
                </a:solidFill>
                <a:latin typeface="Calibri" pitchFamily="34" charset="0"/>
                <a:ea typeface="Calibri" pitchFamily="34" charset="-122"/>
                <a:cs typeface="Calibri" pitchFamily="34" charset="-120"/>
              </a:rPr>
              <a:t>AgriAI-SG</a:t>
            </a:r>
            <a:endParaRPr lang="en-US" sz="1400" dirty="0"/>
          </a:p>
        </p:txBody>
      </p:sp>
      <p:sp>
        <p:nvSpPr>
          <p:cNvPr id="6" name="Text 4"/>
          <p:cNvSpPr txBox="1"/>
          <p:nvPr/>
        </p:nvSpPr>
        <p:spPr>
          <a:xfrm>
            <a:off x="457200" y="1188720"/>
            <a:ext cx="11247120" cy="1828800"/>
          </a:xfrm>
          <a:prstGeom prst="rect">
            <a:avLst/>
          </a:prstGeom>
          <a:noFill/>
          <a:ln/>
        </p:spPr>
        <p:txBody>
          <a:bodyPr wrap="square" lIns="25400" tIns="25400" rIns="25400" bIns="25400"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A Web-Based Decision Support System for Optimising Yield</a:t>
            </a:r>
            <a:endParaRPr lang="en-US" sz="3200" dirty="0"/>
          </a:p>
          <a:p>
            <a:pPr algn="ctr" indent="0" marL="0">
              <a:buNone/>
            </a:pPr>
            <a:r>
              <a:rPr lang="en-US" sz="3200" b="1" dirty="0">
                <a:solidFill>
                  <a:srgbClr val="FFFFFF"/>
                </a:solidFill>
                <a:latin typeface="Calibri" pitchFamily="34" charset="0"/>
                <a:ea typeface="Calibri" pitchFamily="34" charset="-122"/>
                <a:cs typeface="Calibri" pitchFamily="34" charset="-120"/>
              </a:rPr>
              <a:t>in Singapore's Urban Farms Using Deep Learning</a:t>
            </a:r>
            <a:endParaRPr lang="en-US" sz="3200" dirty="0"/>
          </a:p>
        </p:txBody>
      </p:sp>
      <p:sp>
        <p:nvSpPr>
          <p:cNvPr id="7" name="Shape 5"/>
          <p:cNvSpPr/>
          <p:nvPr/>
        </p:nvSpPr>
        <p:spPr>
          <a:xfrm>
            <a:off x="457200" y="3200400"/>
            <a:ext cx="11247120" cy="36576"/>
          </a:xfrm>
          <a:prstGeom prst="rect">
            <a:avLst/>
          </a:prstGeom>
          <a:solidFill>
            <a:srgbClr val="0D6B72"/>
          </a:solidFill>
          <a:ln w="12700">
            <a:solidFill>
              <a:srgbClr val="0D6B72"/>
            </a:solidFill>
            <a:prstDash val="solid"/>
          </a:ln>
        </p:spPr>
        <p:txBody>
          <a:bodyPr/>
          <a:p/>
        </p:txBody>
      </p:sp>
      <p:sp>
        <p:nvSpPr>
          <p:cNvPr id="8" name="Text 6"/>
          <p:cNvSpPr txBox="1"/>
          <p:nvPr/>
        </p:nvSpPr>
        <p:spPr>
          <a:xfrm>
            <a:off x="457200" y="3337560"/>
            <a:ext cx="11247120" cy="502920"/>
          </a:xfrm>
          <a:prstGeom prst="rect">
            <a:avLst/>
          </a:prstGeom>
          <a:noFill/>
          <a:ln/>
        </p:spPr>
        <p:txBody>
          <a:bodyPr wrap="square" lIns="25400" tIns="25400" rIns="25400" bIns="2540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Geethanjali Thota  ·  S1040006</a:t>
            </a:r>
            <a:endParaRPr lang="en-US" sz="1800" dirty="0"/>
          </a:p>
        </p:txBody>
      </p:sp>
      <p:sp>
        <p:nvSpPr>
          <p:cNvPr id="9" name="Text 7"/>
          <p:cNvSpPr txBox="1"/>
          <p:nvPr/>
        </p:nvSpPr>
        <p:spPr>
          <a:xfrm>
            <a:off x="457200" y="3886200"/>
            <a:ext cx="11247120" cy="411480"/>
          </a:xfrm>
          <a:prstGeom prst="rect">
            <a:avLst/>
          </a:prstGeom>
          <a:noFill/>
          <a:ln/>
        </p:spPr>
        <p:txBody>
          <a:bodyPr wrap="square" lIns="25400" tIns="25400" rIns="25400" bIns="25400" rtlCol="0" anchor="ctr"/>
          <a:lstStyle/>
          <a:p>
            <a:pPr algn="ctr" indent="0" marL="0">
              <a:buNone/>
            </a:pPr>
            <a:r>
              <a:rPr lang="en-US" sz="1200" dirty="0">
                <a:solidFill>
                  <a:srgbClr val="B8CDE0"/>
                </a:solidFill>
                <a:latin typeface="Calibri" pitchFamily="34" charset="0"/>
                <a:ea typeface="Calibri" pitchFamily="34" charset="-122"/>
                <a:cs typeface="Calibri" pitchFamily="34" charset="-120"/>
              </a:rPr>
              <a:t>Supervisor: Dr. Preethi Kesavan  ·  CN7000 MWPL  ·  Masters in Computer Science  ·  UEL / LSBF  ·  2026</a:t>
            </a:r>
            <a:endParaRPr lang="en-US" sz="1200" dirty="0"/>
          </a:p>
        </p:txBody>
      </p:sp>
      <p:sp>
        <p:nvSpPr>
          <p:cNvPr id="10" name="Text 8"/>
          <p:cNvSpPr txBox="1"/>
          <p:nvPr/>
        </p:nvSpPr>
        <p:spPr>
          <a:xfrm>
            <a:off x="457200" y="4343400"/>
            <a:ext cx="11247120" cy="384048"/>
          </a:xfrm>
          <a:prstGeom prst="rect">
            <a:avLst/>
          </a:prstGeom>
          <a:noFill/>
          <a:ln/>
        </p:spPr>
        <p:txBody>
          <a:bodyPr wrap="square" lIns="25400" tIns="25400" rIns="25400" bIns="25400" rtlCol="0" anchor="ctr"/>
          <a:lstStyle/>
          <a:p>
            <a:pPr algn="ctr" indent="0" marL="0">
              <a:buNone/>
            </a:pPr>
            <a:r>
              <a:rPr lang="en-US" sz="1100" dirty="0">
                <a:solidFill>
                  <a:srgbClr val="8AAFC4"/>
                </a:solidFill>
                <a:latin typeface="Calibri" pitchFamily="34" charset="0"/>
                <a:ea typeface="Calibri" pitchFamily="34" charset="-122"/>
                <a:cs typeface="Calibri" pitchFamily="34" charset="-120"/>
              </a:rPr>
              <a:t>Tech Stack:  ReactJS 18  ·  Spring Boot 3.2  ·  MySQL 8.0  ·  PyTorch 2.3.1  ·  Flask 3.0</a:t>
            </a:r>
            <a:endParaRPr lang="en-US" sz="1100" dirty="0"/>
          </a:p>
        </p:txBody>
      </p:sp>
      <p:sp>
        <p:nvSpPr>
          <p:cNvPr id="11" name="Text 9"/>
          <p:cNvSpPr txBox="1"/>
          <p:nvPr/>
        </p:nvSpPr>
        <p:spPr>
          <a:xfrm>
            <a:off x="457200" y="4754880"/>
            <a:ext cx="11247120" cy="384048"/>
          </a:xfrm>
          <a:prstGeom prst="rect">
            <a:avLst/>
          </a:prstGeom>
          <a:noFill/>
          <a:ln/>
        </p:spPr>
        <p:txBody>
          <a:bodyPr wrap="square" lIns="25400" tIns="25400" rIns="25400" bIns="25400" rtlCol="0" anchor="ctr"/>
          <a:lstStyle/>
          <a:p>
            <a:pPr algn="ctr" indent="0" marL="0">
              <a:buNone/>
            </a:pPr>
            <a:r>
              <a:rPr lang="en-US" sz="1100" dirty="0">
                <a:solidFill>
                  <a:srgbClr val="8AAFC4"/>
                </a:solidFill>
                <a:latin typeface="Calibri" pitchFamily="34" charset="0"/>
                <a:ea typeface="Calibri" pitchFamily="34" charset="-122"/>
                <a:cs typeface="Calibri" pitchFamily="34" charset="-120"/>
              </a:rPr>
              <a:t>Method: DSRM  ·  Evaluation: DeLone &amp; McLean IS Model  ·  OWASP Top 10  ·  Nielsen (1994)</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E3A5F"/>
          </a:solidFill>
          <a:ln w="12700">
            <a:solidFill>
              <a:srgbClr val="1E3A5F"/>
            </a:solidFill>
            <a:prstDash val="solid"/>
          </a:ln>
        </p:spPr>
        <p:txBody>
          <a:bodyPr/>
          <a:p/>
        </p:txBody>
      </p:sp>
      <p:sp>
        <p:nvSpPr>
          <p:cNvPr id="3" name="Text 1"/>
          <p:cNvSpPr txBox="1"/>
          <p:nvPr/>
        </p:nvSpPr>
        <p:spPr>
          <a:xfrm>
            <a:off x="365760" y="45720"/>
            <a:ext cx="10058400" cy="566928"/>
          </a:xfrm>
          <a:prstGeom prst="rect">
            <a:avLst/>
          </a:prstGeom>
          <a:noFill/>
          <a:ln/>
        </p:spPr>
        <p:txBody>
          <a:bodyPr wrap="square" lIns="25400" tIns="25400" rIns="25400" bIns="2540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Presentation Structure — 20 Slides · 10 Minutes</a:t>
            </a:r>
            <a:endParaRPr lang="en-US" sz="2200" dirty="0"/>
          </a:p>
        </p:txBody>
      </p:sp>
      <p:sp>
        <p:nvSpPr>
          <p:cNvPr id="4" name="Shape 2"/>
          <p:cNvSpPr/>
          <p:nvPr/>
        </p:nvSpPr>
        <p:spPr>
          <a:xfrm>
            <a:off x="0" y="960120"/>
            <a:ext cx="12161520" cy="45720"/>
          </a:xfrm>
          <a:prstGeom prst="rect">
            <a:avLst/>
          </a:prstGeom>
          <a:solidFill>
            <a:srgbClr val="0D6B72"/>
          </a:solidFill>
          <a:ln w="12700">
            <a:solidFill>
              <a:srgbClr val="0D6B72"/>
            </a:solidFill>
            <a:prstDash val="solid"/>
          </a:ln>
        </p:spPr>
        <p:txBody>
          <a:bodyPr/>
          <a:p/>
        </p:txBody>
      </p:sp>
      <p:sp>
        <p:nvSpPr>
          <p:cNvPr id="5" name="Shape 3"/>
          <p:cNvSpPr/>
          <p:nvPr/>
        </p:nvSpPr>
        <p:spPr>
          <a:xfrm>
            <a:off x="274320" y="1097280"/>
            <a:ext cx="3840480" cy="384048"/>
          </a:xfrm>
          <a:prstGeom prst="rect">
            <a:avLst/>
          </a:prstGeom>
          <a:solidFill>
            <a:srgbClr val="EBF0F7"/>
          </a:solidFill>
          <a:ln w="12700">
            <a:solidFill>
              <a:srgbClr val="EBF0F7"/>
            </a:solidFill>
            <a:prstDash val="solid"/>
          </a:ln>
        </p:spPr>
        <p:txBody>
          <a:bodyPr/>
          <a:p/>
        </p:txBody>
      </p:sp>
      <p:sp>
        <p:nvSpPr>
          <p:cNvPr id="6" name="Shape 4"/>
          <p:cNvSpPr/>
          <p:nvPr/>
        </p:nvSpPr>
        <p:spPr>
          <a:xfrm>
            <a:off x="274320" y="1097280"/>
            <a:ext cx="502920" cy="384048"/>
          </a:xfrm>
          <a:prstGeom prst="rect">
            <a:avLst/>
          </a:prstGeom>
          <a:solidFill>
            <a:srgbClr val="1E3A5F"/>
          </a:solidFill>
          <a:ln w="12700">
            <a:solidFill>
              <a:srgbClr val="1E3A5F"/>
            </a:solidFill>
            <a:prstDash val="solid"/>
          </a:ln>
        </p:spPr>
        <p:txBody>
          <a:bodyPr/>
          <a:p/>
        </p:txBody>
      </p:sp>
      <p:sp>
        <p:nvSpPr>
          <p:cNvPr id="7" name="Text 5"/>
          <p:cNvSpPr txBox="1"/>
          <p:nvPr/>
        </p:nvSpPr>
        <p:spPr>
          <a:xfrm>
            <a:off x="274320" y="1097280"/>
            <a:ext cx="502920" cy="384048"/>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8" name="Text 6"/>
          <p:cNvSpPr txBox="1"/>
          <p:nvPr/>
        </p:nvSpPr>
        <p:spPr>
          <a:xfrm>
            <a:off x="841248" y="1097280"/>
            <a:ext cx="2468880" cy="384048"/>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Singapore Food Security Problem</a:t>
            </a:r>
            <a:endParaRPr lang="en-US" sz="1100" dirty="0"/>
          </a:p>
        </p:txBody>
      </p:sp>
      <p:sp>
        <p:nvSpPr>
          <p:cNvPr id="10" name="Shape 8"/>
          <p:cNvSpPr/>
          <p:nvPr/>
        </p:nvSpPr>
        <p:spPr>
          <a:xfrm>
            <a:off x="4251960" y="1097280"/>
            <a:ext cx="3840480" cy="384048"/>
          </a:xfrm>
          <a:prstGeom prst="rect">
            <a:avLst/>
          </a:prstGeom>
          <a:solidFill>
            <a:srgbClr val="E6F4F5"/>
          </a:solidFill>
          <a:ln w="12700">
            <a:solidFill>
              <a:srgbClr val="E6F4F5"/>
            </a:solidFill>
            <a:prstDash val="solid"/>
          </a:ln>
        </p:spPr>
        <p:txBody>
          <a:bodyPr/>
          <a:p/>
        </p:txBody>
      </p:sp>
      <p:sp>
        <p:nvSpPr>
          <p:cNvPr id="11" name="Shape 9"/>
          <p:cNvSpPr/>
          <p:nvPr/>
        </p:nvSpPr>
        <p:spPr>
          <a:xfrm>
            <a:off x="4251960" y="1097280"/>
            <a:ext cx="502920" cy="384048"/>
          </a:xfrm>
          <a:prstGeom prst="rect">
            <a:avLst/>
          </a:prstGeom>
          <a:solidFill>
            <a:srgbClr val="1E3A5F"/>
          </a:solidFill>
          <a:ln w="12700">
            <a:solidFill>
              <a:srgbClr val="1E3A5F"/>
            </a:solidFill>
            <a:prstDash val="solid"/>
          </a:ln>
        </p:spPr>
        <p:txBody>
          <a:bodyPr/>
          <a:p/>
        </p:txBody>
      </p:sp>
      <p:sp>
        <p:nvSpPr>
          <p:cNvPr id="12" name="Text 10"/>
          <p:cNvSpPr txBox="1"/>
          <p:nvPr/>
        </p:nvSpPr>
        <p:spPr>
          <a:xfrm>
            <a:off x="4251960" y="1097280"/>
            <a:ext cx="502920" cy="384048"/>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3" name="Text 11"/>
          <p:cNvSpPr txBox="1"/>
          <p:nvPr/>
        </p:nvSpPr>
        <p:spPr>
          <a:xfrm>
            <a:off x="4818888" y="1097280"/>
            <a:ext cx="2468880" cy="384048"/>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Research Questions &amp; Answers</a:t>
            </a:r>
            <a:endParaRPr lang="en-US" sz="1100" dirty="0"/>
          </a:p>
        </p:txBody>
      </p:sp>
      <p:sp>
        <p:nvSpPr>
          <p:cNvPr id="14" name="Text 12"/>
          <p:cNvSpPr txBox="1"/>
          <p:nvPr/>
        </p:nvSpPr>
        <p:spPr>
          <a:xfrm>
            <a:off x="7315200" y="1097280"/>
            <a:ext cx="749808" cy="384048"/>
          </a:xfrm>
          <a:prstGeom prst="rect">
            <a:avLst/>
          </a:prstGeom>
          <a:noFill/>
          <a:ln/>
        </p:spPr>
        <p:txBody>
          <a:bodyPr wrap="square" lIns="25400" tIns="25400" rIns="25400" bIns="25400" rtlCol="0" anchor="ctr"/>
          <a:lstStyle/>
          <a:p>
            <a:pPr algn="r" indent="0" marL="0">
              <a:buNone/>
            </a:pPr>
            <a:r>
              <a:rPr lang="en-US" sz="1000" dirty="0">
                <a:solidFill>
                  <a:srgbClr val="718096"/>
                </a:solidFill>
                <a:latin typeface="Calibri" pitchFamily="34" charset="0"/>
                <a:ea typeface="Calibri" pitchFamily="34" charset="-122"/>
                <a:cs typeface="Calibri" pitchFamily="34" charset="-120"/>
              </a:rPr>
              <a:t>0:45 – 1:30</a:t>
            </a:r>
            <a:endParaRPr lang="en-US" sz="1000" dirty="0"/>
          </a:p>
        </p:txBody>
      </p:sp>
      <p:sp>
        <p:nvSpPr>
          <p:cNvPr id="15" name="Shape 13"/>
          <p:cNvSpPr/>
          <p:nvPr/>
        </p:nvSpPr>
        <p:spPr>
          <a:xfrm>
            <a:off x="8229600" y="1097280"/>
            <a:ext cx="3840480" cy="384048"/>
          </a:xfrm>
          <a:prstGeom prst="rect">
            <a:avLst/>
          </a:prstGeom>
          <a:solidFill>
            <a:srgbClr val="EBF0F7"/>
          </a:solidFill>
          <a:ln w="12700">
            <a:solidFill>
              <a:srgbClr val="EBF0F7"/>
            </a:solidFill>
            <a:prstDash val="solid"/>
          </a:ln>
        </p:spPr>
        <p:txBody>
          <a:bodyPr/>
          <a:p/>
        </p:txBody>
      </p:sp>
      <p:sp>
        <p:nvSpPr>
          <p:cNvPr id="16" name="Shape 14"/>
          <p:cNvSpPr/>
          <p:nvPr/>
        </p:nvSpPr>
        <p:spPr>
          <a:xfrm>
            <a:off x="8229600" y="1097280"/>
            <a:ext cx="502920" cy="384048"/>
          </a:xfrm>
          <a:prstGeom prst="rect">
            <a:avLst/>
          </a:prstGeom>
          <a:solidFill>
            <a:srgbClr val="1E3A5F"/>
          </a:solidFill>
          <a:ln w="12700">
            <a:solidFill>
              <a:srgbClr val="1E3A5F"/>
            </a:solidFill>
            <a:prstDash val="solid"/>
          </a:ln>
        </p:spPr>
        <p:txBody>
          <a:bodyPr/>
          <a:p/>
        </p:txBody>
      </p:sp>
      <p:sp>
        <p:nvSpPr>
          <p:cNvPr id="17" name="Text 15"/>
          <p:cNvSpPr txBox="1"/>
          <p:nvPr/>
        </p:nvSpPr>
        <p:spPr>
          <a:xfrm>
            <a:off x="8229600" y="1097280"/>
            <a:ext cx="502920" cy="384048"/>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18" name="Text 16"/>
          <p:cNvSpPr txBox="1"/>
          <p:nvPr/>
        </p:nvSpPr>
        <p:spPr>
          <a:xfrm>
            <a:off x="8796528" y="1097280"/>
            <a:ext cx="2468880" cy="384048"/>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Theoretical Frameworks</a:t>
            </a:r>
            <a:endParaRPr lang="en-US" sz="1100" dirty="0"/>
          </a:p>
        </p:txBody>
      </p:sp>
      <p:sp>
        <p:nvSpPr>
          <p:cNvPr id="20" name="Shape 18"/>
          <p:cNvSpPr/>
          <p:nvPr/>
        </p:nvSpPr>
        <p:spPr>
          <a:xfrm>
            <a:off x="274320" y="1572768"/>
            <a:ext cx="3840480" cy="384048"/>
          </a:xfrm>
          <a:prstGeom prst="rect">
            <a:avLst/>
          </a:prstGeom>
          <a:solidFill>
            <a:srgbClr val="E6F4F5"/>
          </a:solidFill>
          <a:ln w="12700">
            <a:solidFill>
              <a:srgbClr val="E6F4F5"/>
            </a:solidFill>
            <a:prstDash val="solid"/>
          </a:ln>
        </p:spPr>
        <p:txBody>
          <a:bodyPr/>
          <a:p/>
        </p:txBody>
      </p:sp>
      <p:sp>
        <p:nvSpPr>
          <p:cNvPr id="21" name="Shape 19"/>
          <p:cNvSpPr/>
          <p:nvPr/>
        </p:nvSpPr>
        <p:spPr>
          <a:xfrm>
            <a:off x="274320" y="1572768"/>
            <a:ext cx="502920" cy="384048"/>
          </a:xfrm>
          <a:prstGeom prst="rect">
            <a:avLst/>
          </a:prstGeom>
          <a:solidFill>
            <a:srgbClr val="1E3A5F"/>
          </a:solidFill>
          <a:ln w="12700">
            <a:solidFill>
              <a:srgbClr val="1E3A5F"/>
            </a:solidFill>
            <a:prstDash val="solid"/>
          </a:ln>
        </p:spPr>
        <p:txBody>
          <a:bodyPr/>
          <a:p/>
        </p:txBody>
      </p:sp>
      <p:sp>
        <p:nvSpPr>
          <p:cNvPr id="22" name="Text 20"/>
          <p:cNvSpPr txBox="1"/>
          <p:nvPr/>
        </p:nvSpPr>
        <p:spPr>
          <a:xfrm>
            <a:off x="274320" y="1572768"/>
            <a:ext cx="502920" cy="384048"/>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23" name="Text 21"/>
          <p:cNvSpPr txBox="1"/>
          <p:nvPr/>
        </p:nvSpPr>
        <p:spPr>
          <a:xfrm>
            <a:off x="841248" y="1572768"/>
            <a:ext cx="2468880" cy="384048"/>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Literature Review</a:t>
            </a:r>
            <a:endParaRPr lang="en-US" sz="1100" dirty="0"/>
          </a:p>
        </p:txBody>
      </p:sp>
      <p:sp>
        <p:nvSpPr>
          <p:cNvPr id="25" name="Shape 23"/>
          <p:cNvSpPr/>
          <p:nvPr/>
        </p:nvSpPr>
        <p:spPr>
          <a:xfrm>
            <a:off x="4251960" y="1572768"/>
            <a:ext cx="3840480" cy="384048"/>
          </a:xfrm>
          <a:prstGeom prst="rect">
            <a:avLst/>
          </a:prstGeom>
          <a:solidFill>
            <a:srgbClr val="EBF0F7"/>
          </a:solidFill>
          <a:ln w="12700">
            <a:solidFill>
              <a:srgbClr val="EBF0F7"/>
            </a:solidFill>
            <a:prstDash val="solid"/>
          </a:ln>
        </p:spPr>
        <p:txBody>
          <a:bodyPr/>
          <a:p/>
        </p:txBody>
      </p:sp>
      <p:sp>
        <p:nvSpPr>
          <p:cNvPr id="26" name="Shape 24"/>
          <p:cNvSpPr/>
          <p:nvPr/>
        </p:nvSpPr>
        <p:spPr>
          <a:xfrm>
            <a:off x="4251960" y="1572768"/>
            <a:ext cx="502920" cy="384048"/>
          </a:xfrm>
          <a:prstGeom prst="rect">
            <a:avLst/>
          </a:prstGeom>
          <a:solidFill>
            <a:srgbClr val="1E3A5F"/>
          </a:solidFill>
          <a:ln w="12700">
            <a:solidFill>
              <a:srgbClr val="1E3A5F"/>
            </a:solidFill>
            <a:prstDash val="solid"/>
          </a:ln>
        </p:spPr>
        <p:txBody>
          <a:bodyPr/>
          <a:p/>
        </p:txBody>
      </p:sp>
      <p:sp>
        <p:nvSpPr>
          <p:cNvPr id="27" name="Text 25"/>
          <p:cNvSpPr txBox="1"/>
          <p:nvPr/>
        </p:nvSpPr>
        <p:spPr>
          <a:xfrm>
            <a:off x="4251960" y="1572768"/>
            <a:ext cx="502920" cy="384048"/>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28" name="Text 26"/>
          <p:cNvSpPr txBox="1"/>
          <p:nvPr/>
        </p:nvSpPr>
        <p:spPr>
          <a:xfrm>
            <a:off x="4818888" y="1572768"/>
            <a:ext cx="2468880" cy="384048"/>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Research Gap AgriAI-SG Fills</a:t>
            </a:r>
            <a:endParaRPr lang="en-US" sz="1100" dirty="0"/>
          </a:p>
        </p:txBody>
      </p:sp>
      <p:sp>
        <p:nvSpPr>
          <p:cNvPr id="30" name="Shape 28"/>
          <p:cNvSpPr/>
          <p:nvPr/>
        </p:nvSpPr>
        <p:spPr>
          <a:xfrm>
            <a:off x="8229600" y="1572768"/>
            <a:ext cx="3840480" cy="384048"/>
          </a:xfrm>
          <a:prstGeom prst="rect">
            <a:avLst/>
          </a:prstGeom>
          <a:solidFill>
            <a:srgbClr val="E6F4F5"/>
          </a:solidFill>
          <a:ln w="12700">
            <a:solidFill>
              <a:srgbClr val="E6F4F5"/>
            </a:solidFill>
            <a:prstDash val="solid"/>
          </a:ln>
        </p:spPr>
        <p:txBody>
          <a:bodyPr/>
          <a:p/>
        </p:txBody>
      </p:sp>
      <p:sp>
        <p:nvSpPr>
          <p:cNvPr id="31" name="Shape 29"/>
          <p:cNvSpPr/>
          <p:nvPr/>
        </p:nvSpPr>
        <p:spPr>
          <a:xfrm>
            <a:off x="8229600" y="1572768"/>
            <a:ext cx="502920" cy="384048"/>
          </a:xfrm>
          <a:prstGeom prst="rect">
            <a:avLst/>
          </a:prstGeom>
          <a:solidFill>
            <a:srgbClr val="1E3A5F"/>
          </a:solidFill>
          <a:ln w="12700">
            <a:solidFill>
              <a:srgbClr val="1E3A5F"/>
            </a:solidFill>
            <a:prstDash val="solid"/>
          </a:ln>
        </p:spPr>
        <p:txBody>
          <a:bodyPr/>
          <a:p/>
        </p:txBody>
      </p:sp>
      <p:sp>
        <p:nvSpPr>
          <p:cNvPr id="32" name="Text 30"/>
          <p:cNvSpPr txBox="1"/>
          <p:nvPr/>
        </p:nvSpPr>
        <p:spPr>
          <a:xfrm>
            <a:off x="8229600" y="1572768"/>
            <a:ext cx="502920" cy="384048"/>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33" name="Text 31"/>
          <p:cNvSpPr txBox="1"/>
          <p:nvPr/>
        </p:nvSpPr>
        <p:spPr>
          <a:xfrm>
            <a:off x="8796528" y="1572768"/>
            <a:ext cx="2468880" cy="384048"/>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Deep Learning Pipeline (Steps 1–6)</a:t>
            </a:r>
            <a:endParaRPr lang="en-US" sz="1100" dirty="0"/>
          </a:p>
        </p:txBody>
      </p:sp>
      <p:sp>
        <p:nvSpPr>
          <p:cNvPr id="34" name="Text 32"/>
          <p:cNvSpPr txBox="1"/>
          <p:nvPr/>
        </p:nvSpPr>
        <p:spPr>
          <a:xfrm>
            <a:off x="11292840" y="1572768"/>
            <a:ext cx="749808" cy="384048"/>
          </a:xfrm>
          <a:prstGeom prst="rect">
            <a:avLst/>
          </a:prstGeom>
          <a:noFill/>
          <a:ln/>
        </p:spPr>
        <p:txBody>
          <a:bodyPr wrap="square" lIns="25400" tIns="25400" rIns="25400" bIns="25400" rtlCol="0" anchor="ctr"/>
          <a:lstStyle/>
          <a:p>
            <a:pPr algn="r" indent="0" marL="0">
              <a:buNone/>
            </a:pPr>
            <a:r>
              <a:rPr lang="en-US" sz="1000" dirty="0">
                <a:solidFill>
                  <a:srgbClr val="718096"/>
                </a:solidFill>
                <a:latin typeface="Calibri" pitchFamily="34" charset="0"/>
                <a:ea typeface="Calibri" pitchFamily="34" charset="-122"/>
                <a:cs typeface="Calibri" pitchFamily="34" charset="-120"/>
              </a:rPr>
              <a:t>3:30 – 4:30</a:t>
            </a:r>
            <a:endParaRPr lang="en-US" sz="1000" dirty="0"/>
          </a:p>
        </p:txBody>
      </p:sp>
      <p:sp>
        <p:nvSpPr>
          <p:cNvPr id="35" name="Shape 33"/>
          <p:cNvSpPr/>
          <p:nvPr/>
        </p:nvSpPr>
        <p:spPr>
          <a:xfrm>
            <a:off x="274320" y="2048256"/>
            <a:ext cx="3840480" cy="384048"/>
          </a:xfrm>
          <a:prstGeom prst="rect">
            <a:avLst/>
          </a:prstGeom>
          <a:solidFill>
            <a:srgbClr val="EBF0F7"/>
          </a:solidFill>
          <a:ln w="12700">
            <a:solidFill>
              <a:srgbClr val="EBF0F7"/>
            </a:solidFill>
            <a:prstDash val="solid"/>
          </a:ln>
        </p:spPr>
        <p:txBody>
          <a:bodyPr/>
          <a:p/>
        </p:txBody>
      </p:sp>
      <p:sp>
        <p:nvSpPr>
          <p:cNvPr id="36" name="Shape 34"/>
          <p:cNvSpPr/>
          <p:nvPr/>
        </p:nvSpPr>
        <p:spPr>
          <a:xfrm>
            <a:off x="274320" y="2048256"/>
            <a:ext cx="502920" cy="384048"/>
          </a:xfrm>
          <a:prstGeom prst="rect">
            <a:avLst/>
          </a:prstGeom>
          <a:solidFill>
            <a:srgbClr val="1E3A5F"/>
          </a:solidFill>
          <a:ln w="12700">
            <a:solidFill>
              <a:srgbClr val="1E3A5F"/>
            </a:solidFill>
            <a:prstDash val="solid"/>
          </a:ln>
        </p:spPr>
        <p:txBody>
          <a:bodyPr/>
          <a:p/>
        </p:txBody>
      </p:sp>
      <p:sp>
        <p:nvSpPr>
          <p:cNvPr id="37" name="Text 35"/>
          <p:cNvSpPr txBox="1"/>
          <p:nvPr/>
        </p:nvSpPr>
        <p:spPr>
          <a:xfrm>
            <a:off x="274320" y="2048256"/>
            <a:ext cx="502920" cy="384048"/>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38" name="Text 36"/>
          <p:cNvSpPr txBox="1"/>
          <p:nvPr/>
        </p:nvSpPr>
        <p:spPr>
          <a:xfrm>
            <a:off x="841248" y="2048256"/>
            <a:ext cx="2468880" cy="384048"/>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Deep Learning Pipeline (Steps 7–11)</a:t>
            </a:r>
            <a:endParaRPr lang="en-US" sz="1100" dirty="0"/>
          </a:p>
        </p:txBody>
      </p:sp>
      <p:sp>
        <p:nvSpPr>
          <p:cNvPr id="40" name="Shape 38"/>
          <p:cNvSpPr/>
          <p:nvPr/>
        </p:nvSpPr>
        <p:spPr>
          <a:xfrm>
            <a:off x="4251960" y="2048256"/>
            <a:ext cx="3840480" cy="384048"/>
          </a:xfrm>
          <a:prstGeom prst="rect">
            <a:avLst/>
          </a:prstGeom>
          <a:solidFill>
            <a:srgbClr val="E6F4F5"/>
          </a:solidFill>
          <a:ln w="12700">
            <a:solidFill>
              <a:srgbClr val="E6F4F5"/>
            </a:solidFill>
            <a:prstDash val="solid"/>
          </a:ln>
        </p:spPr>
        <p:txBody>
          <a:bodyPr/>
          <a:p/>
        </p:txBody>
      </p:sp>
      <p:sp>
        <p:nvSpPr>
          <p:cNvPr id="41" name="Shape 39"/>
          <p:cNvSpPr/>
          <p:nvPr/>
        </p:nvSpPr>
        <p:spPr>
          <a:xfrm>
            <a:off x="4251960" y="2048256"/>
            <a:ext cx="502920" cy="384048"/>
          </a:xfrm>
          <a:prstGeom prst="rect">
            <a:avLst/>
          </a:prstGeom>
          <a:solidFill>
            <a:srgbClr val="1E3A5F"/>
          </a:solidFill>
          <a:ln w="12700">
            <a:solidFill>
              <a:srgbClr val="1E3A5F"/>
            </a:solidFill>
            <a:prstDash val="solid"/>
          </a:ln>
        </p:spPr>
        <p:txBody>
          <a:bodyPr/>
          <a:p/>
        </p:txBody>
      </p:sp>
      <p:sp>
        <p:nvSpPr>
          <p:cNvPr id="42" name="Text 40"/>
          <p:cNvSpPr txBox="1"/>
          <p:nvPr/>
        </p:nvSpPr>
        <p:spPr>
          <a:xfrm>
            <a:off x="4251960" y="2048256"/>
            <a:ext cx="502920" cy="384048"/>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3" name="Text 41"/>
          <p:cNvSpPr txBox="1"/>
          <p:nvPr/>
        </p:nvSpPr>
        <p:spPr>
          <a:xfrm>
            <a:off x="4818888" y="2048256"/>
            <a:ext cx="2468880" cy="384048"/>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System Architecture — 4 Layers</a:t>
            </a:r>
            <a:endParaRPr lang="en-US" sz="1100" dirty="0"/>
          </a:p>
        </p:txBody>
      </p:sp>
      <p:sp>
        <p:nvSpPr>
          <p:cNvPr id="45" name="Shape 43"/>
          <p:cNvSpPr/>
          <p:nvPr/>
        </p:nvSpPr>
        <p:spPr>
          <a:xfrm>
            <a:off x="8229600" y="2048256"/>
            <a:ext cx="3840480" cy="384048"/>
          </a:xfrm>
          <a:prstGeom prst="rect">
            <a:avLst/>
          </a:prstGeom>
          <a:solidFill>
            <a:srgbClr val="EBF0F7"/>
          </a:solidFill>
          <a:ln w="12700">
            <a:solidFill>
              <a:srgbClr val="EBF0F7"/>
            </a:solidFill>
            <a:prstDash val="solid"/>
          </a:ln>
        </p:spPr>
        <p:txBody>
          <a:bodyPr/>
          <a:p/>
        </p:txBody>
      </p:sp>
      <p:sp>
        <p:nvSpPr>
          <p:cNvPr id="46" name="Shape 44"/>
          <p:cNvSpPr/>
          <p:nvPr/>
        </p:nvSpPr>
        <p:spPr>
          <a:xfrm>
            <a:off x="8229600" y="2048256"/>
            <a:ext cx="502920" cy="384048"/>
          </a:xfrm>
          <a:prstGeom prst="rect">
            <a:avLst/>
          </a:prstGeom>
          <a:solidFill>
            <a:srgbClr val="1E3A5F"/>
          </a:solidFill>
          <a:ln w="12700">
            <a:solidFill>
              <a:srgbClr val="1E3A5F"/>
            </a:solidFill>
            <a:prstDash val="solid"/>
          </a:ln>
        </p:spPr>
        <p:txBody>
          <a:bodyPr/>
          <a:p/>
        </p:txBody>
      </p:sp>
      <p:sp>
        <p:nvSpPr>
          <p:cNvPr id="47" name="Text 45"/>
          <p:cNvSpPr txBox="1"/>
          <p:nvPr/>
        </p:nvSpPr>
        <p:spPr>
          <a:xfrm>
            <a:off x="8229600" y="2048256"/>
            <a:ext cx="502920" cy="384048"/>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8" name="Text 46"/>
          <p:cNvSpPr txBox="1"/>
          <p:nvPr/>
        </p:nvSpPr>
        <p:spPr>
          <a:xfrm>
            <a:off x="8796528" y="2048256"/>
            <a:ext cx="2468880" cy="384048"/>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Database Design &amp; UI Pages</a:t>
            </a:r>
            <a:endParaRPr lang="en-US" sz="1100" dirty="0"/>
          </a:p>
        </p:txBody>
      </p:sp>
      <p:sp>
        <p:nvSpPr>
          <p:cNvPr id="49" name="Text 47"/>
          <p:cNvSpPr txBox="1"/>
          <p:nvPr/>
        </p:nvSpPr>
        <p:spPr>
          <a:xfrm>
            <a:off x="11292840" y="2048256"/>
            <a:ext cx="749808" cy="384048"/>
          </a:xfrm>
          <a:prstGeom prst="rect">
            <a:avLst/>
          </a:prstGeom>
          <a:noFill/>
          <a:ln/>
        </p:spPr>
        <p:txBody>
          <a:bodyPr wrap="square" lIns="25400" tIns="25400" rIns="25400" bIns="25400" rtlCol="0" anchor="ctr"/>
          <a:lstStyle/>
          <a:p>
            <a:pPr algn="r" indent="0" marL="0">
              <a:buNone/>
            </a:pPr>
            <a:r>
              <a:rPr lang="en-US" sz="1000" dirty="0">
                <a:solidFill>
                  <a:srgbClr val="718096"/>
                </a:solidFill>
                <a:latin typeface="Calibri" pitchFamily="34" charset="0"/>
                <a:ea typeface="Calibri" pitchFamily="34" charset="-122"/>
                <a:cs typeface="Calibri" pitchFamily="34" charset="-120"/>
              </a:rPr>
              <a:t>5:45 – 6:15</a:t>
            </a:r>
            <a:endParaRPr lang="en-US" sz="1000" dirty="0"/>
          </a:p>
        </p:txBody>
      </p:sp>
      <p:sp>
        <p:nvSpPr>
          <p:cNvPr id="50" name="Shape 48"/>
          <p:cNvSpPr/>
          <p:nvPr/>
        </p:nvSpPr>
        <p:spPr>
          <a:xfrm>
            <a:off x="274320" y="2523744"/>
            <a:ext cx="3840480" cy="384048"/>
          </a:xfrm>
          <a:prstGeom prst="rect">
            <a:avLst/>
          </a:prstGeom>
          <a:solidFill>
            <a:srgbClr val="E6F4F5"/>
          </a:solidFill>
          <a:ln w="12700">
            <a:solidFill>
              <a:srgbClr val="E6F4F5"/>
            </a:solidFill>
            <a:prstDash val="solid"/>
          </a:ln>
        </p:spPr>
        <p:txBody>
          <a:bodyPr/>
          <a:p/>
        </p:txBody>
      </p:sp>
      <p:sp>
        <p:nvSpPr>
          <p:cNvPr id="51" name="Shape 49"/>
          <p:cNvSpPr/>
          <p:nvPr/>
        </p:nvSpPr>
        <p:spPr>
          <a:xfrm>
            <a:off x="274320" y="2523744"/>
            <a:ext cx="502920" cy="384048"/>
          </a:xfrm>
          <a:prstGeom prst="rect">
            <a:avLst/>
          </a:prstGeom>
          <a:solidFill>
            <a:srgbClr val="1E3A5F"/>
          </a:solidFill>
          <a:ln w="12700">
            <a:solidFill>
              <a:srgbClr val="1E3A5F"/>
            </a:solidFill>
            <a:prstDash val="solid"/>
          </a:ln>
        </p:spPr>
        <p:txBody>
          <a:bodyPr/>
          <a:p/>
        </p:txBody>
      </p:sp>
      <p:sp>
        <p:nvSpPr>
          <p:cNvPr id="52" name="Text 50"/>
          <p:cNvSpPr txBox="1"/>
          <p:nvPr/>
        </p:nvSpPr>
        <p:spPr>
          <a:xfrm>
            <a:off x="274320" y="2523744"/>
            <a:ext cx="502920" cy="384048"/>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53" name="Text 51"/>
          <p:cNvSpPr txBox="1"/>
          <p:nvPr/>
        </p:nvSpPr>
        <p:spPr>
          <a:xfrm>
            <a:off x="841248" y="2523744"/>
            <a:ext cx="2468880" cy="384048"/>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Dimension 1: AI Results</a:t>
            </a:r>
            <a:endParaRPr lang="en-US" sz="1100" dirty="0"/>
          </a:p>
        </p:txBody>
      </p:sp>
      <p:sp>
        <p:nvSpPr>
          <p:cNvPr id="55" name="Shape 53"/>
          <p:cNvSpPr/>
          <p:nvPr/>
        </p:nvSpPr>
        <p:spPr>
          <a:xfrm>
            <a:off x="4251960" y="2523744"/>
            <a:ext cx="3840480" cy="384048"/>
          </a:xfrm>
          <a:prstGeom prst="rect">
            <a:avLst/>
          </a:prstGeom>
          <a:solidFill>
            <a:srgbClr val="EBF0F7"/>
          </a:solidFill>
          <a:ln w="12700">
            <a:solidFill>
              <a:srgbClr val="EBF0F7"/>
            </a:solidFill>
            <a:prstDash val="solid"/>
          </a:ln>
        </p:spPr>
        <p:txBody>
          <a:bodyPr/>
          <a:p/>
        </p:txBody>
      </p:sp>
      <p:sp>
        <p:nvSpPr>
          <p:cNvPr id="56" name="Shape 54"/>
          <p:cNvSpPr/>
          <p:nvPr/>
        </p:nvSpPr>
        <p:spPr>
          <a:xfrm>
            <a:off x="4251960" y="2523744"/>
            <a:ext cx="502920" cy="384048"/>
          </a:xfrm>
          <a:prstGeom prst="rect">
            <a:avLst/>
          </a:prstGeom>
          <a:solidFill>
            <a:srgbClr val="1E3A5F"/>
          </a:solidFill>
          <a:ln w="12700">
            <a:solidFill>
              <a:srgbClr val="1E3A5F"/>
            </a:solidFill>
            <a:prstDash val="solid"/>
          </a:ln>
        </p:spPr>
        <p:txBody>
          <a:bodyPr/>
          <a:p/>
        </p:txBody>
      </p:sp>
      <p:sp>
        <p:nvSpPr>
          <p:cNvPr id="57" name="Text 55"/>
          <p:cNvSpPr txBox="1"/>
          <p:nvPr/>
        </p:nvSpPr>
        <p:spPr>
          <a:xfrm>
            <a:off x="4251960" y="2523744"/>
            <a:ext cx="502920" cy="384048"/>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58" name="Text 56"/>
          <p:cNvSpPr txBox="1"/>
          <p:nvPr/>
        </p:nvSpPr>
        <p:spPr>
          <a:xfrm>
            <a:off x="4818888" y="2523744"/>
            <a:ext cx="2468880" cy="384048"/>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Dimension 1: Feature Importance</a:t>
            </a:r>
            <a:endParaRPr lang="en-US" sz="1100" dirty="0"/>
          </a:p>
        </p:txBody>
      </p:sp>
      <p:sp>
        <p:nvSpPr>
          <p:cNvPr id="60" name="Shape 58"/>
          <p:cNvSpPr/>
          <p:nvPr/>
        </p:nvSpPr>
        <p:spPr>
          <a:xfrm>
            <a:off x="8229600" y="2523744"/>
            <a:ext cx="3840480" cy="384048"/>
          </a:xfrm>
          <a:prstGeom prst="rect">
            <a:avLst/>
          </a:prstGeom>
          <a:solidFill>
            <a:srgbClr val="E6F4F5"/>
          </a:solidFill>
          <a:ln w="12700">
            <a:solidFill>
              <a:srgbClr val="E6F4F5"/>
            </a:solidFill>
            <a:prstDash val="solid"/>
          </a:ln>
        </p:spPr>
        <p:txBody>
          <a:bodyPr/>
          <a:p/>
        </p:txBody>
      </p:sp>
      <p:sp>
        <p:nvSpPr>
          <p:cNvPr id="61" name="Shape 59"/>
          <p:cNvSpPr/>
          <p:nvPr/>
        </p:nvSpPr>
        <p:spPr>
          <a:xfrm>
            <a:off x="8229600" y="2523744"/>
            <a:ext cx="502920" cy="384048"/>
          </a:xfrm>
          <a:prstGeom prst="rect">
            <a:avLst/>
          </a:prstGeom>
          <a:solidFill>
            <a:srgbClr val="1E3A5F"/>
          </a:solidFill>
          <a:ln w="12700">
            <a:solidFill>
              <a:srgbClr val="1E3A5F"/>
            </a:solidFill>
            <a:prstDash val="solid"/>
          </a:ln>
        </p:spPr>
        <p:txBody>
          <a:bodyPr/>
          <a:p/>
        </p:txBody>
      </p:sp>
      <p:sp>
        <p:nvSpPr>
          <p:cNvPr id="62" name="Text 60"/>
          <p:cNvSpPr txBox="1"/>
          <p:nvPr/>
        </p:nvSpPr>
        <p:spPr>
          <a:xfrm>
            <a:off x="8229600" y="2523744"/>
            <a:ext cx="502920" cy="384048"/>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63" name="Text 61"/>
          <p:cNvSpPr txBox="1"/>
          <p:nvPr/>
        </p:nvSpPr>
        <p:spPr>
          <a:xfrm>
            <a:off x="8796528" y="2523744"/>
            <a:ext cx="2468880" cy="384048"/>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Dimension 2: Functional Testing</a:t>
            </a:r>
            <a:endParaRPr lang="en-US" sz="1100" dirty="0"/>
          </a:p>
        </p:txBody>
      </p:sp>
      <p:sp>
        <p:nvSpPr>
          <p:cNvPr id="64" name="Text 62"/>
          <p:cNvSpPr txBox="1"/>
          <p:nvPr/>
        </p:nvSpPr>
        <p:spPr>
          <a:xfrm>
            <a:off x="11292840" y="2523744"/>
            <a:ext cx="749808" cy="384048"/>
          </a:xfrm>
          <a:prstGeom prst="rect">
            <a:avLst/>
          </a:prstGeom>
          <a:noFill/>
          <a:ln/>
        </p:spPr>
        <p:txBody>
          <a:bodyPr wrap="square" lIns="25400" tIns="25400" rIns="25400" bIns="25400" rtlCol="0" anchor="ctr"/>
          <a:lstStyle/>
          <a:p>
            <a:pPr algn="r" indent="0" marL="0">
              <a:buNone/>
            </a:pPr>
            <a:r>
              <a:rPr lang="en-US" sz="1000" dirty="0">
                <a:solidFill>
                  <a:srgbClr val="718096"/>
                </a:solidFill>
                <a:latin typeface="Calibri" pitchFamily="34" charset="0"/>
                <a:ea typeface="Calibri" pitchFamily="34" charset="-122"/>
                <a:cs typeface="Calibri" pitchFamily="34" charset="-120"/>
              </a:rPr>
              <a:t>7:20 – 7:40</a:t>
            </a:r>
            <a:endParaRPr lang="en-US" sz="1000" dirty="0"/>
          </a:p>
        </p:txBody>
      </p:sp>
      <p:sp>
        <p:nvSpPr>
          <p:cNvPr id="65" name="Shape 63"/>
          <p:cNvSpPr/>
          <p:nvPr/>
        </p:nvSpPr>
        <p:spPr>
          <a:xfrm>
            <a:off x="274320" y="2999232"/>
            <a:ext cx="3840480" cy="384048"/>
          </a:xfrm>
          <a:prstGeom prst="rect">
            <a:avLst/>
          </a:prstGeom>
          <a:solidFill>
            <a:srgbClr val="EBF0F7"/>
          </a:solidFill>
          <a:ln w="12700">
            <a:solidFill>
              <a:srgbClr val="EBF0F7"/>
            </a:solidFill>
            <a:prstDash val="solid"/>
          </a:ln>
        </p:spPr>
        <p:txBody>
          <a:bodyPr/>
          <a:p/>
        </p:txBody>
      </p:sp>
      <p:sp>
        <p:nvSpPr>
          <p:cNvPr id="66" name="Shape 64"/>
          <p:cNvSpPr/>
          <p:nvPr/>
        </p:nvSpPr>
        <p:spPr>
          <a:xfrm>
            <a:off x="274320" y="2999232"/>
            <a:ext cx="502920" cy="384048"/>
          </a:xfrm>
          <a:prstGeom prst="rect">
            <a:avLst/>
          </a:prstGeom>
          <a:solidFill>
            <a:srgbClr val="1E3A5F"/>
          </a:solidFill>
          <a:ln w="12700">
            <a:solidFill>
              <a:srgbClr val="1E3A5F"/>
            </a:solidFill>
            <a:prstDash val="solid"/>
          </a:ln>
        </p:spPr>
        <p:txBody>
          <a:bodyPr/>
          <a:p/>
        </p:txBody>
      </p:sp>
      <p:sp>
        <p:nvSpPr>
          <p:cNvPr id="67" name="Text 65"/>
          <p:cNvSpPr txBox="1"/>
          <p:nvPr/>
        </p:nvSpPr>
        <p:spPr>
          <a:xfrm>
            <a:off x="274320" y="2999232"/>
            <a:ext cx="502920" cy="384048"/>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68" name="Text 66"/>
          <p:cNvSpPr txBox="1"/>
          <p:nvPr/>
        </p:nvSpPr>
        <p:spPr>
          <a:xfrm>
            <a:off x="841248" y="2999232"/>
            <a:ext cx="2468880" cy="384048"/>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Dimension 2: Performance &amp; Security</a:t>
            </a:r>
            <a:endParaRPr lang="en-US" sz="1100" dirty="0"/>
          </a:p>
        </p:txBody>
      </p:sp>
      <p:sp>
        <p:nvSpPr>
          <p:cNvPr id="70" name="Shape 68"/>
          <p:cNvSpPr/>
          <p:nvPr/>
        </p:nvSpPr>
        <p:spPr>
          <a:xfrm>
            <a:off x="4251960" y="2999232"/>
            <a:ext cx="3840480" cy="384048"/>
          </a:xfrm>
          <a:prstGeom prst="rect">
            <a:avLst/>
          </a:prstGeom>
          <a:solidFill>
            <a:srgbClr val="E6F4F5"/>
          </a:solidFill>
          <a:ln w="12700">
            <a:solidFill>
              <a:srgbClr val="E6F4F5"/>
            </a:solidFill>
            <a:prstDash val="solid"/>
          </a:ln>
        </p:spPr>
        <p:txBody>
          <a:bodyPr/>
          <a:p/>
        </p:txBody>
      </p:sp>
      <p:sp>
        <p:nvSpPr>
          <p:cNvPr id="71" name="Shape 69"/>
          <p:cNvSpPr/>
          <p:nvPr/>
        </p:nvSpPr>
        <p:spPr>
          <a:xfrm>
            <a:off x="4251960" y="2999232"/>
            <a:ext cx="502920" cy="384048"/>
          </a:xfrm>
          <a:prstGeom prst="rect">
            <a:avLst/>
          </a:prstGeom>
          <a:solidFill>
            <a:srgbClr val="1E3A5F"/>
          </a:solidFill>
          <a:ln w="12700">
            <a:solidFill>
              <a:srgbClr val="1E3A5F"/>
            </a:solidFill>
            <a:prstDash val="solid"/>
          </a:ln>
        </p:spPr>
        <p:txBody>
          <a:bodyPr/>
          <a:p/>
        </p:txBody>
      </p:sp>
      <p:sp>
        <p:nvSpPr>
          <p:cNvPr id="72" name="Text 70"/>
          <p:cNvSpPr txBox="1"/>
          <p:nvPr/>
        </p:nvSpPr>
        <p:spPr>
          <a:xfrm>
            <a:off x="4251960" y="2999232"/>
            <a:ext cx="502920" cy="384048"/>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73" name="Text 71"/>
          <p:cNvSpPr txBox="1"/>
          <p:nvPr/>
        </p:nvSpPr>
        <p:spPr>
          <a:xfrm>
            <a:off x="4818888" y="2999232"/>
            <a:ext cx="2468880" cy="384048"/>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Dimension 3: Usability</a:t>
            </a:r>
            <a:endParaRPr lang="en-US" sz="1100" dirty="0"/>
          </a:p>
        </p:txBody>
      </p:sp>
      <p:sp>
        <p:nvSpPr>
          <p:cNvPr id="75" name="Shape 73"/>
          <p:cNvSpPr/>
          <p:nvPr/>
        </p:nvSpPr>
        <p:spPr>
          <a:xfrm>
            <a:off x="8229600" y="2999232"/>
            <a:ext cx="3840480" cy="384048"/>
          </a:xfrm>
          <a:prstGeom prst="rect">
            <a:avLst/>
          </a:prstGeom>
          <a:solidFill>
            <a:srgbClr val="EBF0F7"/>
          </a:solidFill>
          <a:ln w="12700">
            <a:solidFill>
              <a:srgbClr val="EBF0F7"/>
            </a:solidFill>
            <a:prstDash val="solid"/>
          </a:ln>
        </p:spPr>
        <p:txBody>
          <a:bodyPr/>
          <a:p/>
        </p:txBody>
      </p:sp>
      <p:sp>
        <p:nvSpPr>
          <p:cNvPr id="76" name="Shape 74"/>
          <p:cNvSpPr/>
          <p:nvPr/>
        </p:nvSpPr>
        <p:spPr>
          <a:xfrm>
            <a:off x="8229600" y="2999232"/>
            <a:ext cx="502920" cy="384048"/>
          </a:xfrm>
          <a:prstGeom prst="rect">
            <a:avLst/>
          </a:prstGeom>
          <a:solidFill>
            <a:srgbClr val="1E3A5F"/>
          </a:solidFill>
          <a:ln w="12700">
            <a:solidFill>
              <a:srgbClr val="1E3A5F"/>
            </a:solidFill>
            <a:prstDash val="solid"/>
          </a:ln>
        </p:spPr>
        <p:txBody>
          <a:bodyPr/>
          <a:p/>
        </p:txBody>
      </p:sp>
      <p:sp>
        <p:nvSpPr>
          <p:cNvPr id="77" name="Text 75"/>
          <p:cNvSpPr txBox="1"/>
          <p:nvPr/>
        </p:nvSpPr>
        <p:spPr>
          <a:xfrm>
            <a:off x="8229600" y="2999232"/>
            <a:ext cx="502920" cy="384048"/>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15</a:t>
            </a:r>
            <a:endParaRPr lang="en-US" sz="1300" dirty="0"/>
          </a:p>
        </p:txBody>
      </p:sp>
      <p:sp>
        <p:nvSpPr>
          <p:cNvPr id="78" name="Text 76"/>
          <p:cNvSpPr txBox="1"/>
          <p:nvPr/>
        </p:nvSpPr>
        <p:spPr>
          <a:xfrm>
            <a:off x="8796528" y="2999232"/>
            <a:ext cx="2468880" cy="384048"/>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DeLone &amp; McLean Evaluation</a:t>
            </a:r>
            <a:endParaRPr lang="en-US" sz="1100" dirty="0"/>
          </a:p>
        </p:txBody>
      </p:sp>
      <p:sp>
        <p:nvSpPr>
          <p:cNvPr id="79" name="Text 77"/>
          <p:cNvSpPr txBox="1"/>
          <p:nvPr/>
        </p:nvSpPr>
        <p:spPr>
          <a:xfrm>
            <a:off x="11292840" y="2999232"/>
            <a:ext cx="749808" cy="384048"/>
          </a:xfrm>
          <a:prstGeom prst="rect">
            <a:avLst/>
          </a:prstGeom>
          <a:noFill/>
          <a:ln/>
        </p:spPr>
        <p:txBody>
          <a:bodyPr wrap="square" lIns="25400" tIns="25400" rIns="25400" bIns="25400" rtlCol="0" anchor="ctr"/>
          <a:lstStyle/>
          <a:p>
            <a:pPr algn="r" indent="0" marL="0">
              <a:buNone/>
            </a:pPr>
            <a:r>
              <a:rPr lang="en-US" sz="1000" dirty="0">
                <a:solidFill>
                  <a:srgbClr val="718096"/>
                </a:solidFill>
                <a:latin typeface="Calibri" pitchFamily="34" charset="0"/>
                <a:ea typeface="Calibri" pitchFamily="34" charset="-122"/>
                <a:cs typeface="Calibri" pitchFamily="34" charset="-120"/>
              </a:rPr>
              <a:t>8:20 – 8:40</a:t>
            </a:r>
            <a:endParaRPr lang="en-US" sz="1000" dirty="0"/>
          </a:p>
        </p:txBody>
      </p:sp>
      <p:sp>
        <p:nvSpPr>
          <p:cNvPr id="80" name="Shape 78"/>
          <p:cNvSpPr/>
          <p:nvPr/>
        </p:nvSpPr>
        <p:spPr>
          <a:xfrm>
            <a:off x="274320" y="3474720"/>
            <a:ext cx="3840480" cy="384048"/>
          </a:xfrm>
          <a:prstGeom prst="rect">
            <a:avLst/>
          </a:prstGeom>
          <a:solidFill>
            <a:srgbClr val="E6F4F5"/>
          </a:solidFill>
          <a:ln w="12700">
            <a:solidFill>
              <a:srgbClr val="E6F4F5"/>
            </a:solidFill>
            <a:prstDash val="solid"/>
          </a:ln>
        </p:spPr>
        <p:txBody>
          <a:bodyPr/>
          <a:p/>
        </p:txBody>
      </p:sp>
      <p:sp>
        <p:nvSpPr>
          <p:cNvPr id="81" name="Shape 79"/>
          <p:cNvSpPr/>
          <p:nvPr/>
        </p:nvSpPr>
        <p:spPr>
          <a:xfrm>
            <a:off x="274320" y="3474720"/>
            <a:ext cx="502920" cy="384048"/>
          </a:xfrm>
          <a:prstGeom prst="rect">
            <a:avLst/>
          </a:prstGeom>
          <a:solidFill>
            <a:srgbClr val="1E3A5F"/>
          </a:solidFill>
          <a:ln w="12700">
            <a:solidFill>
              <a:srgbClr val="1E3A5F"/>
            </a:solidFill>
            <a:prstDash val="solid"/>
          </a:ln>
        </p:spPr>
        <p:txBody>
          <a:bodyPr/>
          <a:p/>
        </p:txBody>
      </p:sp>
      <p:sp>
        <p:nvSpPr>
          <p:cNvPr id="82" name="Text 80"/>
          <p:cNvSpPr txBox="1"/>
          <p:nvPr/>
        </p:nvSpPr>
        <p:spPr>
          <a:xfrm>
            <a:off x="274320" y="3474720"/>
            <a:ext cx="502920" cy="384048"/>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16</a:t>
            </a:r>
            <a:endParaRPr lang="en-US" sz="1300" dirty="0"/>
          </a:p>
        </p:txBody>
      </p:sp>
      <p:sp>
        <p:nvSpPr>
          <p:cNvPr id="83" name="Text 81"/>
          <p:cNvSpPr txBox="1"/>
          <p:nvPr/>
        </p:nvSpPr>
        <p:spPr>
          <a:xfrm>
            <a:off x="841248" y="3474720"/>
            <a:ext cx="2468880" cy="384048"/>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Conclusions &amp; RQ Answers</a:t>
            </a:r>
            <a:endParaRPr lang="en-US" sz="1100" dirty="0"/>
          </a:p>
        </p:txBody>
      </p:sp>
      <p:sp>
        <p:nvSpPr>
          <p:cNvPr id="84" name="Text 82"/>
          <p:cNvSpPr txBox="1"/>
          <p:nvPr/>
        </p:nvSpPr>
        <p:spPr>
          <a:xfrm>
            <a:off x="3337560" y="3474720"/>
            <a:ext cx="749808" cy="384048"/>
          </a:xfrm>
          <a:prstGeom prst="rect">
            <a:avLst/>
          </a:prstGeom>
          <a:noFill/>
          <a:ln/>
        </p:spPr>
        <p:txBody>
          <a:bodyPr wrap="square" lIns="25400" tIns="25400" rIns="25400" bIns="25400" rtlCol="0" anchor="ctr"/>
          <a:lstStyle/>
          <a:p>
            <a:pPr algn="r" indent="0" marL="0">
              <a:buNone/>
            </a:pPr>
            <a:r>
              <a:rPr lang="en-US" sz="1000" dirty="0">
                <a:solidFill>
                  <a:srgbClr val="718096"/>
                </a:solidFill>
                <a:latin typeface="Calibri" pitchFamily="34" charset="0"/>
                <a:ea typeface="Calibri" pitchFamily="34" charset="-122"/>
                <a:cs typeface="Calibri" pitchFamily="34" charset="-120"/>
              </a:rPr>
              <a:t>8:40 – 9:20</a:t>
            </a:r>
            <a:endParaRPr lang="en-US" sz="1000" dirty="0"/>
          </a:p>
        </p:txBody>
      </p:sp>
      <p:sp>
        <p:nvSpPr>
          <p:cNvPr id="85" name="Shape 83"/>
          <p:cNvSpPr/>
          <p:nvPr/>
        </p:nvSpPr>
        <p:spPr>
          <a:xfrm>
            <a:off x="4251960" y="3474720"/>
            <a:ext cx="3840480" cy="384048"/>
          </a:xfrm>
          <a:prstGeom prst="rect">
            <a:avLst/>
          </a:prstGeom>
          <a:solidFill>
            <a:srgbClr val="EBF0F7"/>
          </a:solidFill>
          <a:ln w="12700">
            <a:solidFill>
              <a:srgbClr val="EBF0F7"/>
            </a:solidFill>
            <a:prstDash val="solid"/>
          </a:ln>
        </p:spPr>
        <p:txBody>
          <a:bodyPr/>
          <a:p/>
        </p:txBody>
      </p:sp>
      <p:sp>
        <p:nvSpPr>
          <p:cNvPr id="86" name="Shape 84"/>
          <p:cNvSpPr/>
          <p:nvPr/>
        </p:nvSpPr>
        <p:spPr>
          <a:xfrm>
            <a:off x="4251960" y="3474720"/>
            <a:ext cx="502920" cy="384048"/>
          </a:xfrm>
          <a:prstGeom prst="rect">
            <a:avLst/>
          </a:prstGeom>
          <a:solidFill>
            <a:srgbClr val="1E3A5F"/>
          </a:solidFill>
          <a:ln w="12700">
            <a:solidFill>
              <a:srgbClr val="1E3A5F"/>
            </a:solidFill>
            <a:prstDash val="solid"/>
          </a:ln>
        </p:spPr>
        <p:txBody>
          <a:bodyPr/>
          <a:p/>
        </p:txBody>
      </p:sp>
      <p:sp>
        <p:nvSpPr>
          <p:cNvPr id="87" name="Text 85"/>
          <p:cNvSpPr txBox="1"/>
          <p:nvPr/>
        </p:nvSpPr>
        <p:spPr>
          <a:xfrm>
            <a:off x="4251960" y="3474720"/>
            <a:ext cx="502920" cy="384048"/>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17</a:t>
            </a:r>
            <a:endParaRPr lang="en-US" sz="1300" dirty="0"/>
          </a:p>
        </p:txBody>
      </p:sp>
      <p:sp>
        <p:nvSpPr>
          <p:cNvPr id="88" name="Text 86"/>
          <p:cNvSpPr txBox="1"/>
          <p:nvPr/>
        </p:nvSpPr>
        <p:spPr>
          <a:xfrm>
            <a:off x="4818888" y="3474720"/>
            <a:ext cx="2468880" cy="384048"/>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Implications &amp; Contributions</a:t>
            </a:r>
            <a:endParaRPr lang="en-US" sz="1100" dirty="0"/>
          </a:p>
        </p:txBody>
      </p:sp>
      <p:sp>
        <p:nvSpPr>
          <p:cNvPr id="89" name="Text 87"/>
          <p:cNvSpPr txBox="1"/>
          <p:nvPr/>
        </p:nvSpPr>
        <p:spPr>
          <a:xfrm>
            <a:off x="7315200" y="3474720"/>
            <a:ext cx="749808" cy="384048"/>
          </a:xfrm>
          <a:prstGeom prst="rect">
            <a:avLst/>
          </a:prstGeom>
          <a:noFill/>
          <a:ln/>
        </p:spPr>
        <p:txBody>
          <a:bodyPr wrap="square" lIns="25400" tIns="25400" rIns="25400" bIns="25400" rtlCol="0" anchor="ctr"/>
          <a:lstStyle/>
          <a:p>
            <a:pPr algn="r" indent="0" marL="0">
              <a:buNone/>
            </a:pPr>
            <a:r>
              <a:rPr lang="en-US" sz="1000" dirty="0">
                <a:solidFill>
                  <a:srgbClr val="718096"/>
                </a:solidFill>
                <a:latin typeface="Calibri" pitchFamily="34" charset="0"/>
                <a:ea typeface="Calibri" pitchFamily="34" charset="-122"/>
                <a:cs typeface="Calibri" pitchFamily="34" charset="-120"/>
              </a:rPr>
              <a:t>9:20 – 9:45</a:t>
            </a:r>
            <a:endParaRPr lang="en-US" sz="1000" dirty="0"/>
          </a:p>
        </p:txBody>
      </p:sp>
      <p:sp>
        <p:nvSpPr>
          <p:cNvPr id="90" name="Shape 88"/>
          <p:cNvSpPr/>
          <p:nvPr/>
        </p:nvSpPr>
        <p:spPr>
          <a:xfrm>
            <a:off x="8229600" y="3474720"/>
            <a:ext cx="3840480" cy="384048"/>
          </a:xfrm>
          <a:prstGeom prst="rect">
            <a:avLst/>
          </a:prstGeom>
          <a:solidFill>
            <a:srgbClr val="E6F4F5"/>
          </a:solidFill>
          <a:ln w="12700">
            <a:solidFill>
              <a:srgbClr val="E6F4F5"/>
            </a:solidFill>
            <a:prstDash val="solid"/>
          </a:ln>
        </p:spPr>
        <p:txBody>
          <a:bodyPr/>
          <a:p/>
        </p:txBody>
      </p:sp>
      <p:sp>
        <p:nvSpPr>
          <p:cNvPr id="91" name="Shape 89"/>
          <p:cNvSpPr/>
          <p:nvPr/>
        </p:nvSpPr>
        <p:spPr>
          <a:xfrm>
            <a:off x="8229600" y="3474720"/>
            <a:ext cx="502920" cy="384048"/>
          </a:xfrm>
          <a:prstGeom prst="rect">
            <a:avLst/>
          </a:prstGeom>
          <a:solidFill>
            <a:srgbClr val="1E3A5F"/>
          </a:solidFill>
          <a:ln w="12700">
            <a:solidFill>
              <a:srgbClr val="1E3A5F"/>
            </a:solidFill>
            <a:prstDash val="solid"/>
          </a:ln>
        </p:spPr>
        <p:txBody>
          <a:bodyPr/>
          <a:p/>
        </p:txBody>
      </p:sp>
      <p:sp>
        <p:nvSpPr>
          <p:cNvPr id="92" name="Text 90"/>
          <p:cNvSpPr txBox="1"/>
          <p:nvPr/>
        </p:nvSpPr>
        <p:spPr>
          <a:xfrm>
            <a:off x="8229600" y="3474720"/>
            <a:ext cx="502920" cy="384048"/>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18</a:t>
            </a:r>
            <a:endParaRPr lang="en-US" sz="1300" dirty="0"/>
          </a:p>
        </p:txBody>
      </p:sp>
      <p:sp>
        <p:nvSpPr>
          <p:cNvPr id="93" name="Text 91"/>
          <p:cNvSpPr txBox="1"/>
          <p:nvPr/>
        </p:nvSpPr>
        <p:spPr>
          <a:xfrm>
            <a:off x="8796528" y="3474720"/>
            <a:ext cx="2468880" cy="384048"/>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Limitations &amp; Future Work</a:t>
            </a:r>
            <a:endParaRPr lang="en-US" sz="1100" dirty="0"/>
          </a:p>
        </p:txBody>
      </p:sp>
      <p:sp>
        <p:nvSpPr>
          <p:cNvPr id="95" name="Shape 93"/>
          <p:cNvSpPr/>
          <p:nvPr/>
        </p:nvSpPr>
        <p:spPr>
          <a:xfrm>
            <a:off x="0" y="6510528"/>
            <a:ext cx="12161520" cy="347472"/>
          </a:xfrm>
          <a:prstGeom prst="rect">
            <a:avLst/>
          </a:prstGeom>
          <a:solidFill>
            <a:srgbClr val="E8EDF3"/>
          </a:solidFill>
          <a:ln w="12700">
            <a:solidFill>
              <a:srgbClr val="E8EDF3"/>
            </a:solidFill>
            <a:prstDash val="solid"/>
          </a:ln>
        </p:spPr>
        <p:txBody>
          <a:bodyPr/>
          <a:p/>
        </p:txBody>
      </p:sp>
      <p:sp>
        <p:nvSpPr>
          <p:cNvPr id="96" name="Text 94"/>
          <p:cNvSpPr txBox="1"/>
          <p:nvPr/>
        </p:nvSpPr>
        <p:spPr>
          <a:xfrm>
            <a:off x="274320" y="6510528"/>
            <a:ext cx="8229600" cy="347472"/>
          </a:xfrm>
          <a:prstGeom prst="rect">
            <a:avLst/>
          </a:prstGeom>
          <a:noFill/>
          <a:ln/>
        </p:spPr>
        <p:txBody>
          <a:bodyPr wrap="square" lIns="25400" tIns="25400" rIns="25400" bIns="25400" rtlCol="0" anchor="ctr"/>
          <a:lstStyle/>
          <a:p>
            <a:pPr algn="l" indent="0" marL="0">
              <a:buNone/>
            </a:pPr>
            <a:r>
              <a:rPr lang="en-US" sz="1000" dirty="0">
                <a:solidFill>
                  <a:srgbClr val="718096"/>
                </a:solidFill>
                <a:latin typeface="Calibri" pitchFamily="34" charset="0"/>
                <a:ea typeface="Calibri" pitchFamily="34" charset="-122"/>
                <a:cs typeface="Calibri" pitchFamily="34" charset="-120"/>
              </a:rPr>
              <a:t>Overview</a:t>
            </a:r>
            <a:endParaRPr lang="en-US" sz="1000" dirty="0"/>
          </a:p>
        </p:txBody>
      </p:sp>
      <p:sp>
        <p:nvSpPr>
          <p:cNvPr id="97" name="Text 95"/>
          <p:cNvSpPr txBox="1"/>
          <p:nvPr/>
        </p:nvSpPr>
        <p:spPr>
          <a:xfrm>
            <a:off x="9784080" y="6510528"/>
            <a:ext cx="2194560" cy="347472"/>
          </a:xfrm>
          <a:prstGeom prst="rect">
            <a:avLst/>
          </a:prstGeom>
          <a:noFill/>
          <a:ln/>
        </p:spPr>
        <p:txBody>
          <a:bodyPr wrap="square" lIns="25400" tIns="25400" rIns="25400" bIns="25400" rtlCol="0" anchor="ctr"/>
          <a:lstStyle/>
          <a:p>
            <a:pPr algn="r" indent="0" marL="0">
              <a:buNone/>
            </a:pP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E3A5F"/>
          </a:solidFill>
          <a:ln w="12700">
            <a:solidFill>
              <a:srgbClr val="1E3A5F"/>
            </a:solidFill>
            <a:prstDash val="solid"/>
          </a:ln>
        </p:spPr>
        <p:txBody>
          <a:bodyPr/>
          <a:p/>
        </p:txBody>
      </p:sp>
      <p:sp>
        <p:nvSpPr>
          <p:cNvPr id="3" name="Text 1"/>
          <p:cNvSpPr txBox="1"/>
          <p:nvPr/>
        </p:nvSpPr>
        <p:spPr>
          <a:xfrm>
            <a:off x="365760" y="45720"/>
            <a:ext cx="10058400" cy="566928"/>
          </a:xfrm>
          <a:prstGeom prst="rect">
            <a:avLst/>
          </a:prstGeom>
          <a:noFill/>
          <a:ln/>
        </p:spPr>
        <p:txBody>
          <a:bodyPr wrap="square" lIns="25400" tIns="25400" rIns="25400" bIns="2540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The Problem — Singapore's Food Security Challenge</a:t>
            </a:r>
            <a:endParaRPr lang="en-US" sz="2200" dirty="0"/>
          </a:p>
        </p:txBody>
      </p:sp>
      <p:sp>
        <p:nvSpPr>
          <p:cNvPr id="4" name="Text 2"/>
          <p:cNvSpPr txBox="1"/>
          <p:nvPr/>
        </p:nvSpPr>
        <p:spPr>
          <a:xfrm>
            <a:off x="365760" y="585216"/>
            <a:ext cx="10972800" cy="329184"/>
          </a:xfrm>
          <a:prstGeom prst="rect">
            <a:avLst/>
          </a:prstGeom>
          <a:noFill/>
          <a:ln/>
        </p:spPr>
        <p:txBody>
          <a:bodyPr wrap="square" lIns="25400" tIns="25400" rIns="25400" bIns="25400" rtlCol="0" anchor="ctr"/>
          <a:lstStyle/>
          <a:p>
            <a:pPr algn="l" indent="0" marL="0">
              <a:buNone/>
            </a:pPr>
            <a:r>
              <a:rPr lang="en-US" sz="1100" dirty="0">
                <a:solidFill>
                  <a:srgbClr val="B8CDE0"/>
                </a:solidFill>
                <a:latin typeface="Calibri" pitchFamily="34" charset="0"/>
                <a:ea typeface="Calibri" pitchFamily="34" charset="-122"/>
                <a:cs typeface="Calibri" pitchFamily="34" charset="-120"/>
              </a:rPr>
              <a:t>Why does Singapore urgently need AI-driven farm management tools?</a:t>
            </a:r>
            <a:endParaRPr lang="en-US" sz="1100" dirty="0"/>
          </a:p>
        </p:txBody>
      </p:sp>
      <p:sp>
        <p:nvSpPr>
          <p:cNvPr id="5" name="Shape 3"/>
          <p:cNvSpPr/>
          <p:nvPr/>
        </p:nvSpPr>
        <p:spPr>
          <a:xfrm>
            <a:off x="0" y="960120"/>
            <a:ext cx="12161520" cy="45720"/>
          </a:xfrm>
          <a:prstGeom prst="rect">
            <a:avLst/>
          </a:prstGeom>
          <a:solidFill>
            <a:srgbClr val="0D6B72"/>
          </a:solidFill>
          <a:ln w="12700">
            <a:solidFill>
              <a:srgbClr val="0D6B72"/>
            </a:solidFill>
            <a:prstDash val="solid"/>
          </a:ln>
        </p:spPr>
        <p:txBody>
          <a:bodyPr/>
          <a:p/>
        </p:txBody>
      </p:sp>
      <p:sp>
        <p:nvSpPr>
          <p:cNvPr id="6" name="Shape 4"/>
          <p:cNvSpPr/>
          <p:nvPr/>
        </p:nvSpPr>
        <p:spPr>
          <a:xfrm>
            <a:off x="274320" y="1078992"/>
            <a:ext cx="2761488" cy="1417320"/>
          </a:xfrm>
          <a:prstGeom prst="rect">
            <a:avLst/>
          </a:prstGeom>
          <a:solidFill>
            <a:srgbClr val="1E3A5F"/>
          </a:solidFill>
          <a:ln w="12700">
            <a:solidFill>
              <a:srgbClr val="1E3A5F"/>
            </a:solidFill>
            <a:prstDash val="solid"/>
          </a:ln>
        </p:spPr>
        <p:txBody>
          <a:bodyPr/>
          <a:p/>
        </p:txBody>
      </p:sp>
      <p:sp>
        <p:nvSpPr>
          <p:cNvPr id="7" name="Text 5"/>
          <p:cNvSpPr txBox="1"/>
          <p:nvPr/>
        </p:nvSpPr>
        <p:spPr>
          <a:xfrm>
            <a:off x="274320" y="1115568"/>
            <a:ext cx="2761488" cy="822960"/>
          </a:xfrm>
          <a:prstGeom prst="rect">
            <a:avLst/>
          </a:prstGeom>
          <a:noFill/>
          <a:ln/>
        </p:spPr>
        <p:txBody>
          <a:bodyPr wrap="square" lIns="25400" tIns="25400" rIns="25400" bIns="2540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90%+</a:t>
            </a:r>
            <a:endParaRPr lang="en-US" sz="3000" dirty="0"/>
          </a:p>
        </p:txBody>
      </p:sp>
      <p:sp>
        <p:nvSpPr>
          <p:cNvPr id="8" name="Text 6"/>
          <p:cNvSpPr txBox="1"/>
          <p:nvPr/>
        </p:nvSpPr>
        <p:spPr>
          <a:xfrm>
            <a:off x="274320" y="1920240"/>
            <a:ext cx="2761488" cy="548640"/>
          </a:xfrm>
          <a:prstGeom prst="rect">
            <a:avLst/>
          </a:prstGeom>
          <a:noFill/>
          <a:ln/>
        </p:spPr>
        <p:txBody>
          <a:bodyPr wrap="square" lIns="25400" tIns="25400" rIns="25400" bIns="25400" rtlCol="0" anchor="ctr"/>
          <a:lstStyle/>
          <a:p>
            <a:pPr algn="ctr" indent="0" marL="0">
              <a:buNone/>
            </a:pPr>
            <a:r>
              <a:rPr lang="en-US" sz="1100" dirty="0">
                <a:solidFill>
                  <a:srgbClr val="B8CDE0"/>
                </a:solidFill>
                <a:latin typeface="Calibri" pitchFamily="34" charset="0"/>
                <a:ea typeface="Calibri" pitchFamily="34" charset="-122"/>
                <a:cs typeface="Calibri" pitchFamily="34" charset="-120"/>
              </a:rPr>
              <a:t>Food imported from 170+ countries</a:t>
            </a:r>
            <a:endParaRPr lang="en-US" sz="1100" dirty="0"/>
          </a:p>
        </p:txBody>
      </p:sp>
      <p:sp>
        <p:nvSpPr>
          <p:cNvPr id="9" name="Shape 7"/>
          <p:cNvSpPr/>
          <p:nvPr/>
        </p:nvSpPr>
        <p:spPr>
          <a:xfrm>
            <a:off x="3182112" y="1078992"/>
            <a:ext cx="2761488" cy="1417320"/>
          </a:xfrm>
          <a:prstGeom prst="rect">
            <a:avLst/>
          </a:prstGeom>
          <a:solidFill>
            <a:srgbClr val="1E3A5F"/>
          </a:solidFill>
          <a:ln w="12700">
            <a:solidFill>
              <a:srgbClr val="1E3A5F"/>
            </a:solidFill>
            <a:prstDash val="solid"/>
          </a:ln>
        </p:spPr>
        <p:txBody>
          <a:bodyPr/>
          <a:p/>
        </p:txBody>
      </p:sp>
      <p:sp>
        <p:nvSpPr>
          <p:cNvPr id="10" name="Text 8"/>
          <p:cNvSpPr txBox="1"/>
          <p:nvPr/>
        </p:nvSpPr>
        <p:spPr>
          <a:xfrm>
            <a:off x="3182112" y="1115568"/>
            <a:ext cx="2761488" cy="822960"/>
          </a:xfrm>
          <a:prstGeom prst="rect">
            <a:avLst/>
          </a:prstGeom>
          <a:noFill/>
          <a:ln/>
        </p:spPr>
        <p:txBody>
          <a:bodyPr wrap="square" lIns="25400" tIns="25400" rIns="25400" bIns="2540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30×30</a:t>
            </a:r>
            <a:endParaRPr lang="en-US" sz="3000" dirty="0"/>
          </a:p>
        </p:txBody>
      </p:sp>
      <p:sp>
        <p:nvSpPr>
          <p:cNvPr id="11" name="Text 9"/>
          <p:cNvSpPr txBox="1"/>
          <p:nvPr/>
        </p:nvSpPr>
        <p:spPr>
          <a:xfrm>
            <a:off x="3182112" y="1920240"/>
            <a:ext cx="2761488" cy="548640"/>
          </a:xfrm>
          <a:prstGeom prst="rect">
            <a:avLst/>
          </a:prstGeom>
          <a:noFill/>
          <a:ln/>
        </p:spPr>
        <p:txBody>
          <a:bodyPr wrap="square" lIns="25400" tIns="25400" rIns="25400" bIns="25400" rtlCol="0" anchor="ctr"/>
          <a:lstStyle/>
          <a:p>
            <a:pPr algn="ctr" indent="0" marL="0">
              <a:buNone/>
            </a:pPr>
            <a:r>
              <a:rPr lang="en-US" sz="1100" dirty="0">
                <a:solidFill>
                  <a:srgbClr val="B8CDE0"/>
                </a:solidFill>
                <a:latin typeface="Calibri" pitchFamily="34" charset="0"/>
                <a:ea typeface="Calibri" pitchFamily="34" charset="-122"/>
                <a:cs typeface="Calibri" pitchFamily="34" charset="-120"/>
              </a:rPr>
              <a:t>SFA goal: 30% local food by 2030</a:t>
            </a:r>
            <a:endParaRPr lang="en-US" sz="1100" dirty="0"/>
          </a:p>
        </p:txBody>
      </p:sp>
      <p:sp>
        <p:nvSpPr>
          <p:cNvPr id="12" name="Shape 10"/>
          <p:cNvSpPr/>
          <p:nvPr/>
        </p:nvSpPr>
        <p:spPr>
          <a:xfrm>
            <a:off x="6089904" y="1078992"/>
            <a:ext cx="2761488" cy="1417320"/>
          </a:xfrm>
          <a:prstGeom prst="rect">
            <a:avLst/>
          </a:prstGeom>
          <a:solidFill>
            <a:srgbClr val="1E3A5F"/>
          </a:solidFill>
          <a:ln w="12700">
            <a:solidFill>
              <a:srgbClr val="1E3A5F"/>
            </a:solidFill>
            <a:prstDash val="solid"/>
          </a:ln>
        </p:spPr>
        <p:txBody>
          <a:bodyPr/>
          <a:p/>
        </p:txBody>
      </p:sp>
      <p:sp>
        <p:nvSpPr>
          <p:cNvPr id="13" name="Text 11"/>
          <p:cNvSpPr txBox="1"/>
          <p:nvPr/>
        </p:nvSpPr>
        <p:spPr>
          <a:xfrm>
            <a:off x="6089904" y="1115568"/>
            <a:ext cx="2761488" cy="822960"/>
          </a:xfrm>
          <a:prstGeom prst="rect">
            <a:avLst/>
          </a:prstGeom>
          <a:noFill/>
          <a:ln/>
        </p:spPr>
        <p:txBody>
          <a:bodyPr wrap="square" lIns="25400" tIns="25400" rIns="25400" bIns="2540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&lt; 1%</a:t>
            </a:r>
            <a:endParaRPr lang="en-US" sz="3000" dirty="0"/>
          </a:p>
        </p:txBody>
      </p:sp>
      <p:sp>
        <p:nvSpPr>
          <p:cNvPr id="14" name="Text 12"/>
          <p:cNvSpPr txBox="1"/>
          <p:nvPr/>
        </p:nvSpPr>
        <p:spPr>
          <a:xfrm>
            <a:off x="6089904" y="1920240"/>
            <a:ext cx="2761488" cy="548640"/>
          </a:xfrm>
          <a:prstGeom prst="rect">
            <a:avLst/>
          </a:prstGeom>
          <a:noFill/>
          <a:ln/>
        </p:spPr>
        <p:txBody>
          <a:bodyPr wrap="square" lIns="25400" tIns="25400" rIns="25400" bIns="25400" rtlCol="0" anchor="ctr"/>
          <a:lstStyle/>
          <a:p>
            <a:pPr algn="ctr" indent="0" marL="0">
              <a:buNone/>
            </a:pPr>
            <a:r>
              <a:rPr lang="en-US" sz="1100" dirty="0">
                <a:solidFill>
                  <a:srgbClr val="B8CDE0"/>
                </a:solidFill>
                <a:latin typeface="Calibri" pitchFamily="34" charset="0"/>
                <a:ea typeface="Calibri" pitchFamily="34" charset="-122"/>
                <a:cs typeface="Calibri" pitchFamily="34" charset="-120"/>
              </a:rPr>
              <a:t>Land suitable for conventional farming</a:t>
            </a:r>
            <a:endParaRPr lang="en-US" sz="1100" dirty="0"/>
          </a:p>
        </p:txBody>
      </p:sp>
      <p:sp>
        <p:nvSpPr>
          <p:cNvPr id="15" name="Shape 13"/>
          <p:cNvSpPr/>
          <p:nvPr/>
        </p:nvSpPr>
        <p:spPr>
          <a:xfrm>
            <a:off x="8997696" y="1078992"/>
            <a:ext cx="2761488" cy="1417320"/>
          </a:xfrm>
          <a:prstGeom prst="rect">
            <a:avLst/>
          </a:prstGeom>
          <a:solidFill>
            <a:srgbClr val="1E3A5F"/>
          </a:solidFill>
          <a:ln w="12700">
            <a:solidFill>
              <a:srgbClr val="1E3A5F"/>
            </a:solidFill>
            <a:prstDash val="solid"/>
          </a:ln>
        </p:spPr>
        <p:txBody>
          <a:bodyPr/>
          <a:p/>
        </p:txBody>
      </p:sp>
      <p:sp>
        <p:nvSpPr>
          <p:cNvPr id="16" name="Text 14"/>
          <p:cNvSpPr txBox="1"/>
          <p:nvPr/>
        </p:nvSpPr>
        <p:spPr>
          <a:xfrm>
            <a:off x="8997696" y="1115568"/>
            <a:ext cx="2761488" cy="822960"/>
          </a:xfrm>
          <a:prstGeom prst="rect">
            <a:avLst/>
          </a:prstGeom>
          <a:noFill/>
          <a:ln/>
        </p:spPr>
        <p:txBody>
          <a:bodyPr wrap="square" lIns="25400" tIns="25400" rIns="25400" bIns="2540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&lt; 10%</a:t>
            </a:r>
            <a:endParaRPr lang="en-US" sz="3000" dirty="0"/>
          </a:p>
        </p:txBody>
      </p:sp>
      <p:sp>
        <p:nvSpPr>
          <p:cNvPr id="17" name="Text 15"/>
          <p:cNvSpPr txBox="1"/>
          <p:nvPr/>
        </p:nvSpPr>
        <p:spPr>
          <a:xfrm>
            <a:off x="8997696" y="1920240"/>
            <a:ext cx="2761488" cy="548640"/>
          </a:xfrm>
          <a:prstGeom prst="rect">
            <a:avLst/>
          </a:prstGeom>
          <a:noFill/>
          <a:ln/>
        </p:spPr>
        <p:txBody>
          <a:bodyPr wrap="square" lIns="25400" tIns="25400" rIns="25400" bIns="25400" rtlCol="0" anchor="ctr"/>
          <a:lstStyle/>
          <a:p>
            <a:pPr algn="ctr" indent="0" marL="0">
              <a:buNone/>
            </a:pPr>
            <a:r>
              <a:rPr lang="en-US" sz="1100" dirty="0">
                <a:solidFill>
                  <a:srgbClr val="B8CDE0"/>
                </a:solidFill>
                <a:latin typeface="Calibri" pitchFamily="34" charset="0"/>
                <a:ea typeface="Calibri" pitchFamily="34" charset="-122"/>
                <a:cs typeface="Calibri" pitchFamily="34" charset="-120"/>
              </a:rPr>
              <a:t>Currently produced locally</a:t>
            </a:r>
            <a:endParaRPr lang="en-US" sz="1100" dirty="0"/>
          </a:p>
        </p:txBody>
      </p:sp>
      <p:sp>
        <p:nvSpPr>
          <p:cNvPr id="18" name="Shape 16"/>
          <p:cNvSpPr/>
          <p:nvPr/>
        </p:nvSpPr>
        <p:spPr>
          <a:xfrm>
            <a:off x="274320" y="2633472"/>
            <a:ext cx="11612880" cy="36576"/>
          </a:xfrm>
          <a:prstGeom prst="rect">
            <a:avLst/>
          </a:prstGeom>
          <a:solidFill>
            <a:srgbClr val="0D6B72"/>
          </a:solidFill>
          <a:ln w="12700">
            <a:solidFill>
              <a:srgbClr val="0D6B72"/>
            </a:solidFill>
            <a:prstDash val="solid"/>
          </a:ln>
        </p:spPr>
        <p:txBody>
          <a:bodyPr/>
          <a:p/>
        </p:txBody>
      </p:sp>
      <p:sp>
        <p:nvSpPr>
          <p:cNvPr id="19" name="Text 17"/>
          <p:cNvSpPr txBox="1"/>
          <p:nvPr/>
        </p:nvSpPr>
        <p:spPr>
          <a:xfrm>
            <a:off x="274320" y="2724912"/>
            <a:ext cx="7315200" cy="347472"/>
          </a:xfrm>
          <a:prstGeom prst="rect">
            <a:avLst/>
          </a:prstGeom>
          <a:noFill/>
          <a:ln/>
        </p:spPr>
        <p:txBody>
          <a:bodyPr wrap="square" lIns="25400" tIns="25400" rIns="25400" bIns="25400" rtlCol="0" anchor="ctr"/>
          <a:lstStyle/>
          <a:p>
            <a:pPr algn="l" indent="0" marL="0">
              <a:buNone/>
            </a:pPr>
            <a:r>
              <a:rPr lang="en-US" sz="1300" b="1" dirty="0">
                <a:solidFill>
                  <a:srgbClr val="1E3A5F"/>
                </a:solidFill>
                <a:latin typeface="Calibri" pitchFamily="34" charset="0"/>
                <a:ea typeface="Calibri" pitchFamily="34" charset="-122"/>
                <a:cs typeface="Calibri" pitchFamily="34" charset="-120"/>
              </a:rPr>
              <a:t>The Specific Problem AgriAI-SG Solves:</a:t>
            </a:r>
            <a:endParaRPr lang="en-US" sz="1300" dirty="0"/>
          </a:p>
        </p:txBody>
      </p:sp>
      <p:sp>
        <p:nvSpPr>
          <p:cNvPr id="20" name="Shape 18"/>
          <p:cNvSpPr/>
          <p:nvPr/>
        </p:nvSpPr>
        <p:spPr>
          <a:xfrm>
            <a:off x="274320" y="3345241"/>
            <a:ext cx="64008" cy="64008"/>
          </a:xfrm>
          <a:prstGeom prst="rect">
            <a:avLst/>
          </a:prstGeom>
          <a:solidFill>
            <a:srgbClr val="0D6B72"/>
          </a:solidFill>
          <a:ln w="12700">
            <a:solidFill>
              <a:srgbClr val="0D6B72"/>
            </a:solidFill>
            <a:prstDash val="solid"/>
          </a:ln>
        </p:spPr>
        <p:txBody>
          <a:bodyPr/>
          <a:p/>
        </p:txBody>
      </p:sp>
      <p:sp>
        <p:nvSpPr>
          <p:cNvPr id="21" name="Text 19"/>
          <p:cNvSpPr txBox="1"/>
          <p:nvPr/>
        </p:nvSpPr>
        <p:spPr>
          <a:xfrm>
            <a:off x="457200" y="3108960"/>
            <a:ext cx="7315200" cy="621792"/>
          </a:xfrm>
          <a:prstGeom prst="rect">
            <a:avLst/>
          </a:prstGeom>
          <a:noFill/>
          <a:ln/>
        </p:spPr>
        <p:txBody>
          <a:bodyPr wrap="square" lIns="25400" tIns="25400" rIns="25400" bIns="25400" rtlCol="0" anchor="ctr"/>
          <a:lstStyle/>
          <a:p>
            <a:pPr algn="l" indent="0" marL="0">
              <a:buNone/>
            </a:pPr>
            <a:r>
              <a:rPr lang="en-US" sz="1200" dirty="0">
                <a:solidFill>
                  <a:srgbClr val="1A202C"/>
                </a:solidFill>
                <a:latin typeface="Calibri" pitchFamily="34" charset="0"/>
                <a:ea typeface="Calibri" pitchFamily="34" charset="-122"/>
                <a:cs typeface="Calibri" pitchFamily="34" charset="-120"/>
              </a:rPr>
              <a:t>Small urban farm operators make planting decisions on guesswork — no data-driven tools exist</a:t>
            </a:r>
            <a:endParaRPr lang="en-US" sz="1200" dirty="0"/>
          </a:p>
        </p:txBody>
      </p:sp>
      <p:sp>
        <p:nvSpPr>
          <p:cNvPr id="22" name="Shape 20"/>
          <p:cNvSpPr/>
          <p:nvPr/>
        </p:nvSpPr>
        <p:spPr>
          <a:xfrm>
            <a:off x="274320" y="3967033"/>
            <a:ext cx="64008" cy="64008"/>
          </a:xfrm>
          <a:prstGeom prst="rect">
            <a:avLst/>
          </a:prstGeom>
          <a:solidFill>
            <a:srgbClr val="0D6B72"/>
          </a:solidFill>
          <a:ln w="12700">
            <a:solidFill>
              <a:srgbClr val="0D6B72"/>
            </a:solidFill>
            <a:prstDash val="solid"/>
          </a:ln>
        </p:spPr>
        <p:txBody>
          <a:bodyPr/>
          <a:p/>
        </p:txBody>
      </p:sp>
      <p:sp>
        <p:nvSpPr>
          <p:cNvPr id="23" name="Text 21"/>
          <p:cNvSpPr txBox="1"/>
          <p:nvPr/>
        </p:nvSpPr>
        <p:spPr>
          <a:xfrm>
            <a:off x="457200" y="3730752"/>
            <a:ext cx="7315200" cy="621792"/>
          </a:xfrm>
          <a:prstGeom prst="rect">
            <a:avLst/>
          </a:prstGeom>
          <a:noFill/>
          <a:ln/>
        </p:spPr>
        <p:txBody>
          <a:bodyPr wrap="square" lIns="25400" tIns="25400" rIns="25400" bIns="25400" rtlCol="0" anchor="ctr"/>
          <a:lstStyle/>
          <a:p>
            <a:pPr algn="l" indent="0" marL="0">
              <a:buNone/>
            </a:pPr>
            <a:r>
              <a:rPr lang="en-US" sz="1200" dirty="0">
                <a:solidFill>
                  <a:srgbClr val="1A202C"/>
                </a:solidFill>
                <a:latin typeface="Calibri" pitchFamily="34" charset="0"/>
                <a:ea typeface="Calibri" pitchFamily="34" charset="-122"/>
                <a:cs typeface="Calibri" pitchFamily="34" charset="-120"/>
              </a:rPr>
              <a:t>Existing platforms (FarmLogs, Granular, FieldView) are built for large-scale conventional agriculture — not Singapore's hydroponic CEA</a:t>
            </a:r>
            <a:endParaRPr lang="en-US" sz="1200" dirty="0"/>
          </a:p>
        </p:txBody>
      </p:sp>
      <p:sp>
        <p:nvSpPr>
          <p:cNvPr id="24" name="Shape 22"/>
          <p:cNvSpPr/>
          <p:nvPr/>
        </p:nvSpPr>
        <p:spPr>
          <a:xfrm>
            <a:off x="274320" y="4588825"/>
            <a:ext cx="64008" cy="64008"/>
          </a:xfrm>
          <a:prstGeom prst="rect">
            <a:avLst/>
          </a:prstGeom>
          <a:solidFill>
            <a:srgbClr val="0D6B72"/>
          </a:solidFill>
          <a:ln w="12700">
            <a:solidFill>
              <a:srgbClr val="0D6B72"/>
            </a:solidFill>
            <a:prstDash val="solid"/>
          </a:ln>
        </p:spPr>
        <p:txBody>
          <a:bodyPr/>
          <a:p/>
        </p:txBody>
      </p:sp>
      <p:sp>
        <p:nvSpPr>
          <p:cNvPr id="25" name="Text 23"/>
          <p:cNvSpPr txBox="1"/>
          <p:nvPr/>
        </p:nvSpPr>
        <p:spPr>
          <a:xfrm>
            <a:off x="457200" y="4352544"/>
            <a:ext cx="7315200" cy="621792"/>
          </a:xfrm>
          <a:prstGeom prst="rect">
            <a:avLst/>
          </a:prstGeom>
          <a:noFill/>
          <a:ln/>
        </p:spPr>
        <p:txBody>
          <a:bodyPr wrap="square" lIns="25400" tIns="25400" rIns="25400" bIns="25400" rtlCol="0" anchor="ctr"/>
          <a:lstStyle/>
          <a:p>
            <a:pPr algn="l" indent="0" marL="0">
              <a:buNone/>
            </a:pPr>
            <a:r>
              <a:rPr lang="en-US" sz="1200" dirty="0">
                <a:solidFill>
                  <a:srgbClr val="1A202C"/>
                </a:solidFill>
                <a:latin typeface="Calibri" pitchFamily="34" charset="0"/>
                <a:ea typeface="Calibri" pitchFamily="34" charset="-122"/>
                <a:cs typeface="Calibri" pitchFamily="34" charset="-120"/>
              </a:rPr>
              <a:t>AI yield prediction exists only in academic papers — never in an accessible web application</a:t>
            </a:r>
            <a:endParaRPr lang="en-US" sz="1200" dirty="0"/>
          </a:p>
        </p:txBody>
      </p:sp>
      <p:sp>
        <p:nvSpPr>
          <p:cNvPr id="26" name="Shape 24"/>
          <p:cNvSpPr/>
          <p:nvPr/>
        </p:nvSpPr>
        <p:spPr>
          <a:xfrm>
            <a:off x="274320" y="5210617"/>
            <a:ext cx="64008" cy="64008"/>
          </a:xfrm>
          <a:prstGeom prst="rect">
            <a:avLst/>
          </a:prstGeom>
          <a:solidFill>
            <a:srgbClr val="0D6B72"/>
          </a:solidFill>
          <a:ln w="12700">
            <a:solidFill>
              <a:srgbClr val="0D6B72"/>
            </a:solidFill>
            <a:prstDash val="solid"/>
          </a:ln>
        </p:spPr>
        <p:txBody>
          <a:bodyPr/>
          <a:p/>
        </p:txBody>
      </p:sp>
      <p:sp>
        <p:nvSpPr>
          <p:cNvPr id="27" name="Text 25"/>
          <p:cNvSpPr txBox="1"/>
          <p:nvPr/>
        </p:nvSpPr>
        <p:spPr>
          <a:xfrm>
            <a:off x="457200" y="4974336"/>
            <a:ext cx="7315200" cy="621792"/>
          </a:xfrm>
          <a:prstGeom prst="rect">
            <a:avLst/>
          </a:prstGeom>
          <a:noFill/>
          <a:ln/>
        </p:spPr>
        <p:txBody>
          <a:bodyPr wrap="square" lIns="25400" tIns="25400" rIns="25400" bIns="25400" rtlCol="0" anchor="ctr"/>
          <a:lstStyle/>
          <a:p>
            <a:pPr algn="l" indent="0" marL="0">
              <a:buNone/>
            </a:pPr>
            <a:r>
              <a:rPr lang="en-US" sz="1200" b="1" dirty="0">
                <a:solidFill>
                  <a:srgbClr val="1E3A5F"/>
                </a:solidFill>
                <a:latin typeface="Calibri" pitchFamily="34" charset="0"/>
                <a:ea typeface="Calibri" pitchFamily="34" charset="-122"/>
                <a:cs typeface="Calibri" pitchFamily="34" charset="-120"/>
              </a:rPr>
              <a:t>Consequence: operators cannot answer 'What should I plant, when, and how much will I yield?' — AgriAI-SG answers this</a:t>
            </a:r>
            <a:endParaRPr lang="en-US" sz="1200" dirty="0"/>
          </a:p>
        </p:txBody>
      </p:sp>
      <p:sp>
        <p:nvSpPr>
          <p:cNvPr id="28" name="Shape 26"/>
          <p:cNvSpPr/>
          <p:nvPr/>
        </p:nvSpPr>
        <p:spPr>
          <a:xfrm>
            <a:off x="8229600" y="2724912"/>
            <a:ext cx="3657600" cy="3785616"/>
          </a:xfrm>
          <a:prstGeom prst="rect">
            <a:avLst/>
          </a:prstGeom>
          <a:solidFill>
            <a:srgbClr val="E6F4F5"/>
          </a:solidFill>
          <a:ln w="12700">
            <a:solidFill>
              <a:srgbClr val="E6F4F5"/>
            </a:solidFill>
            <a:prstDash val="solid"/>
          </a:ln>
        </p:spPr>
        <p:txBody>
          <a:bodyPr/>
          <a:p/>
        </p:txBody>
      </p:sp>
      <p:sp>
        <p:nvSpPr>
          <p:cNvPr id="29" name="Text 27"/>
          <p:cNvSpPr txBox="1"/>
          <p:nvPr/>
        </p:nvSpPr>
        <p:spPr>
          <a:xfrm>
            <a:off x="8366760" y="2816352"/>
            <a:ext cx="3383280" cy="347472"/>
          </a:xfrm>
          <a:prstGeom prst="rect">
            <a:avLst/>
          </a:prstGeom>
          <a:noFill/>
          <a:ln/>
        </p:spPr>
        <p:txBody>
          <a:bodyPr wrap="square" lIns="25400" tIns="25400" rIns="25400" bIns="25400" rtlCol="0" anchor="ctr"/>
          <a:lstStyle/>
          <a:p>
            <a:pPr algn="l" indent="0" marL="0">
              <a:buNone/>
            </a:pPr>
            <a:r>
              <a:rPr lang="en-US" sz="1200" b="1" dirty="0">
                <a:solidFill>
                  <a:srgbClr val="1E3A5F"/>
                </a:solidFill>
                <a:latin typeface="Calibri" pitchFamily="34" charset="0"/>
                <a:ea typeface="Calibri" pitchFamily="34" charset="-122"/>
                <a:cs typeface="Calibri" pitchFamily="34" charset="-120"/>
              </a:rPr>
              <a:t>AgriAI-SG Answers:</a:t>
            </a:r>
            <a:endParaRPr lang="en-US" sz="1200" dirty="0"/>
          </a:p>
        </p:txBody>
      </p:sp>
      <p:sp>
        <p:nvSpPr>
          <p:cNvPr id="30" name="Text 28"/>
          <p:cNvSpPr txBox="1"/>
          <p:nvPr/>
        </p:nvSpPr>
        <p:spPr>
          <a:xfrm>
            <a:off x="8366760" y="3246120"/>
            <a:ext cx="3383280" cy="438912"/>
          </a:xfrm>
          <a:prstGeom prst="rect">
            <a:avLst/>
          </a:prstGeom>
          <a:noFill/>
          <a:ln/>
        </p:spPr>
        <p:txBody>
          <a:bodyPr wrap="square" lIns="25400" tIns="25400" rIns="25400" bIns="25400" rtlCol="0" anchor="ctr"/>
          <a:lstStyle/>
          <a:p>
            <a:pPr algn="l" indent="0" marL="0">
              <a:buNone/>
            </a:pPr>
            <a:r>
              <a:rPr lang="en-US" sz="1150" dirty="0">
                <a:solidFill>
                  <a:srgbClr val="0A5C36"/>
                </a:solidFill>
                <a:latin typeface="Calibri" pitchFamily="34" charset="0"/>
                <a:ea typeface="Calibri" pitchFamily="34" charset="-122"/>
                <a:cs typeface="Calibri" pitchFamily="34" charset="-120"/>
              </a:rPr>
              <a:t>✅  What should I plant?</a:t>
            </a:r>
            <a:endParaRPr lang="en-US" sz="1150" dirty="0"/>
          </a:p>
        </p:txBody>
      </p:sp>
      <p:sp>
        <p:nvSpPr>
          <p:cNvPr id="31" name="Text 29"/>
          <p:cNvSpPr txBox="1"/>
          <p:nvPr/>
        </p:nvSpPr>
        <p:spPr>
          <a:xfrm>
            <a:off x="8366760" y="3721608"/>
            <a:ext cx="3383280" cy="438912"/>
          </a:xfrm>
          <a:prstGeom prst="rect">
            <a:avLst/>
          </a:prstGeom>
          <a:noFill/>
          <a:ln/>
        </p:spPr>
        <p:txBody>
          <a:bodyPr wrap="square" lIns="25400" tIns="25400" rIns="25400" bIns="25400" rtlCol="0" anchor="ctr"/>
          <a:lstStyle/>
          <a:p>
            <a:pPr algn="l" indent="0" marL="0">
              <a:buNone/>
            </a:pPr>
            <a:r>
              <a:rPr lang="en-US" sz="1150" dirty="0">
                <a:solidFill>
                  <a:srgbClr val="0A5C36"/>
                </a:solidFill>
                <a:latin typeface="Calibri" pitchFamily="34" charset="0"/>
                <a:ea typeface="Calibri" pitchFamily="34" charset="-122"/>
                <a:cs typeface="Calibri" pitchFamily="34" charset="-120"/>
              </a:rPr>
              <a:t>✅  How much will I yield?</a:t>
            </a:r>
            <a:endParaRPr lang="en-US" sz="1150" dirty="0"/>
          </a:p>
        </p:txBody>
      </p:sp>
      <p:sp>
        <p:nvSpPr>
          <p:cNvPr id="32" name="Text 30"/>
          <p:cNvSpPr txBox="1"/>
          <p:nvPr/>
        </p:nvSpPr>
        <p:spPr>
          <a:xfrm>
            <a:off x="8366760" y="4197096"/>
            <a:ext cx="3383280" cy="438912"/>
          </a:xfrm>
          <a:prstGeom prst="rect">
            <a:avLst/>
          </a:prstGeom>
          <a:noFill/>
          <a:ln/>
        </p:spPr>
        <p:txBody>
          <a:bodyPr wrap="square" lIns="25400" tIns="25400" rIns="25400" bIns="25400" rtlCol="0" anchor="ctr"/>
          <a:lstStyle/>
          <a:p>
            <a:pPr algn="l" indent="0" marL="0">
              <a:buNone/>
            </a:pPr>
            <a:r>
              <a:rPr lang="en-US" sz="1150" dirty="0">
                <a:solidFill>
                  <a:srgbClr val="0A5C36"/>
                </a:solidFill>
                <a:latin typeface="Calibri" pitchFamily="34" charset="0"/>
                <a:ea typeface="Calibri" pitchFamily="34" charset="-122"/>
                <a:cs typeface="Calibri" pitchFamily="34" charset="-120"/>
              </a:rPr>
              <a:t>✅  Which conditions matter most?</a:t>
            </a:r>
            <a:endParaRPr lang="en-US" sz="1150" dirty="0"/>
          </a:p>
        </p:txBody>
      </p:sp>
      <p:sp>
        <p:nvSpPr>
          <p:cNvPr id="33" name="Text 31"/>
          <p:cNvSpPr txBox="1"/>
          <p:nvPr/>
        </p:nvSpPr>
        <p:spPr>
          <a:xfrm>
            <a:off x="8366760" y="4672584"/>
            <a:ext cx="3383280" cy="438912"/>
          </a:xfrm>
          <a:prstGeom prst="rect">
            <a:avLst/>
          </a:prstGeom>
          <a:noFill/>
          <a:ln/>
        </p:spPr>
        <p:txBody>
          <a:bodyPr wrap="square" lIns="25400" tIns="25400" rIns="25400" bIns="25400" rtlCol="0" anchor="ctr"/>
          <a:lstStyle/>
          <a:p>
            <a:pPr algn="l" indent="0" marL="0">
              <a:buNone/>
            </a:pPr>
            <a:r>
              <a:rPr lang="en-US" sz="1150" dirty="0">
                <a:solidFill>
                  <a:srgbClr val="0A5C36"/>
                </a:solidFill>
                <a:latin typeface="Calibri" pitchFamily="34" charset="0"/>
                <a:ea typeface="Calibri" pitchFamily="34" charset="-122"/>
                <a:cs typeface="Calibri" pitchFamily="34" charset="-120"/>
              </a:rPr>
              <a:t>✅  How is my farm performing?</a:t>
            </a:r>
            <a:endParaRPr lang="en-US" sz="1150" dirty="0"/>
          </a:p>
        </p:txBody>
      </p:sp>
      <p:sp>
        <p:nvSpPr>
          <p:cNvPr id="34" name="Text 32"/>
          <p:cNvSpPr txBox="1"/>
          <p:nvPr/>
        </p:nvSpPr>
        <p:spPr>
          <a:xfrm>
            <a:off x="8366760" y="5148072"/>
            <a:ext cx="3383280" cy="438912"/>
          </a:xfrm>
          <a:prstGeom prst="rect">
            <a:avLst/>
          </a:prstGeom>
          <a:noFill/>
          <a:ln/>
        </p:spPr>
        <p:txBody>
          <a:bodyPr wrap="square" lIns="25400" tIns="25400" rIns="25400" bIns="25400" rtlCol="0" anchor="ctr"/>
          <a:lstStyle/>
          <a:p>
            <a:pPr algn="l" indent="0" marL="0">
              <a:buNone/>
            </a:pPr>
            <a:r>
              <a:rPr lang="en-US" sz="1150" dirty="0">
                <a:solidFill>
                  <a:srgbClr val="0A5C36"/>
                </a:solidFill>
                <a:latin typeface="Calibri" pitchFamily="34" charset="0"/>
                <a:ea typeface="Calibri" pitchFamily="34" charset="-122"/>
                <a:cs typeface="Calibri" pitchFamily="34" charset="-120"/>
              </a:rPr>
              <a:t>✅  Is my system secure?</a:t>
            </a:r>
            <a:endParaRPr lang="en-US" sz="1150" dirty="0"/>
          </a:p>
        </p:txBody>
      </p:sp>
      <p:sp>
        <p:nvSpPr>
          <p:cNvPr id="35" name="Text 33"/>
          <p:cNvSpPr txBox="1"/>
          <p:nvPr/>
        </p:nvSpPr>
        <p:spPr>
          <a:xfrm>
            <a:off x="274320" y="6446520"/>
            <a:ext cx="6400800" cy="274320"/>
          </a:xfrm>
          <a:prstGeom prst="rect">
            <a:avLst/>
          </a:prstGeom>
          <a:noFill/>
          <a:ln/>
        </p:spPr>
        <p:txBody>
          <a:bodyPr wrap="square" lIns="25400" tIns="25400" rIns="25400" bIns="25400" rtlCol="0" anchor="ctr"/>
          <a:lstStyle/>
          <a:p>
            <a:pPr algn="l" indent="0" marL="0">
              <a:buNone/>
            </a:pPr>
            <a:r>
              <a:rPr lang="en-US" sz="900" i="1" dirty="0">
                <a:solidFill>
                  <a:srgbClr val="718096"/>
                </a:solidFill>
                <a:latin typeface="Calibri" pitchFamily="34" charset="0"/>
                <a:ea typeface="Calibri" pitchFamily="34" charset="-122"/>
                <a:cs typeface="Calibri" pitchFamily="34" charset="-120"/>
              </a:rPr>
              <a:t>Source: Singapore Food Agency (SFA, 2024)</a:t>
            </a:r>
            <a:endParaRPr lang="en-US" sz="900" dirty="0"/>
          </a:p>
        </p:txBody>
      </p:sp>
      <p:sp>
        <p:nvSpPr>
          <p:cNvPr id="36" name="Shape 34"/>
          <p:cNvSpPr/>
          <p:nvPr/>
        </p:nvSpPr>
        <p:spPr>
          <a:xfrm>
            <a:off x="0" y="6510528"/>
            <a:ext cx="12161520" cy="347472"/>
          </a:xfrm>
          <a:prstGeom prst="rect">
            <a:avLst/>
          </a:prstGeom>
          <a:solidFill>
            <a:srgbClr val="E8EDF3"/>
          </a:solidFill>
          <a:ln w="12700">
            <a:solidFill>
              <a:srgbClr val="E8EDF3"/>
            </a:solidFill>
            <a:prstDash val="solid"/>
          </a:ln>
        </p:spPr>
        <p:txBody>
          <a:body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E3A5F"/>
          </a:solidFill>
          <a:ln w="12700">
            <a:solidFill>
              <a:srgbClr val="1E3A5F"/>
            </a:solidFill>
            <a:prstDash val="solid"/>
          </a:ln>
        </p:spPr>
        <p:txBody>
          <a:bodyPr/>
          <a:p/>
        </p:txBody>
      </p:sp>
      <p:sp>
        <p:nvSpPr>
          <p:cNvPr id="3" name="Text 1"/>
          <p:cNvSpPr txBox="1"/>
          <p:nvPr/>
        </p:nvSpPr>
        <p:spPr>
          <a:xfrm>
            <a:off x="365760" y="45720"/>
            <a:ext cx="10058400" cy="566928"/>
          </a:xfrm>
          <a:prstGeom prst="rect">
            <a:avLst/>
          </a:prstGeom>
          <a:noFill/>
          <a:ln/>
        </p:spPr>
        <p:txBody>
          <a:bodyPr wrap="square" lIns="25400" tIns="25400" rIns="25400" bIns="2540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Four Research Questions — With Direct Answers</a:t>
            </a:r>
            <a:endParaRPr lang="en-US" sz="2200" dirty="0"/>
          </a:p>
        </p:txBody>
      </p:sp>
      <p:sp>
        <p:nvSpPr>
          <p:cNvPr id="4" name="Shape 2"/>
          <p:cNvSpPr/>
          <p:nvPr/>
        </p:nvSpPr>
        <p:spPr>
          <a:xfrm>
            <a:off x="0" y="960120"/>
            <a:ext cx="12161520" cy="45720"/>
          </a:xfrm>
          <a:prstGeom prst="rect">
            <a:avLst/>
          </a:prstGeom>
          <a:solidFill>
            <a:srgbClr val="0D6B72"/>
          </a:solidFill>
          <a:ln w="12700">
            <a:solidFill>
              <a:srgbClr val="0D6B72"/>
            </a:solidFill>
            <a:prstDash val="solid"/>
          </a:ln>
        </p:spPr>
        <p:txBody>
          <a:bodyPr/>
          <a:p/>
        </p:txBody>
      </p:sp>
      <p:sp>
        <p:nvSpPr>
          <p:cNvPr id="5" name="Shape 3"/>
          <p:cNvSpPr/>
          <p:nvPr/>
        </p:nvSpPr>
        <p:spPr>
          <a:xfrm>
            <a:off x="274320" y="1078992"/>
            <a:ext cx="685800" cy="1170432"/>
          </a:xfrm>
          <a:prstGeom prst="rect">
            <a:avLst/>
          </a:prstGeom>
          <a:solidFill>
            <a:srgbClr val="1E3A5F"/>
          </a:solidFill>
          <a:ln w="12700">
            <a:solidFill>
              <a:srgbClr val="1E3A5F"/>
            </a:solidFill>
            <a:prstDash val="solid"/>
          </a:ln>
        </p:spPr>
        <p:txBody>
          <a:bodyPr/>
          <a:p/>
        </p:txBody>
      </p:sp>
      <p:sp>
        <p:nvSpPr>
          <p:cNvPr id="6" name="Text 4"/>
          <p:cNvSpPr txBox="1"/>
          <p:nvPr/>
        </p:nvSpPr>
        <p:spPr>
          <a:xfrm>
            <a:off x="274320" y="1078992"/>
            <a:ext cx="685800" cy="1170432"/>
          </a:xfrm>
          <a:prstGeom prst="rect">
            <a:avLst/>
          </a:prstGeom>
          <a:noFill/>
          <a:ln/>
        </p:spPr>
        <p:txBody>
          <a:bodyPr wrap="square" lIns="25400" tIns="25400" rIns="25400" bIns="254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RQ1</a:t>
            </a:r>
            <a:endParaRPr lang="en-US" sz="1400" dirty="0"/>
          </a:p>
        </p:txBody>
      </p:sp>
      <p:sp>
        <p:nvSpPr>
          <p:cNvPr id="7" name="Shape 5"/>
          <p:cNvSpPr/>
          <p:nvPr/>
        </p:nvSpPr>
        <p:spPr>
          <a:xfrm>
            <a:off x="1024128" y="1078992"/>
            <a:ext cx="10972800" cy="475488"/>
          </a:xfrm>
          <a:prstGeom prst="rect">
            <a:avLst/>
          </a:prstGeom>
          <a:solidFill>
            <a:srgbClr val="EBF0F7"/>
          </a:solidFill>
          <a:ln w="12700">
            <a:solidFill>
              <a:srgbClr val="EBF0F7"/>
            </a:solidFill>
            <a:prstDash val="solid"/>
          </a:ln>
        </p:spPr>
        <p:txBody>
          <a:bodyPr/>
          <a:p/>
        </p:txBody>
      </p:sp>
      <p:sp>
        <p:nvSpPr>
          <p:cNvPr id="8" name="Text 6"/>
          <p:cNvSpPr txBox="1"/>
          <p:nvPr/>
        </p:nvSpPr>
        <p:spPr>
          <a:xfrm>
            <a:off x="1115568" y="1115568"/>
            <a:ext cx="10789920" cy="402336"/>
          </a:xfrm>
          <a:prstGeom prst="rect">
            <a:avLst/>
          </a:prstGeom>
          <a:noFill/>
          <a:ln/>
        </p:spPr>
        <p:txBody>
          <a:bodyPr wrap="square" lIns="25400" tIns="25400" rIns="25400" bIns="25400" rtlCol="0" anchor="ctr"/>
          <a:lstStyle/>
          <a:p>
            <a:pPr algn="l" indent="0" marL="0">
              <a:buNone/>
            </a:pPr>
            <a:r>
              <a:rPr lang="en-US" sz="1150" b="1" dirty="0">
                <a:solidFill>
                  <a:srgbClr val="1E3A5F"/>
                </a:solidFill>
                <a:latin typeface="Calibri" pitchFamily="34" charset="0"/>
                <a:ea typeface="Calibri" pitchFamily="34" charset="-122"/>
                <a:cs typeface="Calibri" pitchFamily="34" charset="-120"/>
              </a:rPr>
              <a:t>What are the key limitations of existing AMS and AI yield prediction models for Singapore's CEA sector?</a:t>
            </a:r>
            <a:endParaRPr lang="en-US" sz="1150" dirty="0"/>
          </a:p>
        </p:txBody>
      </p:sp>
      <p:sp>
        <p:nvSpPr>
          <p:cNvPr id="9" name="Shape 7"/>
          <p:cNvSpPr/>
          <p:nvPr/>
        </p:nvSpPr>
        <p:spPr>
          <a:xfrm>
            <a:off x="1024128" y="1554480"/>
            <a:ext cx="10972800" cy="694944"/>
          </a:xfrm>
          <a:prstGeom prst="rect">
            <a:avLst/>
          </a:prstGeom>
          <a:solidFill>
            <a:srgbClr val="F5F7FA"/>
          </a:solidFill>
          <a:ln w="12700">
            <a:solidFill>
              <a:srgbClr val="F5F7FA"/>
            </a:solidFill>
            <a:prstDash val="solid"/>
          </a:ln>
        </p:spPr>
        <p:txBody>
          <a:bodyPr/>
          <a:p/>
        </p:txBody>
      </p:sp>
      <p:sp>
        <p:nvSpPr>
          <p:cNvPr id="10" name="Text 8"/>
          <p:cNvSpPr txBox="1"/>
          <p:nvPr/>
        </p:nvSpPr>
        <p:spPr>
          <a:xfrm>
            <a:off x="1115568" y="1581912"/>
            <a:ext cx="10789920" cy="640080"/>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Existing AMS platforms (FarmLogs, Granular, FieldView) are built for large-scale conventional agriculture — not Singapore's hydroponic CEA. AI yield prediction exists only in academic papers, never in accessible web tools.</a:t>
            </a:r>
            <a:endParaRPr lang="en-US" sz="1100" dirty="0"/>
          </a:p>
        </p:txBody>
      </p:sp>
      <p:sp>
        <p:nvSpPr>
          <p:cNvPr id="11" name="Shape 9"/>
          <p:cNvSpPr/>
          <p:nvPr/>
        </p:nvSpPr>
        <p:spPr>
          <a:xfrm>
            <a:off x="274320" y="2377440"/>
            <a:ext cx="685800" cy="1170432"/>
          </a:xfrm>
          <a:prstGeom prst="rect">
            <a:avLst/>
          </a:prstGeom>
          <a:solidFill>
            <a:srgbClr val="1E3A5F"/>
          </a:solidFill>
          <a:ln w="12700">
            <a:solidFill>
              <a:srgbClr val="1E3A5F"/>
            </a:solidFill>
            <a:prstDash val="solid"/>
          </a:ln>
        </p:spPr>
        <p:txBody>
          <a:bodyPr/>
          <a:p/>
        </p:txBody>
      </p:sp>
      <p:sp>
        <p:nvSpPr>
          <p:cNvPr id="12" name="Text 10"/>
          <p:cNvSpPr txBox="1"/>
          <p:nvPr/>
        </p:nvSpPr>
        <p:spPr>
          <a:xfrm>
            <a:off x="274320" y="2377440"/>
            <a:ext cx="685800" cy="1170432"/>
          </a:xfrm>
          <a:prstGeom prst="rect">
            <a:avLst/>
          </a:prstGeom>
          <a:noFill/>
          <a:ln/>
        </p:spPr>
        <p:txBody>
          <a:bodyPr wrap="square" lIns="25400" tIns="25400" rIns="25400" bIns="254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RQ2</a:t>
            </a:r>
            <a:endParaRPr lang="en-US" sz="1400" dirty="0"/>
          </a:p>
        </p:txBody>
      </p:sp>
      <p:sp>
        <p:nvSpPr>
          <p:cNvPr id="13" name="Shape 11"/>
          <p:cNvSpPr/>
          <p:nvPr/>
        </p:nvSpPr>
        <p:spPr>
          <a:xfrm>
            <a:off x="1024128" y="2377440"/>
            <a:ext cx="10972800" cy="475488"/>
          </a:xfrm>
          <a:prstGeom prst="rect">
            <a:avLst/>
          </a:prstGeom>
          <a:solidFill>
            <a:srgbClr val="EBF0F7"/>
          </a:solidFill>
          <a:ln w="12700">
            <a:solidFill>
              <a:srgbClr val="EBF0F7"/>
            </a:solidFill>
            <a:prstDash val="solid"/>
          </a:ln>
        </p:spPr>
        <p:txBody>
          <a:bodyPr/>
          <a:p/>
        </p:txBody>
      </p:sp>
      <p:sp>
        <p:nvSpPr>
          <p:cNvPr id="14" name="Text 12"/>
          <p:cNvSpPr txBox="1"/>
          <p:nvPr/>
        </p:nvSpPr>
        <p:spPr>
          <a:xfrm>
            <a:off x="1115568" y="2414016"/>
            <a:ext cx="10789920" cy="402336"/>
          </a:xfrm>
          <a:prstGeom prst="rect">
            <a:avLst/>
          </a:prstGeom>
          <a:noFill/>
          <a:ln/>
        </p:spPr>
        <p:txBody>
          <a:bodyPr wrap="square" lIns="25400" tIns="25400" rIns="25400" bIns="25400" rtlCol="0" anchor="ctr"/>
          <a:lstStyle/>
          <a:p>
            <a:pPr algn="l" indent="0" marL="0">
              <a:buNone/>
            </a:pPr>
            <a:r>
              <a:rPr lang="en-US" sz="1150" b="1" dirty="0">
                <a:solidFill>
                  <a:srgbClr val="1E3A5F"/>
                </a:solidFill>
                <a:latin typeface="Calibri" pitchFamily="34" charset="0"/>
                <a:ea typeface="Calibri" pitchFamily="34" charset="-122"/>
                <a:cs typeface="Calibri" pitchFamily="34" charset="-120"/>
              </a:rPr>
              <a:t>How can a full-stack web DSS be designed and implemented using Spring Boot, ReactJS and Python?</a:t>
            </a:r>
            <a:endParaRPr lang="en-US" sz="1150" dirty="0"/>
          </a:p>
        </p:txBody>
      </p:sp>
      <p:sp>
        <p:nvSpPr>
          <p:cNvPr id="15" name="Shape 13"/>
          <p:cNvSpPr/>
          <p:nvPr/>
        </p:nvSpPr>
        <p:spPr>
          <a:xfrm>
            <a:off x="1024128" y="2852928"/>
            <a:ext cx="10972800" cy="694944"/>
          </a:xfrm>
          <a:prstGeom prst="rect">
            <a:avLst/>
          </a:prstGeom>
          <a:solidFill>
            <a:srgbClr val="F5F7FA"/>
          </a:solidFill>
          <a:ln w="12700">
            <a:solidFill>
              <a:srgbClr val="F5F7FA"/>
            </a:solidFill>
            <a:prstDash val="solid"/>
          </a:ln>
        </p:spPr>
        <p:txBody>
          <a:bodyPr/>
          <a:p/>
        </p:txBody>
      </p:sp>
      <p:sp>
        <p:nvSpPr>
          <p:cNvPr id="16" name="Text 14"/>
          <p:cNvSpPr txBox="1"/>
          <p:nvPr/>
        </p:nvSpPr>
        <p:spPr>
          <a:xfrm>
            <a:off x="1115568" y="2880360"/>
            <a:ext cx="10789920" cy="640080"/>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AgriAI-SG: ReactJS 18 + Spring Boot 3.2 + MySQL 8.0 + PyTorch 2.3.1 + Flask 3.0. Four technology layers. 10 functional requirements implemented. 12/12 functional tests passed. 4/4 OWASP security tests passed.</a:t>
            </a:r>
            <a:endParaRPr lang="en-US" sz="1100" dirty="0"/>
          </a:p>
        </p:txBody>
      </p:sp>
      <p:sp>
        <p:nvSpPr>
          <p:cNvPr id="17" name="Shape 15"/>
          <p:cNvSpPr/>
          <p:nvPr/>
        </p:nvSpPr>
        <p:spPr>
          <a:xfrm>
            <a:off x="274320" y="3675888"/>
            <a:ext cx="685800" cy="1170432"/>
          </a:xfrm>
          <a:prstGeom prst="rect">
            <a:avLst/>
          </a:prstGeom>
          <a:solidFill>
            <a:srgbClr val="1E3A5F"/>
          </a:solidFill>
          <a:ln w="12700">
            <a:solidFill>
              <a:srgbClr val="1E3A5F"/>
            </a:solidFill>
            <a:prstDash val="solid"/>
          </a:ln>
        </p:spPr>
        <p:txBody>
          <a:bodyPr/>
          <a:p/>
        </p:txBody>
      </p:sp>
      <p:sp>
        <p:nvSpPr>
          <p:cNvPr id="18" name="Text 16"/>
          <p:cNvSpPr txBox="1"/>
          <p:nvPr/>
        </p:nvSpPr>
        <p:spPr>
          <a:xfrm>
            <a:off x="274320" y="3675888"/>
            <a:ext cx="685800" cy="1170432"/>
          </a:xfrm>
          <a:prstGeom prst="rect">
            <a:avLst/>
          </a:prstGeom>
          <a:noFill/>
          <a:ln/>
        </p:spPr>
        <p:txBody>
          <a:bodyPr wrap="square" lIns="25400" tIns="25400" rIns="25400" bIns="254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RQ3</a:t>
            </a:r>
            <a:endParaRPr lang="en-US" sz="1400" dirty="0"/>
          </a:p>
        </p:txBody>
      </p:sp>
      <p:sp>
        <p:nvSpPr>
          <p:cNvPr id="19" name="Shape 17"/>
          <p:cNvSpPr/>
          <p:nvPr/>
        </p:nvSpPr>
        <p:spPr>
          <a:xfrm>
            <a:off x="1024128" y="3675888"/>
            <a:ext cx="10972800" cy="475488"/>
          </a:xfrm>
          <a:prstGeom prst="rect">
            <a:avLst/>
          </a:prstGeom>
          <a:solidFill>
            <a:srgbClr val="EBF0F7"/>
          </a:solidFill>
          <a:ln w="12700">
            <a:solidFill>
              <a:srgbClr val="EBF0F7"/>
            </a:solidFill>
            <a:prstDash val="solid"/>
          </a:ln>
        </p:spPr>
        <p:txBody>
          <a:bodyPr/>
          <a:p/>
        </p:txBody>
      </p:sp>
      <p:sp>
        <p:nvSpPr>
          <p:cNvPr id="20" name="Text 18"/>
          <p:cNvSpPr txBox="1"/>
          <p:nvPr/>
        </p:nvSpPr>
        <p:spPr>
          <a:xfrm>
            <a:off x="1115568" y="3712464"/>
            <a:ext cx="10789920" cy="402336"/>
          </a:xfrm>
          <a:prstGeom prst="rect">
            <a:avLst/>
          </a:prstGeom>
          <a:noFill/>
          <a:ln/>
        </p:spPr>
        <p:txBody>
          <a:bodyPr wrap="square" lIns="25400" tIns="25400" rIns="25400" bIns="25400" rtlCol="0" anchor="ctr"/>
          <a:lstStyle/>
          <a:p>
            <a:pPr algn="l" indent="0" marL="0">
              <a:buNone/>
            </a:pPr>
            <a:r>
              <a:rPr lang="en-US" sz="1150" b="1" dirty="0">
                <a:solidFill>
                  <a:srgbClr val="1E3A5F"/>
                </a:solidFill>
                <a:latin typeface="Calibri" pitchFamily="34" charset="0"/>
                <a:ea typeface="Calibri" pitchFamily="34" charset="-122"/>
                <a:cs typeface="Calibri" pitchFamily="34" charset="-120"/>
              </a:rPr>
              <a:t>To what extent can a PyTorch DNN provide practically useful yield predictions for Singapore CEA operators?</a:t>
            </a:r>
            <a:endParaRPr lang="en-US" sz="1150" dirty="0"/>
          </a:p>
        </p:txBody>
      </p:sp>
      <p:sp>
        <p:nvSpPr>
          <p:cNvPr id="21" name="Shape 19"/>
          <p:cNvSpPr/>
          <p:nvPr/>
        </p:nvSpPr>
        <p:spPr>
          <a:xfrm>
            <a:off x="1024128" y="4151376"/>
            <a:ext cx="10972800" cy="694944"/>
          </a:xfrm>
          <a:prstGeom prst="rect">
            <a:avLst/>
          </a:prstGeom>
          <a:solidFill>
            <a:srgbClr val="F5F7FA"/>
          </a:solidFill>
          <a:ln w="12700">
            <a:solidFill>
              <a:srgbClr val="F5F7FA"/>
            </a:solidFill>
            <a:prstDash val="solid"/>
          </a:ln>
        </p:spPr>
        <p:txBody>
          <a:bodyPr/>
          <a:p/>
        </p:txBody>
      </p:sp>
      <p:sp>
        <p:nvSpPr>
          <p:cNvPr id="22" name="Text 20"/>
          <p:cNvSpPr txBox="1"/>
          <p:nvPr/>
        </p:nvSpPr>
        <p:spPr>
          <a:xfrm>
            <a:off x="1115568" y="4178808"/>
            <a:ext cx="10789920" cy="640080"/>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YES — Test R²=0.9389, MAE=0.165 kg/m², Overfitting Gap=0.0016. Exceeds Van Klompenburg (2020) benchmark of 0.75–0.92. Predicts yield to within 165g/m² — accurate enough for harvest planning.</a:t>
            </a:r>
            <a:endParaRPr lang="en-US" sz="1100" dirty="0"/>
          </a:p>
        </p:txBody>
      </p:sp>
      <p:sp>
        <p:nvSpPr>
          <p:cNvPr id="23" name="Shape 21"/>
          <p:cNvSpPr/>
          <p:nvPr/>
        </p:nvSpPr>
        <p:spPr>
          <a:xfrm>
            <a:off x="274320" y="4974336"/>
            <a:ext cx="685800" cy="1170432"/>
          </a:xfrm>
          <a:prstGeom prst="rect">
            <a:avLst/>
          </a:prstGeom>
          <a:solidFill>
            <a:srgbClr val="1E3A5F"/>
          </a:solidFill>
          <a:ln w="12700">
            <a:solidFill>
              <a:srgbClr val="1E3A5F"/>
            </a:solidFill>
            <a:prstDash val="solid"/>
          </a:ln>
        </p:spPr>
        <p:txBody>
          <a:bodyPr/>
          <a:p/>
        </p:txBody>
      </p:sp>
      <p:sp>
        <p:nvSpPr>
          <p:cNvPr id="24" name="Text 22"/>
          <p:cNvSpPr txBox="1"/>
          <p:nvPr/>
        </p:nvSpPr>
        <p:spPr>
          <a:xfrm>
            <a:off x="274320" y="4974336"/>
            <a:ext cx="685800" cy="1170432"/>
          </a:xfrm>
          <a:prstGeom prst="rect">
            <a:avLst/>
          </a:prstGeom>
          <a:noFill/>
          <a:ln/>
        </p:spPr>
        <p:txBody>
          <a:bodyPr wrap="square" lIns="25400" tIns="25400" rIns="25400" bIns="254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RQ4</a:t>
            </a:r>
            <a:endParaRPr lang="en-US" sz="1400" dirty="0"/>
          </a:p>
        </p:txBody>
      </p:sp>
      <p:sp>
        <p:nvSpPr>
          <p:cNvPr id="25" name="Shape 23"/>
          <p:cNvSpPr/>
          <p:nvPr/>
        </p:nvSpPr>
        <p:spPr>
          <a:xfrm>
            <a:off x="1024128" y="4974336"/>
            <a:ext cx="10972800" cy="475488"/>
          </a:xfrm>
          <a:prstGeom prst="rect">
            <a:avLst/>
          </a:prstGeom>
          <a:solidFill>
            <a:srgbClr val="EBF0F7"/>
          </a:solidFill>
          <a:ln w="12700">
            <a:solidFill>
              <a:srgbClr val="EBF0F7"/>
            </a:solidFill>
            <a:prstDash val="solid"/>
          </a:ln>
        </p:spPr>
        <p:txBody>
          <a:bodyPr/>
          <a:p/>
        </p:txBody>
      </p:sp>
      <p:sp>
        <p:nvSpPr>
          <p:cNvPr id="26" name="Text 24"/>
          <p:cNvSpPr txBox="1"/>
          <p:nvPr/>
        </p:nvSpPr>
        <p:spPr>
          <a:xfrm>
            <a:off x="1115568" y="5010912"/>
            <a:ext cx="10789920" cy="402336"/>
          </a:xfrm>
          <a:prstGeom prst="rect">
            <a:avLst/>
          </a:prstGeom>
          <a:noFill/>
          <a:ln/>
        </p:spPr>
        <p:txBody>
          <a:bodyPr wrap="square" lIns="25400" tIns="25400" rIns="25400" bIns="25400" rtlCol="0" anchor="ctr"/>
          <a:lstStyle/>
          <a:p>
            <a:pPr algn="l" indent="0" marL="0">
              <a:buNone/>
            </a:pPr>
            <a:r>
              <a:rPr lang="en-US" sz="1150" b="1" dirty="0">
                <a:solidFill>
                  <a:srgbClr val="1E3A5F"/>
                </a:solidFill>
                <a:latin typeface="Calibri" pitchFamily="34" charset="0"/>
                <a:ea typeface="Calibri" pitchFamily="34" charset="-122"/>
                <a:cs typeface="Calibri" pitchFamily="34" charset="-120"/>
              </a:rPr>
              <a:t>How does AgriAI-SG perform against the DeLone &amp; McLean IS Success Model?</a:t>
            </a:r>
            <a:endParaRPr lang="en-US" sz="1150" dirty="0"/>
          </a:p>
        </p:txBody>
      </p:sp>
      <p:sp>
        <p:nvSpPr>
          <p:cNvPr id="27" name="Shape 25"/>
          <p:cNvSpPr/>
          <p:nvPr/>
        </p:nvSpPr>
        <p:spPr>
          <a:xfrm>
            <a:off x="1024128" y="5449824"/>
            <a:ext cx="10972800" cy="694944"/>
          </a:xfrm>
          <a:prstGeom prst="rect">
            <a:avLst/>
          </a:prstGeom>
          <a:solidFill>
            <a:srgbClr val="F5F7FA"/>
          </a:solidFill>
          <a:ln w="12700">
            <a:solidFill>
              <a:srgbClr val="F5F7FA"/>
            </a:solidFill>
            <a:prstDash val="solid"/>
          </a:ln>
        </p:spPr>
        <p:txBody>
          <a:bodyPr/>
          <a:p/>
        </p:txBody>
      </p:sp>
      <p:sp>
        <p:nvSpPr>
          <p:cNvPr id="28" name="Text 26"/>
          <p:cNvSpPr txBox="1"/>
          <p:nvPr/>
        </p:nvSpPr>
        <p:spPr>
          <a:xfrm>
            <a:off x="1115568" y="5477256"/>
            <a:ext cx="10789920" cy="640080"/>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All 3 dimensions MET: Information Quality ✅ (R²=0.9389, explainable features) · System Quality ✅ (12/12 tests, 4/4 OWASP) · Net Benefits ✅ (complete workflow, 4 gaps addressed, 8/10 Nielsen compliant)</a:t>
            </a:r>
            <a:endParaRPr lang="en-US" sz="1100" dirty="0"/>
          </a:p>
        </p:txBody>
      </p:sp>
      <p:sp>
        <p:nvSpPr>
          <p:cNvPr id="29" name="Shape 27"/>
          <p:cNvSpPr/>
          <p:nvPr/>
        </p:nvSpPr>
        <p:spPr>
          <a:xfrm>
            <a:off x="0" y="6510528"/>
            <a:ext cx="12161520" cy="347472"/>
          </a:xfrm>
          <a:prstGeom prst="rect">
            <a:avLst/>
          </a:prstGeom>
          <a:solidFill>
            <a:srgbClr val="E8EDF3"/>
          </a:solidFill>
          <a:ln w="12700">
            <a:solidFill>
              <a:srgbClr val="E8EDF3"/>
            </a:solidFill>
            <a:prstDash val="solid"/>
          </a:ln>
        </p:spPr>
        <p:txBody>
          <a:bodyPr/>
          <a:p/>
        </p:txBody>
      </p:sp>
      <p:sp>
        <p:nvSpPr>
          <p:cNvPr id="31" name="Text 29"/>
          <p:cNvSpPr txBox="1"/>
          <p:nvPr/>
        </p:nvSpPr>
        <p:spPr>
          <a:xfrm>
            <a:off x="9784080" y="6510528"/>
            <a:ext cx="2194560" cy="347472"/>
          </a:xfrm>
          <a:prstGeom prst="rect">
            <a:avLst/>
          </a:prstGeom>
          <a:noFill/>
          <a:ln/>
        </p:spPr>
        <p:txBody>
          <a:bodyPr wrap="square" lIns="25400" tIns="25400" rIns="25400" bIns="25400" rtlCol="0" anchor="ctr"/>
          <a:lstStyle/>
          <a:p>
            <a:pPr algn="r" indent="0" marL="0">
              <a:buNone/>
            </a:pPr>
            <a:r>
              <a:rPr lang="en-US" sz="1000" dirty="0">
                <a:solidFill>
                  <a:srgbClr val="718096"/>
                </a:solidFill>
                <a:latin typeface="Calibri" pitchFamily="34" charset="0"/>
                <a:ea typeface="Calibri" pitchFamily="34" charset="-122"/>
                <a:cs typeface="Calibri" pitchFamily="34" charset="-120"/>
              </a:rPr>
              <a:t>0:45 – 1:30</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E3A5F"/>
          </a:solidFill>
          <a:ln w="12700">
            <a:solidFill>
              <a:srgbClr val="1E3A5F"/>
            </a:solidFill>
            <a:prstDash val="solid"/>
          </a:ln>
        </p:spPr>
        <p:txBody>
          <a:bodyPr/>
          <a:p/>
        </p:txBody>
      </p:sp>
      <p:sp>
        <p:nvSpPr>
          <p:cNvPr id="3" name="Text 1"/>
          <p:cNvSpPr txBox="1"/>
          <p:nvPr/>
        </p:nvSpPr>
        <p:spPr>
          <a:xfrm>
            <a:off x="365760" y="45720"/>
            <a:ext cx="10058400" cy="566928"/>
          </a:xfrm>
          <a:prstGeom prst="rect">
            <a:avLst/>
          </a:prstGeom>
          <a:noFill/>
          <a:ln/>
        </p:spPr>
        <p:txBody>
          <a:bodyPr wrap="square" lIns="25400" tIns="25400" rIns="25400" bIns="2540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Theoretical Frameworks — Four Pillars of AgriAI-SG Research</a:t>
            </a:r>
            <a:endParaRPr lang="en-US" sz="2200" dirty="0"/>
          </a:p>
        </p:txBody>
      </p:sp>
      <p:sp>
        <p:nvSpPr>
          <p:cNvPr id="4" name="Shape 2"/>
          <p:cNvSpPr/>
          <p:nvPr/>
        </p:nvSpPr>
        <p:spPr>
          <a:xfrm>
            <a:off x="0" y="960120"/>
            <a:ext cx="12161520" cy="45720"/>
          </a:xfrm>
          <a:prstGeom prst="rect">
            <a:avLst/>
          </a:prstGeom>
          <a:solidFill>
            <a:srgbClr val="0D6B72"/>
          </a:solidFill>
          <a:ln w="12700">
            <a:solidFill>
              <a:srgbClr val="0D6B72"/>
            </a:solidFill>
            <a:prstDash val="solid"/>
          </a:ln>
        </p:spPr>
        <p:txBody>
          <a:bodyPr/>
          <a:p/>
        </p:txBody>
      </p:sp>
      <p:sp>
        <p:nvSpPr>
          <p:cNvPr id="5" name="Shape 3"/>
          <p:cNvSpPr/>
          <p:nvPr/>
        </p:nvSpPr>
        <p:spPr>
          <a:xfrm>
            <a:off x="274320" y="1078992"/>
            <a:ext cx="2788920" cy="594360"/>
          </a:xfrm>
          <a:prstGeom prst="rect">
            <a:avLst/>
          </a:prstGeom>
          <a:solidFill>
            <a:srgbClr val="1E3A5F"/>
          </a:solidFill>
          <a:ln w="12700">
            <a:solidFill>
              <a:srgbClr val="1E3A5F"/>
            </a:solidFill>
            <a:prstDash val="solid"/>
          </a:ln>
        </p:spPr>
        <p:txBody>
          <a:bodyPr/>
          <a:p/>
        </p:txBody>
      </p:sp>
      <p:sp>
        <p:nvSpPr>
          <p:cNvPr id="6" name="Text 4"/>
          <p:cNvSpPr txBox="1"/>
          <p:nvPr/>
        </p:nvSpPr>
        <p:spPr>
          <a:xfrm>
            <a:off x="347472" y="1097280"/>
            <a:ext cx="2651760" cy="384048"/>
          </a:xfrm>
          <a:prstGeom prst="rect">
            <a:avLst/>
          </a:prstGeom>
          <a:noFill/>
          <a:ln/>
        </p:spPr>
        <p:txBody>
          <a:bodyPr wrap="square" lIns="25400" tIns="25400" rIns="25400" bIns="2540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DSRM</a:t>
            </a:r>
            <a:endParaRPr lang="en-US" sz="1400" dirty="0"/>
          </a:p>
        </p:txBody>
      </p:sp>
      <p:sp>
        <p:nvSpPr>
          <p:cNvPr id="7" name="Text 5"/>
          <p:cNvSpPr txBox="1"/>
          <p:nvPr/>
        </p:nvSpPr>
        <p:spPr>
          <a:xfrm>
            <a:off x="347472" y="1463040"/>
            <a:ext cx="2651760" cy="201168"/>
          </a:xfrm>
          <a:prstGeom prst="rect">
            <a:avLst/>
          </a:prstGeom>
          <a:noFill/>
          <a:ln/>
        </p:spPr>
        <p:txBody>
          <a:bodyPr wrap="square" lIns="25400" tIns="25400" rIns="25400" bIns="25400" rtlCol="0" anchor="ctr"/>
          <a:lstStyle/>
          <a:p>
            <a:pPr algn="l" indent="0" marL="0">
              <a:buNone/>
            </a:pPr>
            <a:r>
              <a:rPr lang="en-US" sz="900" dirty="0">
                <a:solidFill>
                  <a:srgbClr val="B8CDE0"/>
                </a:solidFill>
                <a:latin typeface="Calibri" pitchFamily="34" charset="0"/>
                <a:ea typeface="Calibri" pitchFamily="34" charset="-122"/>
                <a:cs typeface="Calibri" pitchFamily="34" charset="-120"/>
              </a:rPr>
              <a:t>Peffers et al. (2007)</a:t>
            </a:r>
            <a:endParaRPr lang="en-US" sz="900" dirty="0"/>
          </a:p>
        </p:txBody>
      </p:sp>
      <p:sp>
        <p:nvSpPr>
          <p:cNvPr id="8" name="Shape 6"/>
          <p:cNvSpPr/>
          <p:nvPr/>
        </p:nvSpPr>
        <p:spPr>
          <a:xfrm>
            <a:off x="274320" y="1673352"/>
            <a:ext cx="2788920" cy="4389120"/>
          </a:xfrm>
          <a:prstGeom prst="rect">
            <a:avLst/>
          </a:prstGeom>
          <a:solidFill>
            <a:srgbClr val="F5F7FA"/>
          </a:solidFill>
          <a:ln w="12700">
            <a:solidFill>
              <a:srgbClr val="F5F7FA"/>
            </a:solidFill>
            <a:prstDash val="solid"/>
          </a:ln>
        </p:spPr>
        <p:txBody>
          <a:bodyPr/>
          <a:p/>
        </p:txBody>
      </p:sp>
      <p:sp>
        <p:nvSpPr>
          <p:cNvPr id="9" name="Shape 7"/>
          <p:cNvSpPr/>
          <p:nvPr/>
        </p:nvSpPr>
        <p:spPr>
          <a:xfrm>
            <a:off x="411480" y="2066544"/>
            <a:ext cx="54864" cy="54864"/>
          </a:xfrm>
          <a:prstGeom prst="rect">
            <a:avLst/>
          </a:prstGeom>
          <a:solidFill>
            <a:srgbClr val="0D6B72"/>
          </a:solidFill>
          <a:ln w="12700">
            <a:solidFill>
              <a:srgbClr val="0D6B72"/>
            </a:solidFill>
            <a:prstDash val="solid"/>
          </a:ln>
        </p:spPr>
        <p:txBody>
          <a:bodyPr/>
          <a:p/>
        </p:txBody>
      </p:sp>
      <p:sp>
        <p:nvSpPr>
          <p:cNvPr id="10" name="Text 8"/>
          <p:cNvSpPr txBox="1"/>
          <p:nvPr/>
        </p:nvSpPr>
        <p:spPr>
          <a:xfrm>
            <a:off x="548640" y="1792224"/>
            <a:ext cx="2423160" cy="749808"/>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Design Science Research Methodology</a:t>
            </a:r>
            <a:endParaRPr lang="en-US" sz="1100" dirty="0"/>
          </a:p>
        </p:txBody>
      </p:sp>
      <p:sp>
        <p:nvSpPr>
          <p:cNvPr id="11" name="Shape 9"/>
          <p:cNvSpPr/>
          <p:nvPr/>
        </p:nvSpPr>
        <p:spPr>
          <a:xfrm>
            <a:off x="411480" y="2843784"/>
            <a:ext cx="54864" cy="54864"/>
          </a:xfrm>
          <a:prstGeom prst="rect">
            <a:avLst/>
          </a:prstGeom>
          <a:solidFill>
            <a:srgbClr val="0D6B72"/>
          </a:solidFill>
          <a:ln w="12700">
            <a:solidFill>
              <a:srgbClr val="0D6B72"/>
            </a:solidFill>
            <a:prstDash val="solid"/>
          </a:ln>
        </p:spPr>
        <p:txBody>
          <a:bodyPr/>
          <a:p/>
        </p:txBody>
      </p:sp>
      <p:sp>
        <p:nvSpPr>
          <p:cNvPr id="12" name="Text 10"/>
          <p:cNvSpPr txBox="1"/>
          <p:nvPr/>
        </p:nvSpPr>
        <p:spPr>
          <a:xfrm>
            <a:off x="548640" y="2569464"/>
            <a:ext cx="2423160" cy="749808"/>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6 stages: Problem → Objectives → Design → Demonstrate → Evaluate → Communicate</a:t>
            </a:r>
            <a:endParaRPr lang="en-US" sz="1100" dirty="0"/>
          </a:p>
        </p:txBody>
      </p:sp>
      <p:sp>
        <p:nvSpPr>
          <p:cNvPr id="13" name="Shape 11"/>
          <p:cNvSpPr/>
          <p:nvPr/>
        </p:nvSpPr>
        <p:spPr>
          <a:xfrm>
            <a:off x="411480" y="3621024"/>
            <a:ext cx="54864" cy="54864"/>
          </a:xfrm>
          <a:prstGeom prst="rect">
            <a:avLst/>
          </a:prstGeom>
          <a:solidFill>
            <a:srgbClr val="0D6B72"/>
          </a:solidFill>
          <a:ln w="12700">
            <a:solidFill>
              <a:srgbClr val="0D6B72"/>
            </a:solidFill>
            <a:prstDash val="solid"/>
          </a:ln>
        </p:spPr>
        <p:txBody>
          <a:bodyPr/>
          <a:p/>
        </p:txBody>
      </p:sp>
      <p:sp>
        <p:nvSpPr>
          <p:cNvPr id="14" name="Text 12"/>
          <p:cNvSpPr txBox="1"/>
          <p:nvPr/>
        </p:nvSpPr>
        <p:spPr>
          <a:xfrm>
            <a:off x="548640" y="3346704"/>
            <a:ext cx="2423160" cy="749808"/>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Maps directly to AgriAI-SG's 5 dissertation chapters</a:t>
            </a:r>
            <a:endParaRPr lang="en-US" sz="1100" dirty="0"/>
          </a:p>
        </p:txBody>
      </p:sp>
      <p:sp>
        <p:nvSpPr>
          <p:cNvPr id="15" name="Shape 13"/>
          <p:cNvSpPr/>
          <p:nvPr/>
        </p:nvSpPr>
        <p:spPr>
          <a:xfrm>
            <a:off x="411480" y="4398264"/>
            <a:ext cx="54864" cy="54864"/>
          </a:xfrm>
          <a:prstGeom prst="rect">
            <a:avLst/>
          </a:prstGeom>
          <a:solidFill>
            <a:srgbClr val="0D6B72"/>
          </a:solidFill>
          <a:ln w="12700">
            <a:solidFill>
              <a:srgbClr val="0D6B72"/>
            </a:solidFill>
            <a:prstDash val="solid"/>
          </a:ln>
        </p:spPr>
        <p:txBody>
          <a:bodyPr/>
          <a:p/>
        </p:txBody>
      </p:sp>
      <p:sp>
        <p:nvSpPr>
          <p:cNvPr id="16" name="Text 14"/>
          <p:cNvSpPr txBox="1"/>
          <p:nvPr/>
        </p:nvSpPr>
        <p:spPr>
          <a:xfrm>
            <a:off x="548640" y="4123944"/>
            <a:ext cx="2423160" cy="749808"/>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Appropriate for research whose output is a working software artefact</a:t>
            </a:r>
            <a:endParaRPr lang="en-US" sz="1100" dirty="0"/>
          </a:p>
        </p:txBody>
      </p:sp>
      <p:sp>
        <p:nvSpPr>
          <p:cNvPr id="17" name="Shape 15"/>
          <p:cNvSpPr/>
          <p:nvPr/>
        </p:nvSpPr>
        <p:spPr>
          <a:xfrm>
            <a:off x="3218688" y="1078992"/>
            <a:ext cx="2788920" cy="594360"/>
          </a:xfrm>
          <a:prstGeom prst="rect">
            <a:avLst/>
          </a:prstGeom>
          <a:solidFill>
            <a:srgbClr val="1E3A5F"/>
          </a:solidFill>
          <a:ln w="12700">
            <a:solidFill>
              <a:srgbClr val="1E3A5F"/>
            </a:solidFill>
            <a:prstDash val="solid"/>
          </a:ln>
        </p:spPr>
        <p:txBody>
          <a:bodyPr/>
          <a:p/>
        </p:txBody>
      </p:sp>
      <p:sp>
        <p:nvSpPr>
          <p:cNvPr id="18" name="Text 16"/>
          <p:cNvSpPr txBox="1"/>
          <p:nvPr/>
        </p:nvSpPr>
        <p:spPr>
          <a:xfrm>
            <a:off x="3291840" y="1097280"/>
            <a:ext cx="2651760" cy="384048"/>
          </a:xfrm>
          <a:prstGeom prst="rect">
            <a:avLst/>
          </a:prstGeom>
          <a:noFill/>
          <a:ln/>
        </p:spPr>
        <p:txBody>
          <a:bodyPr wrap="square" lIns="25400" tIns="25400" rIns="25400" bIns="2540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DeLone &amp;</a:t>
            </a:r>
            <a:endParaRPr lang="en-US" sz="1400" dirty="0"/>
          </a:p>
          <a:p>
            <a:pPr algn="l" indent="0" marL="0">
              <a:buNone/>
            </a:pPr>
            <a:r>
              <a:rPr lang="en-US" sz="1400" b="1" dirty="0">
                <a:solidFill>
                  <a:srgbClr val="FFFFFF"/>
                </a:solidFill>
                <a:latin typeface="Calibri" pitchFamily="34" charset="0"/>
                <a:ea typeface="Calibri" pitchFamily="34" charset="-122"/>
                <a:cs typeface="Calibri" pitchFamily="34" charset="-120"/>
              </a:rPr>
              <a:t>McLean</a:t>
            </a:r>
            <a:endParaRPr lang="en-US" sz="1400" dirty="0"/>
          </a:p>
        </p:txBody>
      </p:sp>
      <p:sp>
        <p:nvSpPr>
          <p:cNvPr id="19" name="Text 17"/>
          <p:cNvSpPr txBox="1"/>
          <p:nvPr/>
        </p:nvSpPr>
        <p:spPr>
          <a:xfrm>
            <a:off x="3291840" y="1463040"/>
            <a:ext cx="2651760" cy="201168"/>
          </a:xfrm>
          <a:prstGeom prst="rect">
            <a:avLst/>
          </a:prstGeom>
          <a:noFill/>
          <a:ln/>
        </p:spPr>
        <p:txBody>
          <a:bodyPr wrap="square" lIns="25400" tIns="25400" rIns="25400" bIns="25400" rtlCol="0" anchor="ctr"/>
          <a:lstStyle/>
          <a:p>
            <a:pPr algn="l" indent="0" marL="0">
              <a:buNone/>
            </a:pPr>
            <a:r>
              <a:rPr lang="en-US" sz="900" dirty="0">
                <a:solidFill>
                  <a:srgbClr val="B8CDE0"/>
                </a:solidFill>
                <a:latin typeface="Calibri" pitchFamily="34" charset="0"/>
                <a:ea typeface="Calibri" pitchFamily="34" charset="-122"/>
                <a:cs typeface="Calibri" pitchFamily="34" charset="-120"/>
              </a:rPr>
              <a:t>IS Success Model (2003)</a:t>
            </a:r>
            <a:endParaRPr lang="en-US" sz="900" dirty="0"/>
          </a:p>
        </p:txBody>
      </p:sp>
      <p:sp>
        <p:nvSpPr>
          <p:cNvPr id="20" name="Shape 18"/>
          <p:cNvSpPr/>
          <p:nvPr/>
        </p:nvSpPr>
        <p:spPr>
          <a:xfrm>
            <a:off x="3218688" y="1673352"/>
            <a:ext cx="2788920" cy="4389120"/>
          </a:xfrm>
          <a:prstGeom prst="rect">
            <a:avLst/>
          </a:prstGeom>
          <a:solidFill>
            <a:srgbClr val="F5F7FA"/>
          </a:solidFill>
          <a:ln w="12700">
            <a:solidFill>
              <a:srgbClr val="F5F7FA"/>
            </a:solidFill>
            <a:prstDash val="solid"/>
          </a:ln>
        </p:spPr>
        <p:txBody>
          <a:bodyPr/>
          <a:p/>
        </p:txBody>
      </p:sp>
      <p:sp>
        <p:nvSpPr>
          <p:cNvPr id="21" name="Shape 19"/>
          <p:cNvSpPr/>
          <p:nvPr/>
        </p:nvSpPr>
        <p:spPr>
          <a:xfrm>
            <a:off x="3355848" y="2066544"/>
            <a:ext cx="54864" cy="54864"/>
          </a:xfrm>
          <a:prstGeom prst="rect">
            <a:avLst/>
          </a:prstGeom>
          <a:solidFill>
            <a:srgbClr val="0D6B72"/>
          </a:solidFill>
          <a:ln w="12700">
            <a:solidFill>
              <a:srgbClr val="0D6B72"/>
            </a:solidFill>
            <a:prstDash val="solid"/>
          </a:ln>
        </p:spPr>
        <p:txBody>
          <a:bodyPr/>
          <a:p/>
        </p:txBody>
      </p:sp>
      <p:sp>
        <p:nvSpPr>
          <p:cNvPr id="22" name="Text 20"/>
          <p:cNvSpPr txBox="1"/>
          <p:nvPr/>
        </p:nvSpPr>
        <p:spPr>
          <a:xfrm>
            <a:off x="3493008" y="1792224"/>
            <a:ext cx="2423160" cy="749808"/>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Primary evaluation framework for RQ4</a:t>
            </a:r>
            <a:endParaRPr lang="en-US" sz="1100" dirty="0"/>
          </a:p>
        </p:txBody>
      </p:sp>
      <p:sp>
        <p:nvSpPr>
          <p:cNvPr id="23" name="Shape 21"/>
          <p:cNvSpPr/>
          <p:nvPr/>
        </p:nvSpPr>
        <p:spPr>
          <a:xfrm>
            <a:off x="3355848" y="2843784"/>
            <a:ext cx="54864" cy="54864"/>
          </a:xfrm>
          <a:prstGeom prst="rect">
            <a:avLst/>
          </a:prstGeom>
          <a:solidFill>
            <a:srgbClr val="0D6B72"/>
          </a:solidFill>
          <a:ln w="12700">
            <a:solidFill>
              <a:srgbClr val="0D6B72"/>
            </a:solidFill>
            <a:prstDash val="solid"/>
          </a:ln>
        </p:spPr>
        <p:txBody>
          <a:bodyPr/>
          <a:p/>
        </p:txBody>
      </p:sp>
      <p:sp>
        <p:nvSpPr>
          <p:cNvPr id="24" name="Text 22"/>
          <p:cNvSpPr txBox="1"/>
          <p:nvPr/>
        </p:nvSpPr>
        <p:spPr>
          <a:xfrm>
            <a:off x="3493008" y="2569464"/>
            <a:ext cx="2423160" cy="749808"/>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Dimension 1: Information Quality — AI accuracy, explainability</a:t>
            </a:r>
            <a:endParaRPr lang="en-US" sz="1100" dirty="0"/>
          </a:p>
        </p:txBody>
      </p:sp>
      <p:sp>
        <p:nvSpPr>
          <p:cNvPr id="25" name="Shape 23"/>
          <p:cNvSpPr/>
          <p:nvPr/>
        </p:nvSpPr>
        <p:spPr>
          <a:xfrm>
            <a:off x="3355848" y="3621024"/>
            <a:ext cx="54864" cy="54864"/>
          </a:xfrm>
          <a:prstGeom prst="rect">
            <a:avLst/>
          </a:prstGeom>
          <a:solidFill>
            <a:srgbClr val="0D6B72"/>
          </a:solidFill>
          <a:ln w="12700">
            <a:solidFill>
              <a:srgbClr val="0D6B72"/>
            </a:solidFill>
            <a:prstDash val="solid"/>
          </a:ln>
        </p:spPr>
        <p:txBody>
          <a:bodyPr/>
          <a:p/>
        </p:txBody>
      </p:sp>
      <p:sp>
        <p:nvSpPr>
          <p:cNvPr id="26" name="Text 24"/>
          <p:cNvSpPr txBox="1"/>
          <p:nvPr/>
        </p:nvSpPr>
        <p:spPr>
          <a:xfrm>
            <a:off x="3493008" y="3346704"/>
            <a:ext cx="2423160" cy="749808"/>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Dimension 2: System Quality — reliability, security, performance</a:t>
            </a:r>
            <a:endParaRPr lang="en-US" sz="1100" dirty="0"/>
          </a:p>
        </p:txBody>
      </p:sp>
      <p:sp>
        <p:nvSpPr>
          <p:cNvPr id="27" name="Shape 25"/>
          <p:cNvSpPr/>
          <p:nvPr/>
        </p:nvSpPr>
        <p:spPr>
          <a:xfrm>
            <a:off x="3355848" y="4398264"/>
            <a:ext cx="54864" cy="54864"/>
          </a:xfrm>
          <a:prstGeom prst="rect">
            <a:avLst/>
          </a:prstGeom>
          <a:solidFill>
            <a:srgbClr val="0D6B72"/>
          </a:solidFill>
          <a:ln w="12700">
            <a:solidFill>
              <a:srgbClr val="0D6B72"/>
            </a:solidFill>
            <a:prstDash val="solid"/>
          </a:ln>
        </p:spPr>
        <p:txBody>
          <a:bodyPr/>
          <a:p/>
        </p:txBody>
      </p:sp>
      <p:sp>
        <p:nvSpPr>
          <p:cNvPr id="28" name="Text 26"/>
          <p:cNvSpPr txBox="1"/>
          <p:nvPr/>
        </p:nvSpPr>
        <p:spPr>
          <a:xfrm>
            <a:off x="3493008" y="4123944"/>
            <a:ext cx="2423160" cy="749808"/>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Dimension 3: Net Benefits — operator workflow value</a:t>
            </a:r>
            <a:endParaRPr lang="en-US" sz="1100" dirty="0"/>
          </a:p>
        </p:txBody>
      </p:sp>
      <p:sp>
        <p:nvSpPr>
          <p:cNvPr id="29" name="Shape 27"/>
          <p:cNvSpPr/>
          <p:nvPr/>
        </p:nvSpPr>
        <p:spPr>
          <a:xfrm>
            <a:off x="6163056" y="1078992"/>
            <a:ext cx="2788920" cy="594360"/>
          </a:xfrm>
          <a:prstGeom prst="rect">
            <a:avLst/>
          </a:prstGeom>
          <a:solidFill>
            <a:srgbClr val="1E3A5F"/>
          </a:solidFill>
          <a:ln w="12700">
            <a:solidFill>
              <a:srgbClr val="1E3A5F"/>
            </a:solidFill>
            <a:prstDash val="solid"/>
          </a:ln>
        </p:spPr>
        <p:txBody>
          <a:bodyPr/>
          <a:p/>
        </p:txBody>
      </p:sp>
      <p:sp>
        <p:nvSpPr>
          <p:cNvPr id="30" name="Text 28"/>
          <p:cNvSpPr txBox="1"/>
          <p:nvPr/>
        </p:nvSpPr>
        <p:spPr>
          <a:xfrm>
            <a:off x="6236208" y="1097280"/>
            <a:ext cx="2651760" cy="384048"/>
          </a:xfrm>
          <a:prstGeom prst="rect">
            <a:avLst/>
          </a:prstGeom>
          <a:noFill/>
          <a:ln/>
        </p:spPr>
        <p:txBody>
          <a:bodyPr wrap="square" lIns="25400" tIns="25400" rIns="25400" bIns="2540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OWASP</a:t>
            </a:r>
            <a:endParaRPr lang="en-US" sz="1400" dirty="0"/>
          </a:p>
          <a:p>
            <a:pPr algn="l" indent="0" marL="0">
              <a:buNone/>
            </a:pPr>
            <a:r>
              <a:rPr lang="en-US" sz="1400" b="1" dirty="0">
                <a:solidFill>
                  <a:srgbClr val="FFFFFF"/>
                </a:solidFill>
                <a:latin typeface="Calibri" pitchFamily="34" charset="0"/>
                <a:ea typeface="Calibri" pitchFamily="34" charset="-122"/>
                <a:cs typeface="Calibri" pitchFamily="34" charset="-120"/>
              </a:rPr>
              <a:t>Top 10</a:t>
            </a:r>
            <a:endParaRPr lang="en-US" sz="1400" dirty="0"/>
          </a:p>
        </p:txBody>
      </p:sp>
      <p:sp>
        <p:nvSpPr>
          <p:cNvPr id="31" name="Text 29"/>
          <p:cNvSpPr txBox="1"/>
          <p:nvPr/>
        </p:nvSpPr>
        <p:spPr>
          <a:xfrm>
            <a:off x="6236208" y="1463040"/>
            <a:ext cx="2651760" cy="201168"/>
          </a:xfrm>
          <a:prstGeom prst="rect">
            <a:avLst/>
          </a:prstGeom>
          <a:noFill/>
          <a:ln/>
        </p:spPr>
        <p:txBody>
          <a:bodyPr wrap="square" lIns="25400" tIns="25400" rIns="25400" bIns="25400" rtlCol="0" anchor="ctr"/>
          <a:lstStyle/>
          <a:p>
            <a:pPr algn="l" indent="0" marL="0">
              <a:buNone/>
            </a:pPr>
            <a:r>
              <a:rPr lang="en-US" sz="900" dirty="0">
                <a:solidFill>
                  <a:srgbClr val="B8CDE0"/>
                </a:solidFill>
                <a:latin typeface="Calibri" pitchFamily="34" charset="0"/>
                <a:ea typeface="Calibri" pitchFamily="34" charset="-122"/>
                <a:cs typeface="Calibri" pitchFamily="34" charset="-120"/>
              </a:rPr>
              <a:t>2021 Security Framework</a:t>
            </a:r>
            <a:endParaRPr lang="en-US" sz="900" dirty="0"/>
          </a:p>
        </p:txBody>
      </p:sp>
      <p:sp>
        <p:nvSpPr>
          <p:cNvPr id="32" name="Shape 30"/>
          <p:cNvSpPr/>
          <p:nvPr/>
        </p:nvSpPr>
        <p:spPr>
          <a:xfrm>
            <a:off x="6163056" y="1673352"/>
            <a:ext cx="2788920" cy="4389120"/>
          </a:xfrm>
          <a:prstGeom prst="rect">
            <a:avLst/>
          </a:prstGeom>
          <a:solidFill>
            <a:srgbClr val="F5F7FA"/>
          </a:solidFill>
          <a:ln w="12700">
            <a:solidFill>
              <a:srgbClr val="F5F7FA"/>
            </a:solidFill>
            <a:prstDash val="solid"/>
          </a:ln>
        </p:spPr>
        <p:txBody>
          <a:bodyPr/>
          <a:p/>
        </p:txBody>
      </p:sp>
      <p:sp>
        <p:nvSpPr>
          <p:cNvPr id="33" name="Shape 31"/>
          <p:cNvSpPr/>
          <p:nvPr/>
        </p:nvSpPr>
        <p:spPr>
          <a:xfrm>
            <a:off x="6300216" y="2066544"/>
            <a:ext cx="54864" cy="54864"/>
          </a:xfrm>
          <a:prstGeom prst="rect">
            <a:avLst/>
          </a:prstGeom>
          <a:solidFill>
            <a:srgbClr val="0D6B72"/>
          </a:solidFill>
          <a:ln w="12700">
            <a:solidFill>
              <a:srgbClr val="0D6B72"/>
            </a:solidFill>
            <a:prstDash val="solid"/>
          </a:ln>
        </p:spPr>
        <p:txBody>
          <a:bodyPr/>
          <a:p/>
        </p:txBody>
      </p:sp>
      <p:sp>
        <p:nvSpPr>
          <p:cNvPr id="34" name="Text 32"/>
          <p:cNvSpPr txBox="1"/>
          <p:nvPr/>
        </p:nvSpPr>
        <p:spPr>
          <a:xfrm>
            <a:off x="6437376" y="1792224"/>
            <a:ext cx="2423160" cy="749808"/>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Industry standard for web application security evaluation</a:t>
            </a:r>
            <a:endParaRPr lang="en-US" sz="1100" dirty="0"/>
          </a:p>
        </p:txBody>
      </p:sp>
      <p:sp>
        <p:nvSpPr>
          <p:cNvPr id="35" name="Shape 33"/>
          <p:cNvSpPr/>
          <p:nvPr/>
        </p:nvSpPr>
        <p:spPr>
          <a:xfrm>
            <a:off x="6300216" y="2843784"/>
            <a:ext cx="54864" cy="54864"/>
          </a:xfrm>
          <a:prstGeom prst="rect">
            <a:avLst/>
          </a:prstGeom>
          <a:solidFill>
            <a:srgbClr val="0D6B72"/>
          </a:solidFill>
          <a:ln w="12700">
            <a:solidFill>
              <a:srgbClr val="0D6B72"/>
            </a:solidFill>
            <a:prstDash val="solid"/>
          </a:ln>
        </p:spPr>
        <p:txBody>
          <a:bodyPr/>
          <a:p/>
        </p:txBody>
      </p:sp>
      <p:sp>
        <p:nvSpPr>
          <p:cNvPr id="36" name="Text 34"/>
          <p:cNvSpPr txBox="1"/>
          <p:nvPr/>
        </p:nvSpPr>
        <p:spPr>
          <a:xfrm>
            <a:off x="6437376" y="2569464"/>
            <a:ext cx="2423160" cy="749808"/>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A01: Broken Access Control — findByIdAndUserId() → 404</a:t>
            </a:r>
            <a:endParaRPr lang="en-US" sz="1100" dirty="0"/>
          </a:p>
        </p:txBody>
      </p:sp>
      <p:sp>
        <p:nvSpPr>
          <p:cNvPr id="37" name="Shape 35"/>
          <p:cNvSpPr/>
          <p:nvPr/>
        </p:nvSpPr>
        <p:spPr>
          <a:xfrm>
            <a:off x="6300216" y="3621024"/>
            <a:ext cx="54864" cy="54864"/>
          </a:xfrm>
          <a:prstGeom prst="rect">
            <a:avLst/>
          </a:prstGeom>
          <a:solidFill>
            <a:srgbClr val="0D6B72"/>
          </a:solidFill>
          <a:ln w="12700">
            <a:solidFill>
              <a:srgbClr val="0D6B72"/>
            </a:solidFill>
            <a:prstDash val="solid"/>
          </a:ln>
        </p:spPr>
        <p:txBody>
          <a:bodyPr/>
          <a:p/>
        </p:txBody>
      </p:sp>
      <p:sp>
        <p:nvSpPr>
          <p:cNvPr id="38" name="Text 36"/>
          <p:cNvSpPr txBox="1"/>
          <p:nvPr/>
        </p:nvSpPr>
        <p:spPr>
          <a:xfrm>
            <a:off x="6437376" y="3346704"/>
            <a:ext cx="2423160" cy="749808"/>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A02: Cryptographic Failures — BCrypt strength 12</a:t>
            </a:r>
            <a:endParaRPr lang="en-US" sz="1100" dirty="0"/>
          </a:p>
        </p:txBody>
      </p:sp>
      <p:sp>
        <p:nvSpPr>
          <p:cNvPr id="39" name="Shape 37"/>
          <p:cNvSpPr/>
          <p:nvPr/>
        </p:nvSpPr>
        <p:spPr>
          <a:xfrm>
            <a:off x="6300216" y="4398264"/>
            <a:ext cx="54864" cy="54864"/>
          </a:xfrm>
          <a:prstGeom prst="rect">
            <a:avLst/>
          </a:prstGeom>
          <a:solidFill>
            <a:srgbClr val="0D6B72"/>
          </a:solidFill>
          <a:ln w="12700">
            <a:solidFill>
              <a:srgbClr val="0D6B72"/>
            </a:solidFill>
            <a:prstDash val="solid"/>
          </a:ln>
        </p:spPr>
        <p:txBody>
          <a:bodyPr/>
          <a:p/>
        </p:txBody>
      </p:sp>
      <p:sp>
        <p:nvSpPr>
          <p:cNvPr id="40" name="Text 38"/>
          <p:cNvSpPr txBox="1"/>
          <p:nvPr/>
        </p:nvSpPr>
        <p:spPr>
          <a:xfrm>
            <a:off x="6437376" y="4123944"/>
            <a:ext cx="2423160" cy="749808"/>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A03: Injection — @Param parameterised JPA queries</a:t>
            </a:r>
            <a:endParaRPr lang="en-US" sz="1100" dirty="0"/>
          </a:p>
        </p:txBody>
      </p:sp>
      <p:sp>
        <p:nvSpPr>
          <p:cNvPr id="41" name="Shape 39"/>
          <p:cNvSpPr/>
          <p:nvPr/>
        </p:nvSpPr>
        <p:spPr>
          <a:xfrm>
            <a:off x="6300216" y="5175504"/>
            <a:ext cx="54864" cy="54864"/>
          </a:xfrm>
          <a:prstGeom prst="rect">
            <a:avLst/>
          </a:prstGeom>
          <a:solidFill>
            <a:srgbClr val="0D6B72"/>
          </a:solidFill>
          <a:ln w="12700">
            <a:solidFill>
              <a:srgbClr val="0D6B72"/>
            </a:solidFill>
            <a:prstDash val="solid"/>
          </a:ln>
        </p:spPr>
        <p:txBody>
          <a:bodyPr/>
          <a:p/>
        </p:txBody>
      </p:sp>
      <p:sp>
        <p:nvSpPr>
          <p:cNvPr id="42" name="Text 40"/>
          <p:cNvSpPr txBox="1"/>
          <p:nvPr/>
        </p:nvSpPr>
        <p:spPr>
          <a:xfrm>
            <a:off x="6437376" y="4901184"/>
            <a:ext cx="2423160" cy="749808"/>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A07: Authentication — JWT expiry enforced</a:t>
            </a:r>
            <a:endParaRPr lang="en-US" sz="1100" dirty="0"/>
          </a:p>
        </p:txBody>
      </p:sp>
      <p:sp>
        <p:nvSpPr>
          <p:cNvPr id="43" name="Shape 41"/>
          <p:cNvSpPr/>
          <p:nvPr/>
        </p:nvSpPr>
        <p:spPr>
          <a:xfrm>
            <a:off x="9107424" y="1078992"/>
            <a:ext cx="2788920" cy="594360"/>
          </a:xfrm>
          <a:prstGeom prst="rect">
            <a:avLst/>
          </a:prstGeom>
          <a:solidFill>
            <a:srgbClr val="1E3A5F"/>
          </a:solidFill>
          <a:ln w="12700">
            <a:solidFill>
              <a:srgbClr val="1E3A5F"/>
            </a:solidFill>
            <a:prstDash val="solid"/>
          </a:ln>
        </p:spPr>
        <p:txBody>
          <a:bodyPr/>
          <a:p/>
        </p:txBody>
      </p:sp>
      <p:sp>
        <p:nvSpPr>
          <p:cNvPr id="44" name="Text 42"/>
          <p:cNvSpPr txBox="1"/>
          <p:nvPr/>
        </p:nvSpPr>
        <p:spPr>
          <a:xfrm>
            <a:off x="9180576" y="1097280"/>
            <a:ext cx="2651760" cy="384048"/>
          </a:xfrm>
          <a:prstGeom prst="rect">
            <a:avLst/>
          </a:prstGeom>
          <a:noFill/>
          <a:ln/>
        </p:spPr>
        <p:txBody>
          <a:bodyPr wrap="square" lIns="25400" tIns="25400" rIns="25400" bIns="2540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Nielsen</a:t>
            </a:r>
            <a:endParaRPr lang="en-US" sz="1400" dirty="0"/>
          </a:p>
          <a:p>
            <a:pPr algn="l" indent="0" marL="0">
              <a:buNone/>
            </a:pPr>
            <a:r>
              <a:rPr lang="en-US" sz="1400" b="1" dirty="0">
                <a:solidFill>
                  <a:srgbClr val="FFFFFF"/>
                </a:solidFill>
                <a:latin typeface="Calibri" pitchFamily="34" charset="0"/>
                <a:ea typeface="Calibri" pitchFamily="34" charset="-122"/>
                <a:cs typeface="Calibri" pitchFamily="34" charset="-120"/>
              </a:rPr>
              <a:t>(1994)</a:t>
            </a:r>
            <a:endParaRPr lang="en-US" sz="1400" dirty="0"/>
          </a:p>
        </p:txBody>
      </p:sp>
      <p:sp>
        <p:nvSpPr>
          <p:cNvPr id="45" name="Text 43"/>
          <p:cNvSpPr txBox="1"/>
          <p:nvPr/>
        </p:nvSpPr>
        <p:spPr>
          <a:xfrm>
            <a:off x="9180576" y="1463040"/>
            <a:ext cx="2651760" cy="201168"/>
          </a:xfrm>
          <a:prstGeom prst="rect">
            <a:avLst/>
          </a:prstGeom>
          <a:noFill/>
          <a:ln/>
        </p:spPr>
        <p:txBody>
          <a:bodyPr wrap="square" lIns="25400" tIns="25400" rIns="25400" bIns="25400" rtlCol="0" anchor="ctr"/>
          <a:lstStyle/>
          <a:p>
            <a:pPr algn="l" indent="0" marL="0">
              <a:buNone/>
            </a:pPr>
            <a:r>
              <a:rPr lang="en-US" sz="900" dirty="0">
                <a:solidFill>
                  <a:srgbClr val="B8CDE0"/>
                </a:solidFill>
                <a:latin typeface="Calibri" pitchFamily="34" charset="0"/>
                <a:ea typeface="Calibri" pitchFamily="34" charset="-122"/>
                <a:cs typeface="Calibri" pitchFamily="34" charset="-120"/>
              </a:rPr>
              <a:t>10 Usability Heuristics</a:t>
            </a:r>
            <a:endParaRPr lang="en-US" sz="900" dirty="0"/>
          </a:p>
        </p:txBody>
      </p:sp>
      <p:sp>
        <p:nvSpPr>
          <p:cNvPr id="46" name="Shape 44"/>
          <p:cNvSpPr/>
          <p:nvPr/>
        </p:nvSpPr>
        <p:spPr>
          <a:xfrm>
            <a:off x="9107424" y="1673352"/>
            <a:ext cx="2788920" cy="4389120"/>
          </a:xfrm>
          <a:prstGeom prst="rect">
            <a:avLst/>
          </a:prstGeom>
          <a:solidFill>
            <a:srgbClr val="F5F7FA"/>
          </a:solidFill>
          <a:ln w="12700">
            <a:solidFill>
              <a:srgbClr val="F5F7FA"/>
            </a:solidFill>
            <a:prstDash val="solid"/>
          </a:ln>
        </p:spPr>
        <p:txBody>
          <a:bodyPr/>
          <a:p/>
        </p:txBody>
      </p:sp>
      <p:sp>
        <p:nvSpPr>
          <p:cNvPr id="47" name="Shape 45"/>
          <p:cNvSpPr/>
          <p:nvPr/>
        </p:nvSpPr>
        <p:spPr>
          <a:xfrm>
            <a:off x="9244584" y="2066544"/>
            <a:ext cx="54864" cy="54864"/>
          </a:xfrm>
          <a:prstGeom prst="rect">
            <a:avLst/>
          </a:prstGeom>
          <a:solidFill>
            <a:srgbClr val="0D6B72"/>
          </a:solidFill>
          <a:ln w="12700">
            <a:solidFill>
              <a:srgbClr val="0D6B72"/>
            </a:solidFill>
            <a:prstDash val="solid"/>
          </a:ln>
        </p:spPr>
        <p:txBody>
          <a:bodyPr/>
          <a:p/>
        </p:txBody>
      </p:sp>
      <p:sp>
        <p:nvSpPr>
          <p:cNvPr id="48" name="Text 46"/>
          <p:cNvSpPr txBox="1"/>
          <p:nvPr/>
        </p:nvSpPr>
        <p:spPr>
          <a:xfrm>
            <a:off x="9381744" y="1792224"/>
            <a:ext cx="2423160" cy="749808"/>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Heuristic evaluation — no participant recruitment needed</a:t>
            </a:r>
            <a:endParaRPr lang="en-US" sz="1100" dirty="0"/>
          </a:p>
        </p:txBody>
      </p:sp>
      <p:sp>
        <p:nvSpPr>
          <p:cNvPr id="49" name="Shape 47"/>
          <p:cNvSpPr/>
          <p:nvPr/>
        </p:nvSpPr>
        <p:spPr>
          <a:xfrm>
            <a:off x="9244584" y="2843784"/>
            <a:ext cx="54864" cy="54864"/>
          </a:xfrm>
          <a:prstGeom prst="rect">
            <a:avLst/>
          </a:prstGeom>
          <a:solidFill>
            <a:srgbClr val="0D6B72"/>
          </a:solidFill>
          <a:ln w="12700">
            <a:solidFill>
              <a:srgbClr val="0D6B72"/>
            </a:solidFill>
            <a:prstDash val="solid"/>
          </a:ln>
        </p:spPr>
        <p:txBody>
          <a:bodyPr/>
          <a:p/>
        </p:txBody>
      </p:sp>
      <p:sp>
        <p:nvSpPr>
          <p:cNvPr id="50" name="Text 48"/>
          <p:cNvSpPr txBox="1"/>
          <p:nvPr/>
        </p:nvSpPr>
        <p:spPr>
          <a:xfrm>
            <a:off x="9381744" y="2569464"/>
            <a:ext cx="2423160" cy="749808"/>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Used instead of SUS (requires ethics committee approval)</a:t>
            </a:r>
            <a:endParaRPr lang="en-US" sz="1100" dirty="0"/>
          </a:p>
        </p:txBody>
      </p:sp>
      <p:sp>
        <p:nvSpPr>
          <p:cNvPr id="51" name="Shape 49"/>
          <p:cNvSpPr/>
          <p:nvPr/>
        </p:nvSpPr>
        <p:spPr>
          <a:xfrm>
            <a:off x="9244584" y="3621024"/>
            <a:ext cx="54864" cy="54864"/>
          </a:xfrm>
          <a:prstGeom prst="rect">
            <a:avLst/>
          </a:prstGeom>
          <a:solidFill>
            <a:srgbClr val="0D6B72"/>
          </a:solidFill>
          <a:ln w="12700">
            <a:solidFill>
              <a:srgbClr val="0D6B72"/>
            </a:solidFill>
            <a:prstDash val="solid"/>
          </a:ln>
        </p:spPr>
        <p:txBody>
          <a:bodyPr/>
          <a:p/>
        </p:txBody>
      </p:sp>
      <p:sp>
        <p:nvSpPr>
          <p:cNvPr id="52" name="Text 50"/>
          <p:cNvSpPr txBox="1"/>
          <p:nvPr/>
        </p:nvSpPr>
        <p:spPr>
          <a:xfrm>
            <a:off x="9381744" y="3346704"/>
            <a:ext cx="2423160" cy="749808"/>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8 of 10 heuristics fully compliant</a:t>
            </a:r>
            <a:endParaRPr lang="en-US" sz="1100" dirty="0"/>
          </a:p>
        </p:txBody>
      </p:sp>
      <p:sp>
        <p:nvSpPr>
          <p:cNvPr id="53" name="Shape 51"/>
          <p:cNvSpPr/>
          <p:nvPr/>
        </p:nvSpPr>
        <p:spPr>
          <a:xfrm>
            <a:off x="9244584" y="4398264"/>
            <a:ext cx="54864" cy="54864"/>
          </a:xfrm>
          <a:prstGeom prst="rect">
            <a:avLst/>
          </a:prstGeom>
          <a:solidFill>
            <a:srgbClr val="0D6B72"/>
          </a:solidFill>
          <a:ln w="12700">
            <a:solidFill>
              <a:srgbClr val="0D6B72"/>
            </a:solidFill>
            <a:prstDash val="solid"/>
          </a:ln>
        </p:spPr>
        <p:txBody>
          <a:bodyPr/>
          <a:p/>
        </p:txBody>
      </p:sp>
      <p:sp>
        <p:nvSpPr>
          <p:cNvPr id="54" name="Text 52"/>
          <p:cNvSpPr txBox="1"/>
          <p:nvPr/>
        </p:nvSpPr>
        <p:spPr>
          <a:xfrm>
            <a:off x="9381744" y="4123944"/>
            <a:ext cx="2423160" cy="749808"/>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H7 and H10 partially compliant — prototype scope</a:t>
            </a:r>
            <a:endParaRPr lang="en-US" sz="1100" dirty="0"/>
          </a:p>
        </p:txBody>
      </p:sp>
      <p:sp>
        <p:nvSpPr>
          <p:cNvPr id="55" name="Shape 53"/>
          <p:cNvSpPr/>
          <p:nvPr/>
        </p:nvSpPr>
        <p:spPr>
          <a:xfrm>
            <a:off x="0" y="6510528"/>
            <a:ext cx="12161520" cy="347472"/>
          </a:xfrm>
          <a:prstGeom prst="rect">
            <a:avLst/>
          </a:prstGeom>
          <a:solidFill>
            <a:srgbClr val="E8EDF3"/>
          </a:solidFill>
          <a:ln w="12700">
            <a:solidFill>
              <a:srgbClr val="E8EDF3"/>
            </a:solidFill>
            <a:prstDash val="solid"/>
          </a:ln>
        </p:spPr>
        <p:txBody>
          <a:body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E3A5F"/>
          </a:solidFill>
          <a:ln w="12700">
            <a:solidFill>
              <a:srgbClr val="1E3A5F"/>
            </a:solidFill>
            <a:prstDash val="solid"/>
          </a:ln>
        </p:spPr>
        <p:txBody>
          <a:bodyPr/>
          <a:p/>
        </p:txBody>
      </p:sp>
      <p:sp>
        <p:nvSpPr>
          <p:cNvPr id="3" name="Text 1"/>
          <p:cNvSpPr txBox="1"/>
          <p:nvPr/>
        </p:nvSpPr>
        <p:spPr>
          <a:xfrm>
            <a:off x="365760" y="45720"/>
            <a:ext cx="10058400" cy="566928"/>
          </a:xfrm>
          <a:prstGeom prst="rect">
            <a:avLst/>
          </a:prstGeom>
          <a:noFill/>
          <a:ln/>
        </p:spPr>
        <p:txBody>
          <a:bodyPr wrap="square" lIns="25400" tIns="25400" rIns="25400" bIns="2540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Literature Review — Key Studies and Their Impact on AgriAI-SG</a:t>
            </a:r>
            <a:endParaRPr lang="en-US" sz="2200" dirty="0"/>
          </a:p>
        </p:txBody>
      </p:sp>
      <p:sp>
        <p:nvSpPr>
          <p:cNvPr id="4" name="Shape 2"/>
          <p:cNvSpPr/>
          <p:nvPr/>
        </p:nvSpPr>
        <p:spPr>
          <a:xfrm>
            <a:off x="0" y="960120"/>
            <a:ext cx="12161520" cy="45720"/>
          </a:xfrm>
          <a:prstGeom prst="rect">
            <a:avLst/>
          </a:prstGeom>
          <a:solidFill>
            <a:srgbClr val="0D6B72"/>
          </a:solidFill>
          <a:ln w="12700">
            <a:solidFill>
              <a:srgbClr val="0D6B72"/>
            </a:solidFill>
            <a:prstDash val="solid"/>
          </a:ln>
        </p:spPr>
        <p:txBody>
          <a:bodyPr/>
          <a:p/>
        </p:txBody>
      </p:sp>
      <p:sp>
        <p:nvSpPr>
          <p:cNvPr id="5" name="Shape 3"/>
          <p:cNvSpPr/>
          <p:nvPr/>
        </p:nvSpPr>
        <p:spPr>
          <a:xfrm>
            <a:off x="274320" y="1078992"/>
            <a:ext cx="5742432" cy="365760"/>
          </a:xfrm>
          <a:prstGeom prst="rect">
            <a:avLst/>
          </a:prstGeom>
          <a:solidFill>
            <a:srgbClr val="1E3A5F"/>
          </a:solidFill>
          <a:ln w="12700">
            <a:solidFill>
              <a:srgbClr val="1E3A5F"/>
            </a:solidFill>
            <a:prstDash val="solid"/>
          </a:ln>
        </p:spPr>
        <p:txBody>
          <a:bodyPr/>
          <a:p/>
        </p:txBody>
      </p:sp>
      <p:sp>
        <p:nvSpPr>
          <p:cNvPr id="6" name="Text 4"/>
          <p:cNvSpPr txBox="1"/>
          <p:nvPr/>
        </p:nvSpPr>
        <p:spPr>
          <a:xfrm>
            <a:off x="365760" y="1115568"/>
            <a:ext cx="5577840" cy="301752"/>
          </a:xfrm>
          <a:prstGeom prst="rect">
            <a:avLst/>
          </a:prstGeom>
          <a:noFill/>
          <a:ln/>
        </p:spPr>
        <p:txBody>
          <a:bodyPr wrap="square" lIns="25400" tIns="25400" rIns="25400" bIns="2540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Van Klompenburg et al. (2020)</a:t>
            </a:r>
            <a:endParaRPr lang="en-US" sz="1150" dirty="0"/>
          </a:p>
        </p:txBody>
      </p:sp>
      <p:sp>
        <p:nvSpPr>
          <p:cNvPr id="7" name="Shape 5"/>
          <p:cNvSpPr/>
          <p:nvPr/>
        </p:nvSpPr>
        <p:spPr>
          <a:xfrm>
            <a:off x="274320" y="1444752"/>
            <a:ext cx="5742432" cy="914400"/>
          </a:xfrm>
          <a:prstGeom prst="rect">
            <a:avLst/>
          </a:prstGeom>
          <a:solidFill>
            <a:srgbClr val="F5F7FA"/>
          </a:solidFill>
          <a:ln w="12700">
            <a:solidFill>
              <a:srgbClr val="F5F7FA"/>
            </a:solidFill>
            <a:prstDash val="solid"/>
          </a:ln>
        </p:spPr>
        <p:txBody>
          <a:bodyPr/>
          <a:p/>
        </p:txBody>
      </p:sp>
      <p:sp>
        <p:nvSpPr>
          <p:cNvPr id="8" name="Text 6"/>
          <p:cNvSpPr txBox="1"/>
          <p:nvPr/>
        </p:nvSpPr>
        <p:spPr>
          <a:xfrm>
            <a:off x="365760" y="1472184"/>
            <a:ext cx="5577840" cy="457200"/>
          </a:xfrm>
          <a:prstGeom prst="rect">
            <a:avLst/>
          </a:prstGeom>
          <a:noFill/>
          <a:ln/>
        </p:spPr>
        <p:txBody>
          <a:bodyPr wrap="square" lIns="25400" tIns="25400" rIns="25400" bIns="25400" rtlCol="0" anchor="t"/>
          <a:lstStyle/>
          <a:p>
            <a:pPr algn="l" indent="0" marL="0">
              <a:buNone/>
            </a:pPr>
            <a:r>
              <a:rPr lang="en-US" sz="1050" dirty="0">
                <a:solidFill>
                  <a:srgbClr val="1A202C"/>
                </a:solidFill>
                <a:latin typeface="Calibri" pitchFamily="34" charset="0"/>
                <a:ea typeface="Calibri" pitchFamily="34" charset="-122"/>
                <a:cs typeface="Calibri" pitchFamily="34" charset="-120"/>
              </a:rPr>
              <a:t>Finding: 50-study systematic review — RF achieves R²=0.75–0.92 on CEA tabular data</a:t>
            </a:r>
            <a:endParaRPr lang="en-US" sz="1050" dirty="0"/>
          </a:p>
        </p:txBody>
      </p:sp>
      <p:sp>
        <p:nvSpPr>
          <p:cNvPr id="9" name="Text 7"/>
          <p:cNvSpPr txBox="1"/>
          <p:nvPr/>
        </p:nvSpPr>
        <p:spPr>
          <a:xfrm>
            <a:off x="365760" y="1929384"/>
            <a:ext cx="5577840" cy="402336"/>
          </a:xfrm>
          <a:prstGeom prst="rect">
            <a:avLst/>
          </a:prstGeom>
          <a:noFill/>
          <a:ln/>
        </p:spPr>
        <p:txBody>
          <a:bodyPr wrap="square" lIns="25400" tIns="25400" rIns="25400" bIns="25400" rtlCol="0" anchor="t"/>
          <a:lstStyle/>
          <a:p>
            <a:pPr algn="l" indent="0" marL="0">
              <a:buNone/>
            </a:pPr>
            <a:r>
              <a:rPr lang="en-US" sz="1050" b="1" dirty="0">
                <a:solidFill>
                  <a:srgbClr val="1E3A5F"/>
                </a:solidFill>
                <a:latin typeface="Calibri" pitchFamily="34" charset="0"/>
                <a:ea typeface="Calibri" pitchFamily="34" charset="-122"/>
                <a:cs typeface="Calibri" pitchFamily="34" charset="-120"/>
              </a:rPr>
              <a:t>→ Benchmark AgriAI-SG is measured against</a:t>
            </a:r>
            <a:endParaRPr lang="en-US" sz="1050" dirty="0"/>
          </a:p>
        </p:txBody>
      </p:sp>
      <p:sp>
        <p:nvSpPr>
          <p:cNvPr id="10" name="Shape 8"/>
          <p:cNvSpPr/>
          <p:nvPr/>
        </p:nvSpPr>
        <p:spPr>
          <a:xfrm>
            <a:off x="6199632" y="1078992"/>
            <a:ext cx="5742432" cy="365760"/>
          </a:xfrm>
          <a:prstGeom prst="rect">
            <a:avLst/>
          </a:prstGeom>
          <a:solidFill>
            <a:srgbClr val="0D6B72"/>
          </a:solidFill>
          <a:ln w="12700">
            <a:solidFill>
              <a:srgbClr val="0D6B72"/>
            </a:solidFill>
            <a:prstDash val="solid"/>
          </a:ln>
        </p:spPr>
        <p:txBody>
          <a:bodyPr/>
          <a:p/>
        </p:txBody>
      </p:sp>
      <p:sp>
        <p:nvSpPr>
          <p:cNvPr id="11" name="Text 9"/>
          <p:cNvSpPr txBox="1"/>
          <p:nvPr/>
        </p:nvSpPr>
        <p:spPr>
          <a:xfrm>
            <a:off x="6291072" y="1115568"/>
            <a:ext cx="5577840" cy="301752"/>
          </a:xfrm>
          <a:prstGeom prst="rect">
            <a:avLst/>
          </a:prstGeom>
          <a:noFill/>
          <a:ln/>
        </p:spPr>
        <p:txBody>
          <a:bodyPr wrap="square" lIns="25400" tIns="25400" rIns="25400" bIns="2540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Khaki &amp; Wang (2019)</a:t>
            </a:r>
            <a:endParaRPr lang="en-US" sz="1150" dirty="0"/>
          </a:p>
        </p:txBody>
      </p:sp>
      <p:sp>
        <p:nvSpPr>
          <p:cNvPr id="12" name="Shape 10"/>
          <p:cNvSpPr/>
          <p:nvPr/>
        </p:nvSpPr>
        <p:spPr>
          <a:xfrm>
            <a:off x="6199632" y="1444752"/>
            <a:ext cx="5742432" cy="914400"/>
          </a:xfrm>
          <a:prstGeom prst="rect">
            <a:avLst/>
          </a:prstGeom>
          <a:solidFill>
            <a:srgbClr val="F5F7FA"/>
          </a:solidFill>
          <a:ln w="12700">
            <a:solidFill>
              <a:srgbClr val="F5F7FA"/>
            </a:solidFill>
            <a:prstDash val="solid"/>
          </a:ln>
        </p:spPr>
        <p:txBody>
          <a:bodyPr/>
          <a:p/>
        </p:txBody>
      </p:sp>
      <p:sp>
        <p:nvSpPr>
          <p:cNvPr id="13" name="Text 11"/>
          <p:cNvSpPr txBox="1"/>
          <p:nvPr/>
        </p:nvSpPr>
        <p:spPr>
          <a:xfrm>
            <a:off x="6291072" y="1472184"/>
            <a:ext cx="5577840" cy="457200"/>
          </a:xfrm>
          <a:prstGeom prst="rect">
            <a:avLst/>
          </a:prstGeom>
          <a:noFill/>
          <a:ln/>
        </p:spPr>
        <p:txBody>
          <a:bodyPr wrap="square" lIns="25400" tIns="25400" rIns="25400" bIns="25400" rtlCol="0" anchor="t"/>
          <a:lstStyle/>
          <a:p>
            <a:pPr algn="l" indent="0" marL="0">
              <a:buNone/>
            </a:pPr>
            <a:r>
              <a:rPr lang="en-US" sz="1050" dirty="0">
                <a:solidFill>
                  <a:srgbClr val="1A202C"/>
                </a:solidFill>
                <a:latin typeface="Calibri" pitchFamily="34" charset="0"/>
                <a:ea typeface="Calibri" pitchFamily="34" charset="-122"/>
                <a:cs typeface="Calibri" pitchFamily="34" charset="-120"/>
              </a:rPr>
              <a:t>Finding: DNN with Dropout achieves R²=0.85; Dropout at multiple layers gives stable generalisation</a:t>
            </a:r>
            <a:endParaRPr lang="en-US" sz="1050" dirty="0"/>
          </a:p>
        </p:txBody>
      </p:sp>
      <p:sp>
        <p:nvSpPr>
          <p:cNvPr id="14" name="Text 12"/>
          <p:cNvSpPr txBox="1"/>
          <p:nvPr/>
        </p:nvSpPr>
        <p:spPr>
          <a:xfrm>
            <a:off x="6291072" y="1929384"/>
            <a:ext cx="5577840" cy="402336"/>
          </a:xfrm>
          <a:prstGeom prst="rect">
            <a:avLst/>
          </a:prstGeom>
          <a:noFill/>
          <a:ln/>
        </p:spPr>
        <p:txBody>
          <a:bodyPr wrap="square" lIns="25400" tIns="25400" rIns="25400" bIns="25400" rtlCol="0" anchor="t"/>
          <a:lstStyle/>
          <a:p>
            <a:pPr algn="l" indent="0" marL="0">
              <a:buNone/>
            </a:pPr>
            <a:r>
              <a:rPr lang="en-US" sz="1050" b="1" dirty="0">
                <a:solidFill>
                  <a:srgbClr val="0D6B72"/>
                </a:solidFill>
                <a:latin typeface="Calibri" pitchFamily="34" charset="0"/>
                <a:ea typeface="Calibri" pitchFamily="34" charset="-122"/>
                <a:cs typeface="Calibri" pitchFamily="34" charset="-120"/>
              </a:rPr>
              <a:t>→ Justifies CropYieldNet architecture: Dropout at 30%, 20%, 10%</a:t>
            </a:r>
            <a:endParaRPr lang="en-US" sz="1050" dirty="0"/>
          </a:p>
        </p:txBody>
      </p:sp>
      <p:sp>
        <p:nvSpPr>
          <p:cNvPr id="15" name="Shape 13"/>
          <p:cNvSpPr/>
          <p:nvPr/>
        </p:nvSpPr>
        <p:spPr>
          <a:xfrm>
            <a:off x="274320" y="2377440"/>
            <a:ext cx="5742432" cy="365760"/>
          </a:xfrm>
          <a:prstGeom prst="rect">
            <a:avLst/>
          </a:prstGeom>
          <a:solidFill>
            <a:srgbClr val="0A5C36"/>
          </a:solidFill>
          <a:ln w="12700">
            <a:solidFill>
              <a:srgbClr val="0A5C36"/>
            </a:solidFill>
            <a:prstDash val="solid"/>
          </a:ln>
        </p:spPr>
        <p:txBody>
          <a:bodyPr/>
          <a:p/>
        </p:txBody>
      </p:sp>
      <p:sp>
        <p:nvSpPr>
          <p:cNvPr id="16" name="Text 14"/>
          <p:cNvSpPr txBox="1"/>
          <p:nvPr/>
        </p:nvSpPr>
        <p:spPr>
          <a:xfrm>
            <a:off x="365760" y="2414016"/>
            <a:ext cx="5577840" cy="301752"/>
          </a:xfrm>
          <a:prstGeom prst="rect">
            <a:avLst/>
          </a:prstGeom>
          <a:noFill/>
          <a:ln/>
        </p:spPr>
        <p:txBody>
          <a:bodyPr wrap="square" lIns="25400" tIns="25400" rIns="25400" bIns="2540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Oikonomidis et al. (2023)</a:t>
            </a:r>
            <a:endParaRPr lang="en-US" sz="1150" dirty="0"/>
          </a:p>
        </p:txBody>
      </p:sp>
      <p:sp>
        <p:nvSpPr>
          <p:cNvPr id="17" name="Shape 15"/>
          <p:cNvSpPr/>
          <p:nvPr/>
        </p:nvSpPr>
        <p:spPr>
          <a:xfrm>
            <a:off x="274320" y="2743200"/>
            <a:ext cx="5742432" cy="914400"/>
          </a:xfrm>
          <a:prstGeom prst="rect">
            <a:avLst/>
          </a:prstGeom>
          <a:solidFill>
            <a:srgbClr val="F5F7FA"/>
          </a:solidFill>
          <a:ln w="12700">
            <a:solidFill>
              <a:srgbClr val="F5F7FA"/>
            </a:solidFill>
            <a:prstDash val="solid"/>
          </a:ln>
        </p:spPr>
        <p:txBody>
          <a:bodyPr/>
          <a:p/>
        </p:txBody>
      </p:sp>
      <p:sp>
        <p:nvSpPr>
          <p:cNvPr id="18" name="Text 16"/>
          <p:cNvSpPr txBox="1"/>
          <p:nvPr/>
        </p:nvSpPr>
        <p:spPr>
          <a:xfrm>
            <a:off x="365760" y="2770632"/>
            <a:ext cx="5577840" cy="457200"/>
          </a:xfrm>
          <a:prstGeom prst="rect">
            <a:avLst/>
          </a:prstGeom>
          <a:noFill/>
          <a:ln/>
        </p:spPr>
        <p:txBody>
          <a:bodyPr wrap="square" lIns="25400" tIns="25400" rIns="25400" bIns="25400" rtlCol="0" anchor="t"/>
          <a:lstStyle/>
          <a:p>
            <a:pPr algn="l" indent="0" marL="0">
              <a:buNone/>
            </a:pPr>
            <a:r>
              <a:rPr lang="en-US" sz="1050" dirty="0">
                <a:solidFill>
                  <a:srgbClr val="1A202C"/>
                </a:solidFill>
                <a:latin typeface="Calibri" pitchFamily="34" charset="0"/>
                <a:ea typeface="Calibri" pitchFamily="34" charset="-122"/>
                <a:cs typeface="Calibri" pitchFamily="34" charset="-120"/>
              </a:rPr>
              <a:t>Finding: No study has compared DNN vs RF on identical hydroponic datasets — identified gap</a:t>
            </a:r>
            <a:endParaRPr lang="en-US" sz="1050" dirty="0"/>
          </a:p>
        </p:txBody>
      </p:sp>
      <p:sp>
        <p:nvSpPr>
          <p:cNvPr id="19" name="Text 17"/>
          <p:cNvSpPr txBox="1"/>
          <p:nvPr/>
        </p:nvSpPr>
        <p:spPr>
          <a:xfrm>
            <a:off x="365760" y="3227832"/>
            <a:ext cx="5577840" cy="402336"/>
          </a:xfrm>
          <a:prstGeom prst="rect">
            <a:avLst/>
          </a:prstGeom>
          <a:noFill/>
          <a:ln/>
        </p:spPr>
        <p:txBody>
          <a:bodyPr wrap="square" lIns="25400" tIns="25400" rIns="25400" bIns="25400" rtlCol="0" anchor="t"/>
          <a:lstStyle/>
          <a:p>
            <a:pPr algn="l" indent="0" marL="0">
              <a:buNone/>
            </a:pPr>
            <a:r>
              <a:rPr lang="en-US" sz="1050" b="1" dirty="0">
                <a:solidFill>
                  <a:srgbClr val="0A5C36"/>
                </a:solidFill>
                <a:latin typeface="Calibri" pitchFamily="34" charset="0"/>
                <a:ea typeface="Calibri" pitchFamily="34" charset="-122"/>
                <a:cs typeface="Calibri" pitchFamily="34" charset="-120"/>
              </a:rPr>
              <a:t>→ AgriAI-SG fills this gap exactly — same data, same metrics, same splits</a:t>
            </a:r>
            <a:endParaRPr lang="en-US" sz="1050" dirty="0"/>
          </a:p>
        </p:txBody>
      </p:sp>
      <p:sp>
        <p:nvSpPr>
          <p:cNvPr id="20" name="Shape 18"/>
          <p:cNvSpPr/>
          <p:nvPr/>
        </p:nvSpPr>
        <p:spPr>
          <a:xfrm>
            <a:off x="6199632" y="2377440"/>
            <a:ext cx="5742432" cy="365760"/>
          </a:xfrm>
          <a:prstGeom prst="rect">
            <a:avLst/>
          </a:prstGeom>
          <a:solidFill>
            <a:srgbClr val="2C5F8A"/>
          </a:solidFill>
          <a:ln w="12700">
            <a:solidFill>
              <a:srgbClr val="2C5F8A"/>
            </a:solidFill>
            <a:prstDash val="solid"/>
          </a:ln>
        </p:spPr>
        <p:txBody>
          <a:bodyPr/>
          <a:p/>
        </p:txBody>
      </p:sp>
      <p:sp>
        <p:nvSpPr>
          <p:cNvPr id="21" name="Text 19"/>
          <p:cNvSpPr txBox="1"/>
          <p:nvPr/>
        </p:nvSpPr>
        <p:spPr>
          <a:xfrm>
            <a:off x="6291072" y="2414016"/>
            <a:ext cx="5577840" cy="301752"/>
          </a:xfrm>
          <a:prstGeom prst="rect">
            <a:avLst/>
          </a:prstGeom>
          <a:noFill/>
          <a:ln/>
        </p:spPr>
        <p:txBody>
          <a:bodyPr wrap="square" lIns="25400" tIns="25400" rIns="25400" bIns="2540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Avgoustaki &amp; Xydis (2020)</a:t>
            </a:r>
            <a:endParaRPr lang="en-US" sz="1150" dirty="0"/>
          </a:p>
        </p:txBody>
      </p:sp>
      <p:sp>
        <p:nvSpPr>
          <p:cNvPr id="22" name="Shape 20"/>
          <p:cNvSpPr/>
          <p:nvPr/>
        </p:nvSpPr>
        <p:spPr>
          <a:xfrm>
            <a:off x="6199632" y="2743200"/>
            <a:ext cx="5742432" cy="914400"/>
          </a:xfrm>
          <a:prstGeom prst="rect">
            <a:avLst/>
          </a:prstGeom>
          <a:solidFill>
            <a:srgbClr val="F5F7FA"/>
          </a:solidFill>
          <a:ln w="12700">
            <a:solidFill>
              <a:srgbClr val="F5F7FA"/>
            </a:solidFill>
            <a:prstDash val="solid"/>
          </a:ln>
        </p:spPr>
        <p:txBody>
          <a:bodyPr/>
          <a:p/>
        </p:txBody>
      </p:sp>
      <p:sp>
        <p:nvSpPr>
          <p:cNvPr id="23" name="Text 21"/>
          <p:cNvSpPr txBox="1"/>
          <p:nvPr/>
        </p:nvSpPr>
        <p:spPr>
          <a:xfrm>
            <a:off x="6291072" y="2770632"/>
            <a:ext cx="5577840" cy="457200"/>
          </a:xfrm>
          <a:prstGeom prst="rect">
            <a:avLst/>
          </a:prstGeom>
          <a:noFill/>
          <a:ln/>
        </p:spPr>
        <p:txBody>
          <a:bodyPr wrap="square" lIns="25400" tIns="25400" rIns="25400" bIns="25400" rtlCol="0" anchor="t"/>
          <a:lstStyle/>
          <a:p>
            <a:pPr algn="l" indent="0" marL="0">
              <a:buNone/>
            </a:pPr>
            <a:r>
              <a:rPr lang="en-US" sz="1050" dirty="0">
                <a:solidFill>
                  <a:srgbClr val="1A202C"/>
                </a:solidFill>
                <a:latin typeface="Calibri" pitchFamily="34" charset="0"/>
                <a:ea typeface="Calibri" pitchFamily="34" charset="-122"/>
                <a:cs typeface="Calibri" pitchFamily="34" charset="-120"/>
              </a:rPr>
              <a:t>Finding: Nutrient management = primary driver of CEA yield; temperature is second</a:t>
            </a:r>
            <a:endParaRPr lang="en-US" sz="1050" dirty="0"/>
          </a:p>
        </p:txBody>
      </p:sp>
      <p:sp>
        <p:nvSpPr>
          <p:cNvPr id="24" name="Text 22"/>
          <p:cNvSpPr txBox="1"/>
          <p:nvPr/>
        </p:nvSpPr>
        <p:spPr>
          <a:xfrm>
            <a:off x="6291072" y="3227832"/>
            <a:ext cx="5577840" cy="402336"/>
          </a:xfrm>
          <a:prstGeom prst="rect">
            <a:avLst/>
          </a:prstGeom>
          <a:noFill/>
          <a:ln/>
        </p:spPr>
        <p:txBody>
          <a:bodyPr wrap="square" lIns="25400" tIns="25400" rIns="25400" bIns="25400" rtlCol="0" anchor="t"/>
          <a:lstStyle/>
          <a:p>
            <a:pPr algn="l" indent="0" marL="0">
              <a:buNone/>
            </a:pPr>
            <a:r>
              <a:rPr lang="en-US" sz="1050" b="1" dirty="0">
                <a:solidFill>
                  <a:srgbClr val="2C5F8A"/>
                </a:solidFill>
                <a:latin typeface="Calibri" pitchFamily="34" charset="0"/>
                <a:ea typeface="Calibri" pitchFamily="34" charset="-122"/>
                <a:cs typeface="Calibri" pitchFamily="34" charset="-120"/>
              </a:rPr>
              <a:t>→ Feature importance confirms: nutrients 40%, temperature 28% — externally valid</a:t>
            </a:r>
            <a:endParaRPr lang="en-US" sz="1050" dirty="0"/>
          </a:p>
        </p:txBody>
      </p:sp>
      <p:sp>
        <p:nvSpPr>
          <p:cNvPr id="25" name="Shape 23"/>
          <p:cNvSpPr/>
          <p:nvPr/>
        </p:nvSpPr>
        <p:spPr>
          <a:xfrm>
            <a:off x="274320" y="3675888"/>
            <a:ext cx="5742432" cy="365760"/>
          </a:xfrm>
          <a:prstGeom prst="rect">
            <a:avLst/>
          </a:prstGeom>
          <a:solidFill>
            <a:srgbClr val="1E3A5F"/>
          </a:solidFill>
          <a:ln w="12700">
            <a:solidFill>
              <a:srgbClr val="1E3A5F"/>
            </a:solidFill>
            <a:prstDash val="solid"/>
          </a:ln>
        </p:spPr>
        <p:txBody>
          <a:bodyPr/>
          <a:p/>
        </p:txBody>
      </p:sp>
      <p:sp>
        <p:nvSpPr>
          <p:cNvPr id="26" name="Text 24"/>
          <p:cNvSpPr txBox="1"/>
          <p:nvPr/>
        </p:nvSpPr>
        <p:spPr>
          <a:xfrm>
            <a:off x="365760" y="3712464"/>
            <a:ext cx="5577840" cy="301752"/>
          </a:xfrm>
          <a:prstGeom prst="rect">
            <a:avLst/>
          </a:prstGeom>
          <a:noFill/>
          <a:ln/>
        </p:spPr>
        <p:txBody>
          <a:bodyPr wrap="square" lIns="25400" tIns="25400" rIns="25400" bIns="2540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Bouzid et al. (2024)</a:t>
            </a:r>
            <a:endParaRPr lang="en-US" sz="1150" dirty="0"/>
          </a:p>
        </p:txBody>
      </p:sp>
      <p:sp>
        <p:nvSpPr>
          <p:cNvPr id="27" name="Shape 25"/>
          <p:cNvSpPr/>
          <p:nvPr/>
        </p:nvSpPr>
        <p:spPr>
          <a:xfrm>
            <a:off x="274320" y="4041648"/>
            <a:ext cx="5742432" cy="914400"/>
          </a:xfrm>
          <a:prstGeom prst="rect">
            <a:avLst/>
          </a:prstGeom>
          <a:solidFill>
            <a:srgbClr val="F5F7FA"/>
          </a:solidFill>
          <a:ln w="12700">
            <a:solidFill>
              <a:srgbClr val="F5F7FA"/>
            </a:solidFill>
            <a:prstDash val="solid"/>
          </a:ln>
        </p:spPr>
        <p:txBody>
          <a:bodyPr/>
          <a:p/>
        </p:txBody>
      </p:sp>
      <p:sp>
        <p:nvSpPr>
          <p:cNvPr id="28" name="Text 26"/>
          <p:cNvSpPr txBox="1"/>
          <p:nvPr/>
        </p:nvSpPr>
        <p:spPr>
          <a:xfrm>
            <a:off x="365760" y="4069080"/>
            <a:ext cx="5577840" cy="457200"/>
          </a:xfrm>
          <a:prstGeom prst="rect">
            <a:avLst/>
          </a:prstGeom>
          <a:noFill/>
          <a:ln/>
        </p:spPr>
        <p:txBody>
          <a:bodyPr wrap="square" lIns="25400" tIns="25400" rIns="25400" bIns="25400" rtlCol="0" anchor="t"/>
          <a:lstStyle/>
          <a:p>
            <a:pPr algn="l" indent="0" marL="0">
              <a:buNone/>
            </a:pPr>
            <a:r>
              <a:rPr lang="en-US" sz="1050" dirty="0">
                <a:solidFill>
                  <a:srgbClr val="1A202C"/>
                </a:solidFill>
                <a:latin typeface="Calibri" pitchFamily="34" charset="0"/>
                <a:ea typeface="Calibri" pitchFamily="34" charset="-122"/>
                <a:cs typeface="Calibri" pitchFamily="34" charset="-120"/>
              </a:rPr>
              <a:t>Finding: Real IoT sensor dataset — 9,948 rows, 5 crops, 4 growing methods</a:t>
            </a:r>
            <a:endParaRPr lang="en-US" sz="1050" dirty="0"/>
          </a:p>
        </p:txBody>
      </p:sp>
      <p:sp>
        <p:nvSpPr>
          <p:cNvPr id="29" name="Text 27"/>
          <p:cNvSpPr txBox="1"/>
          <p:nvPr/>
        </p:nvSpPr>
        <p:spPr>
          <a:xfrm>
            <a:off x="365760" y="4526280"/>
            <a:ext cx="5577840" cy="402336"/>
          </a:xfrm>
          <a:prstGeom prst="rect">
            <a:avLst/>
          </a:prstGeom>
          <a:noFill/>
          <a:ln/>
        </p:spPr>
        <p:txBody>
          <a:bodyPr wrap="square" lIns="25400" tIns="25400" rIns="25400" bIns="25400" rtlCol="0" anchor="t"/>
          <a:lstStyle/>
          <a:p>
            <a:pPr algn="l" indent="0" marL="0">
              <a:buNone/>
            </a:pPr>
            <a:r>
              <a:rPr lang="en-US" sz="1050" b="1" dirty="0">
                <a:solidFill>
                  <a:srgbClr val="1E3A5F"/>
                </a:solidFill>
                <a:latin typeface="Calibri" pitchFamily="34" charset="0"/>
                <a:ea typeface="Calibri" pitchFamily="34" charset="-122"/>
                <a:cs typeface="Calibri" pitchFamily="34" charset="-120"/>
              </a:rPr>
              <a:t>→ Primary training data for AgriAI-SG — peer-reviewed real data, not synthetic</a:t>
            </a:r>
            <a:endParaRPr lang="en-US" sz="1050" dirty="0"/>
          </a:p>
        </p:txBody>
      </p:sp>
      <p:sp>
        <p:nvSpPr>
          <p:cNvPr id="30" name="Shape 28"/>
          <p:cNvSpPr/>
          <p:nvPr/>
        </p:nvSpPr>
        <p:spPr>
          <a:xfrm>
            <a:off x="6199632" y="3675888"/>
            <a:ext cx="5742432" cy="365760"/>
          </a:xfrm>
          <a:prstGeom prst="rect">
            <a:avLst/>
          </a:prstGeom>
          <a:solidFill>
            <a:srgbClr val="0D6B72"/>
          </a:solidFill>
          <a:ln w="12700">
            <a:solidFill>
              <a:srgbClr val="0D6B72"/>
            </a:solidFill>
            <a:prstDash val="solid"/>
          </a:ln>
        </p:spPr>
        <p:txBody>
          <a:bodyPr/>
          <a:p/>
        </p:txBody>
      </p:sp>
      <p:sp>
        <p:nvSpPr>
          <p:cNvPr id="31" name="Text 29"/>
          <p:cNvSpPr txBox="1"/>
          <p:nvPr/>
        </p:nvSpPr>
        <p:spPr>
          <a:xfrm>
            <a:off x="6291072" y="3712464"/>
            <a:ext cx="5577840" cy="301752"/>
          </a:xfrm>
          <a:prstGeom prst="rect">
            <a:avLst/>
          </a:prstGeom>
          <a:noFill/>
          <a:ln/>
        </p:spPr>
        <p:txBody>
          <a:bodyPr wrap="square" lIns="25400" tIns="25400" rIns="25400" bIns="2540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Sharma et al. (2024)</a:t>
            </a:r>
            <a:endParaRPr lang="en-US" sz="1150" dirty="0"/>
          </a:p>
        </p:txBody>
      </p:sp>
      <p:sp>
        <p:nvSpPr>
          <p:cNvPr id="32" name="Shape 30"/>
          <p:cNvSpPr/>
          <p:nvPr/>
        </p:nvSpPr>
        <p:spPr>
          <a:xfrm>
            <a:off x="6199632" y="4041648"/>
            <a:ext cx="5742432" cy="914400"/>
          </a:xfrm>
          <a:prstGeom prst="rect">
            <a:avLst/>
          </a:prstGeom>
          <a:solidFill>
            <a:srgbClr val="F5F7FA"/>
          </a:solidFill>
          <a:ln w="12700">
            <a:solidFill>
              <a:srgbClr val="F5F7FA"/>
            </a:solidFill>
            <a:prstDash val="solid"/>
          </a:ln>
        </p:spPr>
        <p:txBody>
          <a:bodyPr/>
          <a:p/>
        </p:txBody>
      </p:sp>
      <p:sp>
        <p:nvSpPr>
          <p:cNvPr id="33" name="Text 31"/>
          <p:cNvSpPr txBox="1"/>
          <p:nvPr/>
        </p:nvSpPr>
        <p:spPr>
          <a:xfrm>
            <a:off x="6291072" y="4069080"/>
            <a:ext cx="5577840" cy="457200"/>
          </a:xfrm>
          <a:prstGeom prst="rect">
            <a:avLst/>
          </a:prstGeom>
          <a:noFill/>
          <a:ln/>
        </p:spPr>
        <p:txBody>
          <a:bodyPr wrap="square" lIns="25400" tIns="25400" rIns="25400" bIns="25400" rtlCol="0" anchor="t"/>
          <a:lstStyle/>
          <a:p>
            <a:pPr algn="l" indent="0" marL="0">
              <a:buNone/>
            </a:pPr>
            <a:r>
              <a:rPr lang="en-US" sz="1050" dirty="0">
                <a:solidFill>
                  <a:srgbClr val="1A202C"/>
                </a:solidFill>
                <a:latin typeface="Calibri" pitchFamily="34" charset="0"/>
                <a:ea typeface="Calibri" pitchFamily="34" charset="-122"/>
                <a:cs typeface="Calibri" pitchFamily="34" charset="-120"/>
              </a:rPr>
              <a:t>Finding: HuberLoss recommended over MSE for agricultural regression — robust to outliers</a:t>
            </a:r>
            <a:endParaRPr lang="en-US" sz="1050" dirty="0"/>
          </a:p>
        </p:txBody>
      </p:sp>
      <p:sp>
        <p:nvSpPr>
          <p:cNvPr id="34" name="Text 32"/>
          <p:cNvSpPr txBox="1"/>
          <p:nvPr/>
        </p:nvSpPr>
        <p:spPr>
          <a:xfrm>
            <a:off x="6291072" y="4526280"/>
            <a:ext cx="5577840" cy="402336"/>
          </a:xfrm>
          <a:prstGeom prst="rect">
            <a:avLst/>
          </a:prstGeom>
          <a:noFill/>
          <a:ln/>
        </p:spPr>
        <p:txBody>
          <a:bodyPr wrap="square" lIns="25400" tIns="25400" rIns="25400" bIns="25400" rtlCol="0" anchor="t"/>
          <a:lstStyle/>
          <a:p>
            <a:pPr algn="l" indent="0" marL="0">
              <a:buNone/>
            </a:pPr>
            <a:r>
              <a:rPr lang="en-US" sz="1050" b="1" dirty="0">
                <a:solidFill>
                  <a:srgbClr val="0D6B72"/>
                </a:solidFill>
                <a:latin typeface="Calibri" pitchFamily="34" charset="0"/>
                <a:ea typeface="Calibri" pitchFamily="34" charset="-122"/>
                <a:cs typeface="Calibri" pitchFamily="34" charset="-120"/>
              </a:rPr>
              <a:t>→ AgriAI-SG uses HuberLoss δ=1.0 as loss function — literature-justified</a:t>
            </a:r>
            <a:endParaRPr lang="en-US" sz="1050" dirty="0"/>
          </a:p>
        </p:txBody>
      </p:sp>
      <p:sp>
        <p:nvSpPr>
          <p:cNvPr id="35" name="Shape 33"/>
          <p:cNvSpPr/>
          <p:nvPr/>
        </p:nvSpPr>
        <p:spPr>
          <a:xfrm>
            <a:off x="274320" y="4974336"/>
            <a:ext cx="5742432" cy="365760"/>
          </a:xfrm>
          <a:prstGeom prst="rect">
            <a:avLst/>
          </a:prstGeom>
          <a:solidFill>
            <a:srgbClr val="0A5C36"/>
          </a:solidFill>
          <a:ln w="12700">
            <a:solidFill>
              <a:srgbClr val="0A5C36"/>
            </a:solidFill>
            <a:prstDash val="solid"/>
          </a:ln>
        </p:spPr>
        <p:txBody>
          <a:bodyPr/>
          <a:p/>
        </p:txBody>
      </p:sp>
      <p:sp>
        <p:nvSpPr>
          <p:cNvPr id="36" name="Text 34"/>
          <p:cNvSpPr txBox="1"/>
          <p:nvPr/>
        </p:nvSpPr>
        <p:spPr>
          <a:xfrm>
            <a:off x="365760" y="5010912"/>
            <a:ext cx="5577840" cy="301752"/>
          </a:xfrm>
          <a:prstGeom prst="rect">
            <a:avLst/>
          </a:prstGeom>
          <a:noFill/>
          <a:ln/>
        </p:spPr>
        <p:txBody>
          <a:bodyPr wrap="square" lIns="25400" tIns="25400" rIns="25400" bIns="2540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DeLone &amp; McLean (2003)</a:t>
            </a:r>
            <a:endParaRPr lang="en-US" sz="1150" dirty="0"/>
          </a:p>
        </p:txBody>
      </p:sp>
      <p:sp>
        <p:nvSpPr>
          <p:cNvPr id="37" name="Shape 35"/>
          <p:cNvSpPr/>
          <p:nvPr/>
        </p:nvSpPr>
        <p:spPr>
          <a:xfrm>
            <a:off x="274320" y="5340096"/>
            <a:ext cx="5742432" cy="914400"/>
          </a:xfrm>
          <a:prstGeom prst="rect">
            <a:avLst/>
          </a:prstGeom>
          <a:solidFill>
            <a:srgbClr val="F5F7FA"/>
          </a:solidFill>
          <a:ln w="12700">
            <a:solidFill>
              <a:srgbClr val="F5F7FA"/>
            </a:solidFill>
            <a:prstDash val="solid"/>
          </a:ln>
        </p:spPr>
        <p:txBody>
          <a:bodyPr/>
          <a:p/>
        </p:txBody>
      </p:sp>
      <p:sp>
        <p:nvSpPr>
          <p:cNvPr id="38" name="Text 36"/>
          <p:cNvSpPr txBox="1"/>
          <p:nvPr/>
        </p:nvSpPr>
        <p:spPr>
          <a:xfrm>
            <a:off x="365760" y="5367528"/>
            <a:ext cx="5577840" cy="457200"/>
          </a:xfrm>
          <a:prstGeom prst="rect">
            <a:avLst/>
          </a:prstGeom>
          <a:noFill/>
          <a:ln/>
        </p:spPr>
        <p:txBody>
          <a:bodyPr wrap="square" lIns="25400" tIns="25400" rIns="25400" bIns="25400" rtlCol="0" anchor="t"/>
          <a:lstStyle/>
          <a:p>
            <a:pPr algn="l" indent="0" marL="0">
              <a:buNone/>
            </a:pPr>
            <a:r>
              <a:rPr lang="en-US" sz="1050" dirty="0">
                <a:solidFill>
                  <a:srgbClr val="1A202C"/>
                </a:solidFill>
                <a:latin typeface="Calibri" pitchFamily="34" charset="0"/>
                <a:ea typeface="Calibri" pitchFamily="34" charset="-122"/>
                <a:cs typeface="Calibri" pitchFamily="34" charset="-120"/>
              </a:rPr>
              <a:t>Finding: IS Success Model: Info Quality + System Quality + Net Benefits</a:t>
            </a:r>
            <a:endParaRPr lang="en-US" sz="1050" dirty="0"/>
          </a:p>
        </p:txBody>
      </p:sp>
      <p:sp>
        <p:nvSpPr>
          <p:cNvPr id="39" name="Text 37"/>
          <p:cNvSpPr txBox="1"/>
          <p:nvPr/>
        </p:nvSpPr>
        <p:spPr>
          <a:xfrm>
            <a:off x="365760" y="5824728"/>
            <a:ext cx="5577840" cy="402336"/>
          </a:xfrm>
          <a:prstGeom prst="rect">
            <a:avLst/>
          </a:prstGeom>
          <a:noFill/>
          <a:ln/>
        </p:spPr>
        <p:txBody>
          <a:bodyPr wrap="square" lIns="25400" tIns="25400" rIns="25400" bIns="25400" rtlCol="0" anchor="t"/>
          <a:lstStyle/>
          <a:p>
            <a:pPr algn="l" indent="0" marL="0">
              <a:buNone/>
            </a:pPr>
            <a:r>
              <a:rPr lang="en-US" sz="1050" b="1" dirty="0">
                <a:solidFill>
                  <a:srgbClr val="0A5C36"/>
                </a:solidFill>
                <a:latin typeface="Calibri" pitchFamily="34" charset="0"/>
                <a:ea typeface="Calibri" pitchFamily="34" charset="-122"/>
                <a:cs typeface="Calibri" pitchFamily="34" charset="-120"/>
              </a:rPr>
              <a:t>→ Primary evaluation framework — applied in Chapter 4 as Dr. Kesavan required</a:t>
            </a:r>
            <a:endParaRPr lang="en-US" sz="1050" dirty="0"/>
          </a:p>
        </p:txBody>
      </p:sp>
      <p:sp>
        <p:nvSpPr>
          <p:cNvPr id="40" name="Shape 38"/>
          <p:cNvSpPr/>
          <p:nvPr/>
        </p:nvSpPr>
        <p:spPr>
          <a:xfrm>
            <a:off x="6199632" y="4974336"/>
            <a:ext cx="5742432" cy="365760"/>
          </a:xfrm>
          <a:prstGeom prst="rect">
            <a:avLst/>
          </a:prstGeom>
          <a:solidFill>
            <a:srgbClr val="2C5F8A"/>
          </a:solidFill>
          <a:ln w="12700">
            <a:solidFill>
              <a:srgbClr val="2C5F8A"/>
            </a:solidFill>
            <a:prstDash val="solid"/>
          </a:ln>
        </p:spPr>
        <p:txBody>
          <a:bodyPr/>
          <a:p/>
        </p:txBody>
      </p:sp>
      <p:sp>
        <p:nvSpPr>
          <p:cNvPr id="41" name="Text 39"/>
          <p:cNvSpPr txBox="1"/>
          <p:nvPr/>
        </p:nvSpPr>
        <p:spPr>
          <a:xfrm>
            <a:off x="6291072" y="5010912"/>
            <a:ext cx="5577840" cy="301752"/>
          </a:xfrm>
          <a:prstGeom prst="rect">
            <a:avLst/>
          </a:prstGeom>
          <a:noFill/>
          <a:ln/>
        </p:spPr>
        <p:txBody>
          <a:bodyPr wrap="square" lIns="25400" tIns="25400" rIns="25400" bIns="2540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Patel &amp; Patel (2022)</a:t>
            </a:r>
            <a:endParaRPr lang="en-US" sz="1150" dirty="0"/>
          </a:p>
        </p:txBody>
      </p:sp>
      <p:sp>
        <p:nvSpPr>
          <p:cNvPr id="42" name="Shape 40"/>
          <p:cNvSpPr/>
          <p:nvPr/>
        </p:nvSpPr>
        <p:spPr>
          <a:xfrm>
            <a:off x="6199632" y="5340096"/>
            <a:ext cx="5742432" cy="914400"/>
          </a:xfrm>
          <a:prstGeom prst="rect">
            <a:avLst/>
          </a:prstGeom>
          <a:solidFill>
            <a:srgbClr val="F5F7FA"/>
          </a:solidFill>
          <a:ln w="12700">
            <a:solidFill>
              <a:srgbClr val="F5F7FA"/>
            </a:solidFill>
            <a:prstDash val="solid"/>
          </a:ln>
        </p:spPr>
        <p:txBody>
          <a:bodyPr/>
          <a:p/>
        </p:txBody>
      </p:sp>
      <p:sp>
        <p:nvSpPr>
          <p:cNvPr id="43" name="Text 41"/>
          <p:cNvSpPr txBox="1"/>
          <p:nvPr/>
        </p:nvSpPr>
        <p:spPr>
          <a:xfrm>
            <a:off x="6291072" y="5367528"/>
            <a:ext cx="5577840" cy="457200"/>
          </a:xfrm>
          <a:prstGeom prst="rect">
            <a:avLst/>
          </a:prstGeom>
          <a:noFill/>
          <a:ln/>
        </p:spPr>
        <p:txBody>
          <a:bodyPr wrap="square" lIns="25400" tIns="25400" rIns="25400" bIns="25400" rtlCol="0" anchor="t"/>
          <a:lstStyle/>
          <a:p>
            <a:pPr algn="l" indent="0" marL="0">
              <a:buNone/>
            </a:pPr>
            <a:r>
              <a:rPr lang="en-US" sz="1050" dirty="0">
                <a:solidFill>
                  <a:srgbClr val="1A202C"/>
                </a:solidFill>
                <a:latin typeface="Calibri" pitchFamily="34" charset="0"/>
                <a:ea typeface="Calibri" pitchFamily="34" charset="-122"/>
                <a:cs typeface="Calibri" pitchFamily="34" charset="-120"/>
              </a:rPr>
              <a:t>Finding: Reviewed AMS platforms — all built for large-scale conventional farming</a:t>
            </a:r>
            <a:endParaRPr lang="en-US" sz="1050" dirty="0"/>
          </a:p>
        </p:txBody>
      </p:sp>
      <p:sp>
        <p:nvSpPr>
          <p:cNvPr id="44" name="Text 42"/>
          <p:cNvSpPr txBox="1"/>
          <p:nvPr/>
        </p:nvSpPr>
        <p:spPr>
          <a:xfrm>
            <a:off x="6291072" y="5824728"/>
            <a:ext cx="5577840" cy="402336"/>
          </a:xfrm>
          <a:prstGeom prst="rect">
            <a:avLst/>
          </a:prstGeom>
          <a:noFill/>
          <a:ln/>
        </p:spPr>
        <p:txBody>
          <a:bodyPr wrap="square" lIns="25400" tIns="25400" rIns="25400" bIns="25400" rtlCol="0" anchor="t"/>
          <a:lstStyle/>
          <a:p>
            <a:pPr algn="l" indent="0" marL="0">
              <a:buNone/>
            </a:pPr>
            <a:r>
              <a:rPr lang="en-US" sz="1050" b="1" dirty="0">
                <a:solidFill>
                  <a:srgbClr val="2C5F8A"/>
                </a:solidFill>
                <a:latin typeface="Calibri" pitchFamily="34" charset="0"/>
                <a:ea typeface="Calibri" pitchFamily="34" charset="-122"/>
                <a:cs typeface="Calibri" pitchFamily="34" charset="-120"/>
              </a:rPr>
              <a:t>→ Confirms Gap 1: no accessible CEA-specific AMS for Singapore operators</a:t>
            </a:r>
            <a:endParaRPr lang="en-US" sz="1050" dirty="0"/>
          </a:p>
        </p:txBody>
      </p:sp>
      <p:sp>
        <p:nvSpPr>
          <p:cNvPr id="45" name="Shape 43"/>
          <p:cNvSpPr/>
          <p:nvPr/>
        </p:nvSpPr>
        <p:spPr>
          <a:xfrm>
            <a:off x="0" y="6510528"/>
            <a:ext cx="12161520" cy="347472"/>
          </a:xfrm>
          <a:prstGeom prst="rect">
            <a:avLst/>
          </a:prstGeom>
          <a:solidFill>
            <a:srgbClr val="E8EDF3"/>
          </a:solidFill>
          <a:ln w="12700">
            <a:solidFill>
              <a:srgbClr val="E8EDF3"/>
            </a:solidFill>
            <a:prstDash val="solid"/>
          </a:ln>
        </p:spPr>
        <p:txBody>
          <a:body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E3A5F"/>
          </a:solidFill>
          <a:ln w="12700">
            <a:solidFill>
              <a:srgbClr val="1E3A5F"/>
            </a:solidFill>
            <a:prstDash val="solid"/>
          </a:ln>
        </p:spPr>
        <p:txBody>
          <a:bodyPr/>
          <a:p/>
        </p:txBody>
      </p:sp>
      <p:sp>
        <p:nvSpPr>
          <p:cNvPr id="3" name="Text 1"/>
          <p:cNvSpPr txBox="1"/>
          <p:nvPr/>
        </p:nvSpPr>
        <p:spPr>
          <a:xfrm>
            <a:off x="365760" y="45720"/>
            <a:ext cx="10058400" cy="566928"/>
          </a:xfrm>
          <a:prstGeom prst="rect">
            <a:avLst/>
          </a:prstGeom>
          <a:noFill/>
          <a:ln/>
        </p:spPr>
        <p:txBody>
          <a:bodyPr wrap="square" lIns="25400" tIns="25400" rIns="25400" bIns="2540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Four Research Gaps AgriAI-SG Directly Addresses</a:t>
            </a:r>
            <a:endParaRPr lang="en-US" sz="2200" dirty="0"/>
          </a:p>
        </p:txBody>
      </p:sp>
      <p:sp>
        <p:nvSpPr>
          <p:cNvPr id="4" name="Shape 2"/>
          <p:cNvSpPr/>
          <p:nvPr/>
        </p:nvSpPr>
        <p:spPr>
          <a:xfrm>
            <a:off x="0" y="960120"/>
            <a:ext cx="12161520" cy="45720"/>
          </a:xfrm>
          <a:prstGeom prst="rect">
            <a:avLst/>
          </a:prstGeom>
          <a:solidFill>
            <a:srgbClr val="0D6B72"/>
          </a:solidFill>
          <a:ln w="12700">
            <a:solidFill>
              <a:srgbClr val="0D6B72"/>
            </a:solidFill>
            <a:prstDash val="solid"/>
          </a:ln>
        </p:spPr>
        <p:txBody>
          <a:bodyPr/>
          <a:p/>
        </p:txBody>
      </p:sp>
      <p:sp>
        <p:nvSpPr>
          <p:cNvPr id="5" name="Shape 3"/>
          <p:cNvSpPr/>
          <p:nvPr/>
        </p:nvSpPr>
        <p:spPr>
          <a:xfrm>
            <a:off x="274320" y="1143000"/>
            <a:ext cx="1097280" cy="1170432"/>
          </a:xfrm>
          <a:prstGeom prst="rect">
            <a:avLst/>
          </a:prstGeom>
          <a:solidFill>
            <a:srgbClr val="1E3A5F"/>
          </a:solidFill>
          <a:ln w="12700">
            <a:solidFill>
              <a:srgbClr val="1E3A5F"/>
            </a:solidFill>
            <a:prstDash val="solid"/>
          </a:ln>
        </p:spPr>
        <p:txBody>
          <a:bodyPr/>
          <a:p/>
        </p:txBody>
      </p:sp>
      <p:sp>
        <p:nvSpPr>
          <p:cNvPr id="6" name="Text 4"/>
          <p:cNvSpPr txBox="1"/>
          <p:nvPr/>
        </p:nvSpPr>
        <p:spPr>
          <a:xfrm>
            <a:off x="274320" y="1143000"/>
            <a:ext cx="1097280" cy="1170432"/>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Gap 1</a:t>
            </a:r>
            <a:endParaRPr lang="en-US" sz="1300" dirty="0"/>
          </a:p>
        </p:txBody>
      </p:sp>
      <p:sp>
        <p:nvSpPr>
          <p:cNvPr id="7" name="Shape 5"/>
          <p:cNvSpPr/>
          <p:nvPr/>
        </p:nvSpPr>
        <p:spPr>
          <a:xfrm>
            <a:off x="1463040" y="1143000"/>
            <a:ext cx="4114800" cy="1170432"/>
          </a:xfrm>
          <a:prstGeom prst="rect">
            <a:avLst/>
          </a:prstGeom>
          <a:solidFill>
            <a:srgbClr val="EBF0F7"/>
          </a:solidFill>
          <a:ln w="12700">
            <a:solidFill>
              <a:srgbClr val="EBF0F7"/>
            </a:solidFill>
            <a:prstDash val="solid"/>
          </a:ln>
        </p:spPr>
        <p:txBody>
          <a:bodyPr/>
          <a:p/>
        </p:txBody>
      </p:sp>
      <p:sp>
        <p:nvSpPr>
          <p:cNvPr id="8" name="Text 6"/>
          <p:cNvSpPr txBox="1"/>
          <p:nvPr/>
        </p:nvSpPr>
        <p:spPr>
          <a:xfrm>
            <a:off x="1572768" y="1216152"/>
            <a:ext cx="3895344" cy="457200"/>
          </a:xfrm>
          <a:prstGeom prst="rect">
            <a:avLst/>
          </a:prstGeom>
          <a:noFill/>
          <a:ln/>
        </p:spPr>
        <p:txBody>
          <a:bodyPr wrap="square" lIns="25400" tIns="25400" rIns="25400" bIns="25400" rtlCol="0" anchor="ctr"/>
          <a:lstStyle/>
          <a:p>
            <a:pPr algn="l" indent="0" marL="0">
              <a:buNone/>
            </a:pPr>
            <a:r>
              <a:rPr lang="en-US" sz="1300" b="1" dirty="0">
                <a:solidFill>
                  <a:srgbClr val="1E3A5F"/>
                </a:solidFill>
                <a:latin typeface="Calibri" pitchFamily="34" charset="0"/>
                <a:ea typeface="Calibri" pitchFamily="34" charset="-122"/>
                <a:cs typeface="Calibri" pitchFamily="34" charset="-120"/>
              </a:rPr>
              <a:t>No accessible CEA-specific AMS</a:t>
            </a:r>
            <a:endParaRPr lang="en-US" sz="1300" dirty="0"/>
          </a:p>
        </p:txBody>
      </p:sp>
      <p:sp>
        <p:nvSpPr>
          <p:cNvPr id="9" name="Shape 7"/>
          <p:cNvSpPr/>
          <p:nvPr/>
        </p:nvSpPr>
        <p:spPr>
          <a:xfrm>
            <a:off x="5669280" y="1143000"/>
            <a:ext cx="6309360" cy="1170432"/>
          </a:xfrm>
          <a:prstGeom prst="rect">
            <a:avLst/>
          </a:prstGeom>
          <a:solidFill>
            <a:srgbClr val="F5F7FA"/>
          </a:solidFill>
          <a:ln w="12700">
            <a:solidFill>
              <a:srgbClr val="F5F7FA"/>
            </a:solidFill>
            <a:prstDash val="solid"/>
          </a:ln>
        </p:spPr>
        <p:txBody>
          <a:bodyPr/>
          <a:p/>
        </p:txBody>
      </p:sp>
      <p:sp>
        <p:nvSpPr>
          <p:cNvPr id="10" name="Text 8"/>
          <p:cNvSpPr txBox="1"/>
          <p:nvPr/>
        </p:nvSpPr>
        <p:spPr>
          <a:xfrm>
            <a:off x="5806440" y="1216152"/>
            <a:ext cx="6080760" cy="1024128"/>
          </a:xfrm>
          <a:prstGeom prst="rect">
            <a:avLst/>
          </a:prstGeom>
          <a:noFill/>
          <a:ln/>
        </p:spPr>
        <p:txBody>
          <a:bodyPr wrap="square" lIns="25400" tIns="25400" rIns="25400" bIns="25400" rtlCol="0" anchor="ctr"/>
          <a:lstStyle/>
          <a:p>
            <a:pPr algn="l" indent="0" marL="0">
              <a:buNone/>
            </a:pPr>
            <a:r>
              <a:rPr lang="en-US" sz="1150" dirty="0">
                <a:solidFill>
                  <a:srgbClr val="1A202C"/>
                </a:solidFill>
                <a:latin typeface="Calibri" pitchFamily="34" charset="0"/>
                <a:ea typeface="Calibri" pitchFamily="34" charset="-122"/>
                <a:cs typeface="Calibri" pitchFamily="34" charset="-120"/>
              </a:rPr>
              <a:t>All existing platforms (FarmLogs, Granular, FieldView) designed for large-scale conventional agriculture. Singapore small urban farm operators have no tailored, accessible management system.</a:t>
            </a:r>
            <a:endParaRPr lang="en-US" sz="1150" dirty="0"/>
          </a:p>
        </p:txBody>
      </p:sp>
      <p:sp>
        <p:nvSpPr>
          <p:cNvPr id="11" name="Shape 9"/>
          <p:cNvSpPr/>
          <p:nvPr/>
        </p:nvSpPr>
        <p:spPr>
          <a:xfrm>
            <a:off x="274320" y="2468880"/>
            <a:ext cx="1097280" cy="1170432"/>
          </a:xfrm>
          <a:prstGeom prst="rect">
            <a:avLst/>
          </a:prstGeom>
          <a:solidFill>
            <a:srgbClr val="0D6B72"/>
          </a:solidFill>
          <a:ln w="12700">
            <a:solidFill>
              <a:srgbClr val="0D6B72"/>
            </a:solidFill>
            <a:prstDash val="solid"/>
          </a:ln>
        </p:spPr>
        <p:txBody>
          <a:bodyPr/>
          <a:p/>
        </p:txBody>
      </p:sp>
      <p:sp>
        <p:nvSpPr>
          <p:cNvPr id="12" name="Text 10"/>
          <p:cNvSpPr txBox="1"/>
          <p:nvPr/>
        </p:nvSpPr>
        <p:spPr>
          <a:xfrm>
            <a:off x="274320" y="2468880"/>
            <a:ext cx="1097280" cy="1170432"/>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Gap 2</a:t>
            </a:r>
            <a:endParaRPr lang="en-US" sz="1300" dirty="0"/>
          </a:p>
        </p:txBody>
      </p:sp>
      <p:sp>
        <p:nvSpPr>
          <p:cNvPr id="13" name="Shape 11"/>
          <p:cNvSpPr/>
          <p:nvPr/>
        </p:nvSpPr>
        <p:spPr>
          <a:xfrm>
            <a:off x="1463040" y="2468880"/>
            <a:ext cx="4114800" cy="1170432"/>
          </a:xfrm>
          <a:prstGeom prst="rect">
            <a:avLst/>
          </a:prstGeom>
          <a:solidFill>
            <a:srgbClr val="EBF0F7"/>
          </a:solidFill>
          <a:ln w="12700">
            <a:solidFill>
              <a:srgbClr val="EBF0F7"/>
            </a:solidFill>
            <a:prstDash val="solid"/>
          </a:ln>
        </p:spPr>
        <p:txBody>
          <a:bodyPr/>
          <a:p/>
        </p:txBody>
      </p:sp>
      <p:sp>
        <p:nvSpPr>
          <p:cNvPr id="14" name="Text 12"/>
          <p:cNvSpPr txBox="1"/>
          <p:nvPr/>
        </p:nvSpPr>
        <p:spPr>
          <a:xfrm>
            <a:off x="1572768" y="2542032"/>
            <a:ext cx="3895344" cy="457200"/>
          </a:xfrm>
          <a:prstGeom prst="rect">
            <a:avLst/>
          </a:prstGeom>
          <a:noFill/>
          <a:ln/>
        </p:spPr>
        <p:txBody>
          <a:bodyPr wrap="square" lIns="25400" tIns="25400" rIns="25400" bIns="25400" rtlCol="0" anchor="ctr"/>
          <a:lstStyle/>
          <a:p>
            <a:pPr algn="l" indent="0" marL="0">
              <a:buNone/>
            </a:pPr>
            <a:r>
              <a:rPr lang="en-US" sz="1300" b="1" dirty="0">
                <a:solidFill>
                  <a:srgbClr val="0D6B72"/>
                </a:solidFill>
                <a:latin typeface="Calibri" pitchFamily="34" charset="0"/>
                <a:ea typeface="Calibri" pitchFamily="34" charset="-122"/>
                <a:cs typeface="Calibri" pitchFamily="34" charset="-120"/>
              </a:rPr>
              <a:t>AI yield prediction not in web tools</a:t>
            </a:r>
            <a:endParaRPr lang="en-US" sz="1300" dirty="0"/>
          </a:p>
        </p:txBody>
      </p:sp>
      <p:sp>
        <p:nvSpPr>
          <p:cNvPr id="15" name="Shape 13"/>
          <p:cNvSpPr/>
          <p:nvPr/>
        </p:nvSpPr>
        <p:spPr>
          <a:xfrm>
            <a:off x="5669280" y="2468880"/>
            <a:ext cx="6309360" cy="1170432"/>
          </a:xfrm>
          <a:prstGeom prst="rect">
            <a:avLst/>
          </a:prstGeom>
          <a:solidFill>
            <a:srgbClr val="F5F7FA"/>
          </a:solidFill>
          <a:ln w="12700">
            <a:solidFill>
              <a:srgbClr val="F5F7FA"/>
            </a:solidFill>
            <a:prstDash val="solid"/>
          </a:ln>
        </p:spPr>
        <p:txBody>
          <a:bodyPr/>
          <a:p/>
        </p:txBody>
      </p:sp>
      <p:sp>
        <p:nvSpPr>
          <p:cNvPr id="16" name="Text 14"/>
          <p:cNvSpPr txBox="1"/>
          <p:nvPr/>
        </p:nvSpPr>
        <p:spPr>
          <a:xfrm>
            <a:off x="5806440" y="2542032"/>
            <a:ext cx="6080760" cy="1024128"/>
          </a:xfrm>
          <a:prstGeom prst="rect">
            <a:avLst/>
          </a:prstGeom>
          <a:noFill/>
          <a:ln/>
        </p:spPr>
        <p:txBody>
          <a:bodyPr wrap="square" lIns="25400" tIns="25400" rIns="25400" bIns="25400" rtlCol="0" anchor="ctr"/>
          <a:lstStyle/>
          <a:p>
            <a:pPr algn="l" indent="0" marL="0">
              <a:buNone/>
            </a:pPr>
            <a:r>
              <a:rPr lang="en-US" sz="1150" dirty="0">
                <a:solidFill>
                  <a:srgbClr val="1A202C"/>
                </a:solidFill>
                <a:latin typeface="Calibri" pitchFamily="34" charset="0"/>
                <a:ea typeface="Calibri" pitchFamily="34" charset="-122"/>
                <a:cs typeface="Calibri" pitchFamily="34" charset="-120"/>
              </a:rPr>
              <a:t>AI models exist only in academic papers — never deployed as accessible web applications that non-technical farm operators can actually use for planning decisions.</a:t>
            </a:r>
            <a:endParaRPr lang="en-US" sz="1150" dirty="0"/>
          </a:p>
        </p:txBody>
      </p:sp>
      <p:sp>
        <p:nvSpPr>
          <p:cNvPr id="17" name="Shape 15"/>
          <p:cNvSpPr/>
          <p:nvPr/>
        </p:nvSpPr>
        <p:spPr>
          <a:xfrm>
            <a:off x="274320" y="3794760"/>
            <a:ext cx="1097280" cy="1170432"/>
          </a:xfrm>
          <a:prstGeom prst="rect">
            <a:avLst/>
          </a:prstGeom>
          <a:solidFill>
            <a:srgbClr val="0A5C36"/>
          </a:solidFill>
          <a:ln w="12700">
            <a:solidFill>
              <a:srgbClr val="0A5C36"/>
            </a:solidFill>
            <a:prstDash val="solid"/>
          </a:ln>
        </p:spPr>
        <p:txBody>
          <a:bodyPr/>
          <a:p/>
        </p:txBody>
      </p:sp>
      <p:sp>
        <p:nvSpPr>
          <p:cNvPr id="18" name="Text 16"/>
          <p:cNvSpPr txBox="1"/>
          <p:nvPr/>
        </p:nvSpPr>
        <p:spPr>
          <a:xfrm>
            <a:off x="274320" y="3794760"/>
            <a:ext cx="1097280" cy="1170432"/>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Gap 3</a:t>
            </a:r>
            <a:endParaRPr lang="en-US" sz="1300" dirty="0"/>
          </a:p>
        </p:txBody>
      </p:sp>
      <p:sp>
        <p:nvSpPr>
          <p:cNvPr id="19" name="Shape 17"/>
          <p:cNvSpPr/>
          <p:nvPr/>
        </p:nvSpPr>
        <p:spPr>
          <a:xfrm>
            <a:off x="1463040" y="3794760"/>
            <a:ext cx="4114800" cy="1170432"/>
          </a:xfrm>
          <a:prstGeom prst="rect">
            <a:avLst/>
          </a:prstGeom>
          <a:solidFill>
            <a:srgbClr val="EBF0F7"/>
          </a:solidFill>
          <a:ln w="12700">
            <a:solidFill>
              <a:srgbClr val="EBF0F7"/>
            </a:solidFill>
            <a:prstDash val="solid"/>
          </a:ln>
        </p:spPr>
        <p:txBody>
          <a:bodyPr/>
          <a:p/>
        </p:txBody>
      </p:sp>
      <p:sp>
        <p:nvSpPr>
          <p:cNvPr id="20" name="Text 18"/>
          <p:cNvSpPr txBox="1"/>
          <p:nvPr/>
        </p:nvSpPr>
        <p:spPr>
          <a:xfrm>
            <a:off x="1572768" y="3867912"/>
            <a:ext cx="3895344" cy="457200"/>
          </a:xfrm>
          <a:prstGeom prst="rect">
            <a:avLst/>
          </a:prstGeom>
          <a:noFill/>
          <a:ln/>
        </p:spPr>
        <p:txBody>
          <a:bodyPr wrap="square" lIns="25400" tIns="25400" rIns="25400" bIns="25400" rtlCol="0" anchor="ctr"/>
          <a:lstStyle/>
          <a:p>
            <a:pPr algn="l" indent="0" marL="0">
              <a:buNone/>
            </a:pPr>
            <a:r>
              <a:rPr lang="en-US" sz="1300" b="1" dirty="0">
                <a:solidFill>
                  <a:srgbClr val="0A5C36"/>
                </a:solidFill>
                <a:latin typeface="Calibri" pitchFamily="34" charset="0"/>
                <a:ea typeface="Calibri" pitchFamily="34" charset="-122"/>
                <a:cs typeface="Calibri" pitchFamily="34" charset="-120"/>
              </a:rPr>
              <a:t>No DNN vs RF comparison on hydroponic data</a:t>
            </a:r>
            <a:endParaRPr lang="en-US" sz="1300" dirty="0"/>
          </a:p>
        </p:txBody>
      </p:sp>
      <p:sp>
        <p:nvSpPr>
          <p:cNvPr id="21" name="Shape 19"/>
          <p:cNvSpPr/>
          <p:nvPr/>
        </p:nvSpPr>
        <p:spPr>
          <a:xfrm>
            <a:off x="5669280" y="3794760"/>
            <a:ext cx="6309360" cy="1170432"/>
          </a:xfrm>
          <a:prstGeom prst="rect">
            <a:avLst/>
          </a:prstGeom>
          <a:solidFill>
            <a:srgbClr val="F5F7FA"/>
          </a:solidFill>
          <a:ln w="12700">
            <a:solidFill>
              <a:srgbClr val="F5F7FA"/>
            </a:solidFill>
            <a:prstDash val="solid"/>
          </a:ln>
        </p:spPr>
        <p:txBody>
          <a:bodyPr/>
          <a:p/>
        </p:txBody>
      </p:sp>
      <p:sp>
        <p:nvSpPr>
          <p:cNvPr id="22" name="Text 20"/>
          <p:cNvSpPr txBox="1"/>
          <p:nvPr/>
        </p:nvSpPr>
        <p:spPr>
          <a:xfrm>
            <a:off x="5806440" y="3867912"/>
            <a:ext cx="6080760" cy="1024128"/>
          </a:xfrm>
          <a:prstGeom prst="rect">
            <a:avLst/>
          </a:prstGeom>
          <a:noFill/>
          <a:ln/>
        </p:spPr>
        <p:txBody>
          <a:bodyPr wrap="square" lIns="25400" tIns="25400" rIns="25400" bIns="25400" rtlCol="0" anchor="ctr"/>
          <a:lstStyle/>
          <a:p>
            <a:pPr algn="l" indent="0" marL="0">
              <a:buNone/>
            </a:pPr>
            <a:r>
              <a:rPr lang="en-US" sz="1150" dirty="0">
                <a:solidFill>
                  <a:srgbClr val="1A202C"/>
                </a:solidFill>
                <a:latin typeface="Calibri" pitchFamily="34" charset="0"/>
                <a:ea typeface="Calibri" pitchFamily="34" charset="-122"/>
                <a:cs typeface="Calibri" pitchFamily="34" charset="-120"/>
              </a:rPr>
              <a:t>Oikonomidis et al. (2023) identified: no published study had compared DNN and Random Forest on identical hydroponic datasets with identical protocols. AgriAI-SG fills this directly.</a:t>
            </a:r>
            <a:endParaRPr lang="en-US" sz="1150" dirty="0"/>
          </a:p>
        </p:txBody>
      </p:sp>
      <p:sp>
        <p:nvSpPr>
          <p:cNvPr id="23" name="Shape 21"/>
          <p:cNvSpPr/>
          <p:nvPr/>
        </p:nvSpPr>
        <p:spPr>
          <a:xfrm>
            <a:off x="274320" y="5120640"/>
            <a:ext cx="1097280" cy="1170432"/>
          </a:xfrm>
          <a:prstGeom prst="rect">
            <a:avLst/>
          </a:prstGeom>
          <a:solidFill>
            <a:srgbClr val="2C5F8A"/>
          </a:solidFill>
          <a:ln w="12700">
            <a:solidFill>
              <a:srgbClr val="2C5F8A"/>
            </a:solidFill>
            <a:prstDash val="solid"/>
          </a:ln>
        </p:spPr>
        <p:txBody>
          <a:bodyPr/>
          <a:p/>
        </p:txBody>
      </p:sp>
      <p:sp>
        <p:nvSpPr>
          <p:cNvPr id="24" name="Text 22"/>
          <p:cNvSpPr txBox="1"/>
          <p:nvPr/>
        </p:nvSpPr>
        <p:spPr>
          <a:xfrm>
            <a:off x="274320" y="5120640"/>
            <a:ext cx="1097280" cy="1170432"/>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Gap 4</a:t>
            </a:r>
            <a:endParaRPr lang="en-US" sz="1300" dirty="0"/>
          </a:p>
        </p:txBody>
      </p:sp>
      <p:sp>
        <p:nvSpPr>
          <p:cNvPr id="25" name="Shape 23"/>
          <p:cNvSpPr/>
          <p:nvPr/>
        </p:nvSpPr>
        <p:spPr>
          <a:xfrm>
            <a:off x="1463040" y="5120640"/>
            <a:ext cx="4114800" cy="1170432"/>
          </a:xfrm>
          <a:prstGeom prst="rect">
            <a:avLst/>
          </a:prstGeom>
          <a:solidFill>
            <a:srgbClr val="EBF0F7"/>
          </a:solidFill>
          <a:ln w="12700">
            <a:solidFill>
              <a:srgbClr val="EBF0F7"/>
            </a:solidFill>
            <a:prstDash val="solid"/>
          </a:ln>
        </p:spPr>
        <p:txBody>
          <a:bodyPr/>
          <a:p/>
        </p:txBody>
      </p:sp>
      <p:sp>
        <p:nvSpPr>
          <p:cNvPr id="26" name="Text 24"/>
          <p:cNvSpPr txBox="1"/>
          <p:nvPr/>
        </p:nvSpPr>
        <p:spPr>
          <a:xfrm>
            <a:off x="1572768" y="5193792"/>
            <a:ext cx="3895344" cy="457200"/>
          </a:xfrm>
          <a:prstGeom prst="rect">
            <a:avLst/>
          </a:prstGeom>
          <a:noFill/>
          <a:ln/>
        </p:spPr>
        <p:txBody>
          <a:bodyPr wrap="square" lIns="25400" tIns="25400" rIns="25400" bIns="25400" rtlCol="0" anchor="ctr"/>
          <a:lstStyle/>
          <a:p>
            <a:pPr algn="l" indent="0" marL="0">
              <a:buNone/>
            </a:pPr>
            <a:r>
              <a:rPr lang="en-US" sz="1300" b="1" dirty="0">
                <a:solidFill>
                  <a:srgbClr val="2C5F8A"/>
                </a:solidFill>
                <a:latin typeface="Calibri" pitchFamily="34" charset="0"/>
                <a:ea typeface="Calibri" pitchFamily="34" charset="-122"/>
                <a:cs typeface="Calibri" pitchFamily="34" charset="-120"/>
              </a:rPr>
              <a:t>No OWASP-aligned full-stack CEA AI-DSS</a:t>
            </a:r>
            <a:endParaRPr lang="en-US" sz="1300" dirty="0"/>
          </a:p>
        </p:txBody>
      </p:sp>
      <p:sp>
        <p:nvSpPr>
          <p:cNvPr id="27" name="Shape 25"/>
          <p:cNvSpPr/>
          <p:nvPr/>
        </p:nvSpPr>
        <p:spPr>
          <a:xfrm>
            <a:off x="5669280" y="5120640"/>
            <a:ext cx="6309360" cy="1170432"/>
          </a:xfrm>
          <a:prstGeom prst="rect">
            <a:avLst/>
          </a:prstGeom>
          <a:solidFill>
            <a:srgbClr val="F5F7FA"/>
          </a:solidFill>
          <a:ln w="12700">
            <a:solidFill>
              <a:srgbClr val="F5F7FA"/>
            </a:solidFill>
            <a:prstDash val="solid"/>
          </a:ln>
        </p:spPr>
        <p:txBody>
          <a:bodyPr/>
          <a:p/>
        </p:txBody>
      </p:sp>
      <p:sp>
        <p:nvSpPr>
          <p:cNvPr id="28" name="Text 26"/>
          <p:cNvSpPr txBox="1"/>
          <p:nvPr/>
        </p:nvSpPr>
        <p:spPr>
          <a:xfrm>
            <a:off x="5806440" y="5193792"/>
            <a:ext cx="6080760" cy="1024128"/>
          </a:xfrm>
          <a:prstGeom prst="rect">
            <a:avLst/>
          </a:prstGeom>
          <a:noFill/>
          <a:ln/>
        </p:spPr>
        <p:txBody>
          <a:bodyPr wrap="square" lIns="25400" tIns="25400" rIns="25400" bIns="25400" rtlCol="0" anchor="ctr"/>
          <a:lstStyle/>
          <a:p>
            <a:pPr algn="l" indent="0" marL="0">
              <a:buNone/>
            </a:pPr>
            <a:r>
              <a:rPr lang="en-US" sz="1150" dirty="0">
                <a:solidFill>
                  <a:srgbClr val="1A202C"/>
                </a:solidFill>
                <a:latin typeface="Calibri" pitchFamily="34" charset="0"/>
                <a:ea typeface="Calibri" pitchFamily="34" charset="-122"/>
                <a:cs typeface="Calibri" pitchFamily="34" charset="-120"/>
              </a:rPr>
              <a:t>No published system combines CEA yield prediction, full-stack web access, OWASP security controls and DeLone &amp; McLean evaluation in a single artefact.</a:t>
            </a:r>
            <a:endParaRPr lang="en-US" sz="1150" dirty="0"/>
          </a:p>
        </p:txBody>
      </p:sp>
      <p:sp>
        <p:nvSpPr>
          <p:cNvPr id="29" name="Shape 27"/>
          <p:cNvSpPr/>
          <p:nvPr/>
        </p:nvSpPr>
        <p:spPr>
          <a:xfrm>
            <a:off x="274320" y="6400800"/>
            <a:ext cx="11612880" cy="91440"/>
          </a:xfrm>
          <a:prstGeom prst="rect">
            <a:avLst/>
          </a:prstGeom>
          <a:solidFill>
            <a:srgbClr val="0D6B72"/>
          </a:solidFill>
          <a:ln w="12700">
            <a:solidFill>
              <a:srgbClr val="0D6B72"/>
            </a:solidFill>
            <a:prstDash val="solid"/>
          </a:ln>
        </p:spPr>
        <p:txBody>
          <a:bodyPr/>
          <a:p/>
        </p:txBody>
      </p:sp>
      <p:sp>
        <p:nvSpPr>
          <p:cNvPr id="30" name="Shape 28"/>
          <p:cNvSpPr/>
          <p:nvPr/>
        </p:nvSpPr>
        <p:spPr>
          <a:xfrm>
            <a:off x="0" y="6510528"/>
            <a:ext cx="12161520" cy="347472"/>
          </a:xfrm>
          <a:prstGeom prst="rect">
            <a:avLst/>
          </a:prstGeom>
          <a:solidFill>
            <a:srgbClr val="E8EDF3"/>
          </a:solidFill>
          <a:ln w="12700">
            <a:solidFill>
              <a:srgbClr val="E8EDF3"/>
            </a:solidFill>
            <a:prstDash val="solid"/>
          </a:ln>
        </p:spPr>
        <p:txBody>
          <a:body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E3A5F"/>
          </a:solidFill>
          <a:ln w="12700">
            <a:solidFill>
              <a:srgbClr val="1E3A5F"/>
            </a:solidFill>
            <a:prstDash val="solid"/>
          </a:ln>
        </p:spPr>
        <p:txBody>
          <a:bodyPr/>
          <a:p/>
        </p:txBody>
      </p:sp>
      <p:sp>
        <p:nvSpPr>
          <p:cNvPr id="3" name="Text 1"/>
          <p:cNvSpPr txBox="1"/>
          <p:nvPr/>
        </p:nvSpPr>
        <p:spPr>
          <a:xfrm>
            <a:off x="365760" y="45720"/>
            <a:ext cx="10058400" cy="566928"/>
          </a:xfrm>
          <a:prstGeom prst="rect">
            <a:avLst/>
          </a:prstGeom>
          <a:noFill/>
          <a:ln/>
        </p:spPr>
        <p:txBody>
          <a:bodyPr wrap="square" lIns="25400" tIns="25400" rIns="25400" bIns="2540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Deep Learning Pipeline — Steps 1 to 6 (Data → DNN Design)</a:t>
            </a:r>
            <a:endParaRPr lang="en-US" sz="2200" dirty="0"/>
          </a:p>
        </p:txBody>
      </p:sp>
      <p:sp>
        <p:nvSpPr>
          <p:cNvPr id="4" name="Text 2"/>
          <p:cNvSpPr txBox="1"/>
          <p:nvPr/>
        </p:nvSpPr>
        <p:spPr>
          <a:xfrm>
            <a:off x="365760" y="585216"/>
            <a:ext cx="10972800" cy="329184"/>
          </a:xfrm>
          <a:prstGeom prst="rect">
            <a:avLst/>
          </a:prstGeom>
          <a:noFill/>
          <a:ln/>
        </p:spPr>
        <p:txBody>
          <a:bodyPr wrap="square" lIns="25400" tIns="25400" rIns="25400" bIns="25400" rtlCol="0" anchor="ctr"/>
          <a:lstStyle/>
          <a:p>
            <a:pPr algn="l" indent="0" marL="0">
              <a:buNone/>
            </a:pPr>
            <a:r>
              <a:rPr lang="en-US" sz="1100" dirty="0">
                <a:solidFill>
                  <a:srgbClr val="B8CDE0"/>
                </a:solidFill>
                <a:latin typeface="Calibri" pitchFamily="34" charset="0"/>
                <a:ea typeface="Calibri" pitchFamily="34" charset="-122"/>
                <a:cs typeface="Calibri" pitchFamily="34" charset="-120"/>
              </a:rPr>
              <a:t>Ch. 3.4–3.12 | Dr. Kesavan requirement: complete pipeline must be explicit and visible</a:t>
            </a:r>
            <a:endParaRPr lang="en-US" sz="1100" dirty="0"/>
          </a:p>
        </p:txBody>
      </p:sp>
      <p:sp>
        <p:nvSpPr>
          <p:cNvPr id="5" name="Shape 3"/>
          <p:cNvSpPr/>
          <p:nvPr/>
        </p:nvSpPr>
        <p:spPr>
          <a:xfrm>
            <a:off x="0" y="960120"/>
            <a:ext cx="12161520" cy="45720"/>
          </a:xfrm>
          <a:prstGeom prst="rect">
            <a:avLst/>
          </a:prstGeom>
          <a:solidFill>
            <a:srgbClr val="0D6B72"/>
          </a:solidFill>
          <a:ln w="12700">
            <a:solidFill>
              <a:srgbClr val="0D6B72"/>
            </a:solidFill>
            <a:prstDash val="solid"/>
          </a:ln>
        </p:spPr>
        <p:txBody>
          <a:bodyPr/>
          <a:p/>
        </p:txBody>
      </p:sp>
      <p:sp>
        <p:nvSpPr>
          <p:cNvPr id="6" name="Shape 4"/>
          <p:cNvSpPr/>
          <p:nvPr/>
        </p:nvSpPr>
        <p:spPr>
          <a:xfrm>
            <a:off x="274320" y="1097280"/>
            <a:ext cx="1847088" cy="3474720"/>
          </a:xfrm>
          <a:prstGeom prst="rect">
            <a:avLst/>
          </a:prstGeom>
          <a:solidFill>
            <a:srgbClr val="F5F7FA"/>
          </a:solidFill>
          <a:ln w="12700">
            <a:solidFill>
              <a:srgbClr val="F5F7FA"/>
            </a:solidFill>
            <a:prstDash val="solid"/>
          </a:ln>
        </p:spPr>
        <p:txBody>
          <a:bodyPr/>
          <a:p/>
        </p:txBody>
      </p:sp>
      <p:sp>
        <p:nvSpPr>
          <p:cNvPr id="7" name="Shape 5"/>
          <p:cNvSpPr/>
          <p:nvPr/>
        </p:nvSpPr>
        <p:spPr>
          <a:xfrm>
            <a:off x="274320" y="1097280"/>
            <a:ext cx="1847088" cy="475488"/>
          </a:xfrm>
          <a:prstGeom prst="rect">
            <a:avLst/>
          </a:prstGeom>
          <a:solidFill>
            <a:srgbClr val="1E3A5F"/>
          </a:solidFill>
          <a:ln w="12700">
            <a:solidFill>
              <a:srgbClr val="1E3A5F"/>
            </a:solidFill>
            <a:prstDash val="solid"/>
          </a:ln>
        </p:spPr>
        <p:txBody>
          <a:bodyPr/>
          <a:p/>
        </p:txBody>
      </p:sp>
      <p:sp>
        <p:nvSpPr>
          <p:cNvPr id="8" name="Text 6"/>
          <p:cNvSpPr txBox="1"/>
          <p:nvPr/>
        </p:nvSpPr>
        <p:spPr>
          <a:xfrm>
            <a:off x="329184" y="1115568"/>
            <a:ext cx="365760" cy="438912"/>
          </a:xfrm>
          <a:prstGeom prst="rect">
            <a:avLst/>
          </a:prstGeom>
          <a:noFill/>
          <a:ln/>
        </p:spPr>
        <p:txBody>
          <a:bodyPr wrap="square" lIns="25400" tIns="25400" rIns="25400" bIns="25400" rtlCol="0" anchor="ctr"/>
          <a:lstStyle/>
          <a:p>
            <a:pPr algn="ctr" indent="0" marL="0">
              <a:buNone/>
            </a:pPr>
            <a:r>
              <a:rPr lang="en-US" sz="1800" b="1" dirty="0">
                <a:solidFill>
                  <a:srgbClr val="CCCCCC"/>
                </a:solidFill>
                <a:latin typeface="Calibri" pitchFamily="34" charset="0"/>
                <a:ea typeface="Calibri" pitchFamily="34" charset="-122"/>
                <a:cs typeface="Calibri" pitchFamily="34" charset="-120"/>
              </a:rPr>
              <a:t>1</a:t>
            </a:r>
            <a:endParaRPr lang="en-US" sz="1800" dirty="0"/>
          </a:p>
        </p:txBody>
      </p:sp>
      <p:sp>
        <p:nvSpPr>
          <p:cNvPr id="9" name="Text 7"/>
          <p:cNvSpPr txBox="1"/>
          <p:nvPr/>
        </p:nvSpPr>
        <p:spPr>
          <a:xfrm>
            <a:off x="713232" y="1133856"/>
            <a:ext cx="1371600" cy="420624"/>
          </a:xfrm>
          <a:prstGeom prst="rect">
            <a:avLst/>
          </a:prstGeom>
          <a:noFill/>
          <a:ln/>
        </p:spPr>
        <p:txBody>
          <a:bodyPr wrap="square" lIns="25400" tIns="25400" rIns="25400" bIns="2540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Data Source</a:t>
            </a:r>
            <a:endParaRPr lang="en-US" sz="1200" dirty="0"/>
          </a:p>
        </p:txBody>
      </p:sp>
      <p:sp>
        <p:nvSpPr>
          <p:cNvPr id="10" name="Text 8"/>
          <p:cNvSpPr txBox="1"/>
          <p:nvPr/>
        </p:nvSpPr>
        <p:spPr>
          <a:xfrm>
            <a:off x="365760" y="1609344"/>
            <a:ext cx="1691640" cy="2926080"/>
          </a:xfrm>
          <a:prstGeom prst="rect">
            <a:avLst/>
          </a:prstGeom>
          <a:noFill/>
          <a:ln/>
        </p:spPr>
        <p:txBody>
          <a:bodyPr wrap="square" lIns="25400" tIns="25400" rIns="25400" bIns="25400" rtlCol="0" anchor="t"/>
          <a:lstStyle/>
          <a:p>
            <a:pPr algn="l" indent="0" marL="0">
              <a:buNone/>
            </a:pPr>
            <a:r>
              <a:rPr lang="en-US" sz="1100" dirty="0">
                <a:solidFill>
                  <a:srgbClr val="1A202C"/>
                </a:solidFill>
                <a:latin typeface="Calibri" pitchFamily="34" charset="0"/>
                <a:ea typeface="Calibri" pitchFamily="34" charset="-122"/>
                <a:cs typeface="Calibri" pitchFamily="34" charset="-120"/>
              </a:rPr>
              <a:t>Bouzid et al. (2024)</a:t>
            </a:r>
            <a:endParaRPr lang="en-US" sz="1100" dirty="0"/>
          </a:p>
          <a:p>
            <a:pPr algn="l" indent="0" marL="0">
              <a:buNone/>
            </a:pPr>
            <a:r>
              <a:rPr lang="en-US" sz="1100" dirty="0">
                <a:solidFill>
                  <a:srgbClr val="1A202C"/>
                </a:solidFill>
                <a:latin typeface="Calibri" pitchFamily="34" charset="0"/>
                <a:ea typeface="Calibri" pitchFamily="34" charset="-122"/>
                <a:cs typeface="Calibri" pitchFamily="34" charset="-120"/>
              </a:rPr>
              <a:t>9,948 IoT rows</a:t>
            </a:r>
            <a:endParaRPr lang="en-US" sz="1100" dirty="0"/>
          </a:p>
          <a:p>
            <a:pPr algn="l" indent="0" marL="0">
              <a:buNone/>
            </a:pPr>
            <a:r>
              <a:rPr lang="en-US" sz="1100" dirty="0">
                <a:solidFill>
                  <a:srgbClr val="1A202C"/>
                </a:solidFill>
                <a:latin typeface="Calibri" pitchFamily="34" charset="0"/>
                <a:ea typeface="Calibri" pitchFamily="34" charset="-122"/>
                <a:cs typeface="Calibri" pitchFamily="34" charset="-120"/>
              </a:rPr>
              <a:t>5 crops · 4 methods</a:t>
            </a:r>
            <a:endParaRPr lang="en-US" sz="1100" dirty="0"/>
          </a:p>
          <a:p>
            <a:pPr algn="l" indent="0" marL="0">
              <a:buNone/>
            </a:pPr>
            <a:r>
              <a:rPr lang="en-US" sz="1100" dirty="0">
                <a:solidFill>
                  <a:srgbClr val="1A202C"/>
                </a:solidFill>
                <a:latin typeface="Calibri" pitchFamily="34" charset="0"/>
                <a:ea typeface="Calibri" pitchFamily="34" charset="-122"/>
                <a:cs typeface="Calibri" pitchFamily="34" charset="-120"/>
              </a:rPr>
              <a:t>Real peer-reviewed data</a:t>
            </a:r>
            <a:endParaRPr lang="en-US" sz="1100" dirty="0"/>
          </a:p>
        </p:txBody>
      </p:sp>
      <p:sp>
        <p:nvSpPr>
          <p:cNvPr id="11" name="Text 9"/>
          <p:cNvSpPr txBox="1"/>
          <p:nvPr/>
        </p:nvSpPr>
        <p:spPr>
          <a:xfrm>
            <a:off x="2121408" y="2468880"/>
            <a:ext cx="137160" cy="548640"/>
          </a:xfrm>
          <a:prstGeom prst="rect">
            <a:avLst/>
          </a:prstGeom>
          <a:noFill/>
          <a:ln/>
        </p:spPr>
        <p:txBody>
          <a:bodyPr wrap="square" lIns="25400" tIns="25400" rIns="25400" bIns="25400" rtlCol="0" anchor="ctr"/>
          <a:lstStyle/>
          <a:p>
            <a:pPr algn="ctr" indent="0" marL="0">
              <a:buNone/>
            </a:pPr>
            <a:r>
              <a:rPr lang="en-US" sz="1800" b="1" dirty="0">
                <a:solidFill>
                  <a:srgbClr val="718096"/>
                </a:solidFill>
                <a:latin typeface="Calibri" pitchFamily="34" charset="0"/>
                <a:ea typeface="Calibri" pitchFamily="34" charset="-122"/>
                <a:cs typeface="Calibri" pitchFamily="34" charset="-120"/>
              </a:rPr>
              <a:t>→</a:t>
            </a:r>
            <a:endParaRPr lang="en-US" sz="1800" dirty="0"/>
          </a:p>
        </p:txBody>
      </p:sp>
      <p:sp>
        <p:nvSpPr>
          <p:cNvPr id="12" name="Shape 10"/>
          <p:cNvSpPr/>
          <p:nvPr/>
        </p:nvSpPr>
        <p:spPr>
          <a:xfrm>
            <a:off x="2258568" y="1097280"/>
            <a:ext cx="1847088" cy="3474720"/>
          </a:xfrm>
          <a:prstGeom prst="rect">
            <a:avLst/>
          </a:prstGeom>
          <a:solidFill>
            <a:srgbClr val="F5F7FA"/>
          </a:solidFill>
          <a:ln w="12700">
            <a:solidFill>
              <a:srgbClr val="F5F7FA"/>
            </a:solidFill>
            <a:prstDash val="solid"/>
          </a:ln>
        </p:spPr>
        <p:txBody>
          <a:bodyPr/>
          <a:p/>
        </p:txBody>
      </p:sp>
      <p:sp>
        <p:nvSpPr>
          <p:cNvPr id="13" name="Shape 11"/>
          <p:cNvSpPr/>
          <p:nvPr/>
        </p:nvSpPr>
        <p:spPr>
          <a:xfrm>
            <a:off x="2258568" y="1097280"/>
            <a:ext cx="1847088" cy="475488"/>
          </a:xfrm>
          <a:prstGeom prst="rect">
            <a:avLst/>
          </a:prstGeom>
          <a:solidFill>
            <a:srgbClr val="0D6B72"/>
          </a:solidFill>
          <a:ln w="12700">
            <a:solidFill>
              <a:srgbClr val="0D6B72"/>
            </a:solidFill>
            <a:prstDash val="solid"/>
          </a:ln>
        </p:spPr>
        <p:txBody>
          <a:bodyPr/>
          <a:p/>
        </p:txBody>
      </p:sp>
      <p:sp>
        <p:nvSpPr>
          <p:cNvPr id="14" name="Text 12"/>
          <p:cNvSpPr txBox="1"/>
          <p:nvPr/>
        </p:nvSpPr>
        <p:spPr>
          <a:xfrm>
            <a:off x="2313432" y="1115568"/>
            <a:ext cx="365760" cy="438912"/>
          </a:xfrm>
          <a:prstGeom prst="rect">
            <a:avLst/>
          </a:prstGeom>
          <a:noFill/>
          <a:ln/>
        </p:spPr>
        <p:txBody>
          <a:bodyPr wrap="square" lIns="25400" tIns="25400" rIns="25400" bIns="25400" rtlCol="0" anchor="ctr"/>
          <a:lstStyle/>
          <a:p>
            <a:pPr algn="ctr" indent="0" marL="0">
              <a:buNone/>
            </a:pPr>
            <a:r>
              <a:rPr lang="en-US" sz="1800" b="1" dirty="0">
                <a:solidFill>
                  <a:srgbClr val="CCCCCC"/>
                </a:solidFill>
                <a:latin typeface="Calibri" pitchFamily="34" charset="0"/>
                <a:ea typeface="Calibri" pitchFamily="34" charset="-122"/>
                <a:cs typeface="Calibri" pitchFamily="34" charset="-120"/>
              </a:rPr>
              <a:t>2</a:t>
            </a:r>
            <a:endParaRPr lang="en-US" sz="1800" dirty="0"/>
          </a:p>
        </p:txBody>
      </p:sp>
      <p:sp>
        <p:nvSpPr>
          <p:cNvPr id="15" name="Text 13"/>
          <p:cNvSpPr txBox="1"/>
          <p:nvPr/>
        </p:nvSpPr>
        <p:spPr>
          <a:xfrm>
            <a:off x="2697480" y="1133856"/>
            <a:ext cx="1371600" cy="420624"/>
          </a:xfrm>
          <a:prstGeom prst="rect">
            <a:avLst/>
          </a:prstGeom>
          <a:noFill/>
          <a:ln/>
        </p:spPr>
        <p:txBody>
          <a:bodyPr wrap="square" lIns="25400" tIns="25400" rIns="25400" bIns="2540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Pre-processing</a:t>
            </a:r>
            <a:endParaRPr lang="en-US" sz="1200" dirty="0"/>
          </a:p>
        </p:txBody>
      </p:sp>
      <p:sp>
        <p:nvSpPr>
          <p:cNvPr id="16" name="Text 14"/>
          <p:cNvSpPr txBox="1"/>
          <p:nvPr/>
        </p:nvSpPr>
        <p:spPr>
          <a:xfrm>
            <a:off x="2350008" y="1609344"/>
            <a:ext cx="1691640" cy="2926080"/>
          </a:xfrm>
          <a:prstGeom prst="rect">
            <a:avLst/>
          </a:prstGeom>
          <a:noFill/>
          <a:ln/>
        </p:spPr>
        <p:txBody>
          <a:bodyPr wrap="square" lIns="25400" tIns="25400" rIns="25400" bIns="25400" rtlCol="0" anchor="t"/>
          <a:lstStyle/>
          <a:p>
            <a:pPr algn="l" indent="0" marL="0">
              <a:buNone/>
            </a:pPr>
            <a:r>
              <a:rPr lang="en-US" sz="1100" dirty="0">
                <a:solidFill>
                  <a:srgbClr val="1A202C"/>
                </a:solidFill>
                <a:latin typeface="Calibri" pitchFamily="34" charset="0"/>
                <a:ea typeface="Calibri" pitchFamily="34" charset="-122"/>
                <a:cs typeface="Calibri" pitchFamily="34" charset="-120"/>
              </a:rPr>
              <a:t>Remove outliers &gt;99th pct</a:t>
            </a:r>
            <a:endParaRPr lang="en-US" sz="1100" dirty="0"/>
          </a:p>
          <a:p>
            <a:pPr algn="l" indent="0" marL="0">
              <a:buNone/>
            </a:pPr>
            <a:r>
              <a:rPr lang="en-US" sz="1100" dirty="0">
                <a:solidFill>
                  <a:srgbClr val="1A202C"/>
                </a:solidFill>
                <a:latin typeface="Calibri" pitchFamily="34" charset="0"/>
                <a:ea typeface="Calibri" pitchFamily="34" charset="-122"/>
                <a:cs typeface="Calibri" pitchFamily="34" charset="-120"/>
              </a:rPr>
              <a:t>StandardScaler fitted on</a:t>
            </a:r>
            <a:endParaRPr lang="en-US" sz="1100" dirty="0"/>
          </a:p>
          <a:p>
            <a:pPr algn="l" indent="0" marL="0">
              <a:buNone/>
            </a:pPr>
            <a:r>
              <a:rPr lang="en-US" sz="1100" dirty="0">
                <a:solidFill>
                  <a:srgbClr val="1A202C"/>
                </a:solidFill>
                <a:latin typeface="Calibri" pitchFamily="34" charset="0"/>
                <a:ea typeface="Calibri" pitchFamily="34" charset="-122"/>
                <a:cs typeface="Calibri" pitchFamily="34" charset="-120"/>
              </a:rPr>
              <a:t>training set only</a:t>
            </a:r>
            <a:endParaRPr lang="en-US" sz="1100" dirty="0"/>
          </a:p>
          <a:p>
            <a:pPr algn="l" indent="0" marL="0">
              <a:buNone/>
            </a:pPr>
            <a:r>
              <a:rPr lang="en-US" sz="1100" dirty="0">
                <a:solidFill>
                  <a:srgbClr val="1A202C"/>
                </a:solidFill>
                <a:latin typeface="Calibri" pitchFamily="34" charset="0"/>
                <a:ea typeface="Calibri" pitchFamily="34" charset="-122"/>
                <a:cs typeface="Calibri" pitchFamily="34" charset="-120"/>
              </a:rPr>
              <a:t>→ No data leakage</a:t>
            </a:r>
            <a:endParaRPr lang="en-US" sz="1100" dirty="0"/>
          </a:p>
        </p:txBody>
      </p:sp>
      <p:sp>
        <p:nvSpPr>
          <p:cNvPr id="17" name="Text 15"/>
          <p:cNvSpPr txBox="1"/>
          <p:nvPr/>
        </p:nvSpPr>
        <p:spPr>
          <a:xfrm>
            <a:off x="4105656" y="2468880"/>
            <a:ext cx="137160" cy="548640"/>
          </a:xfrm>
          <a:prstGeom prst="rect">
            <a:avLst/>
          </a:prstGeom>
          <a:noFill/>
          <a:ln/>
        </p:spPr>
        <p:txBody>
          <a:bodyPr wrap="square" lIns="25400" tIns="25400" rIns="25400" bIns="25400" rtlCol="0" anchor="ctr"/>
          <a:lstStyle/>
          <a:p>
            <a:pPr algn="ctr" indent="0" marL="0">
              <a:buNone/>
            </a:pPr>
            <a:r>
              <a:rPr lang="en-US" sz="1800" b="1" dirty="0">
                <a:solidFill>
                  <a:srgbClr val="718096"/>
                </a:solidFill>
                <a:latin typeface="Calibri" pitchFamily="34" charset="0"/>
                <a:ea typeface="Calibri" pitchFamily="34" charset="-122"/>
                <a:cs typeface="Calibri" pitchFamily="34" charset="-120"/>
              </a:rPr>
              <a:t>→</a:t>
            </a:r>
            <a:endParaRPr lang="en-US" sz="1800" dirty="0"/>
          </a:p>
        </p:txBody>
      </p:sp>
      <p:sp>
        <p:nvSpPr>
          <p:cNvPr id="18" name="Shape 16"/>
          <p:cNvSpPr/>
          <p:nvPr/>
        </p:nvSpPr>
        <p:spPr>
          <a:xfrm>
            <a:off x="4242816" y="1097280"/>
            <a:ext cx="1847088" cy="3474720"/>
          </a:xfrm>
          <a:prstGeom prst="rect">
            <a:avLst/>
          </a:prstGeom>
          <a:solidFill>
            <a:srgbClr val="F5F7FA"/>
          </a:solidFill>
          <a:ln w="12700">
            <a:solidFill>
              <a:srgbClr val="F5F7FA"/>
            </a:solidFill>
            <a:prstDash val="solid"/>
          </a:ln>
        </p:spPr>
        <p:txBody>
          <a:bodyPr/>
          <a:p/>
        </p:txBody>
      </p:sp>
      <p:sp>
        <p:nvSpPr>
          <p:cNvPr id="19" name="Shape 17"/>
          <p:cNvSpPr/>
          <p:nvPr/>
        </p:nvSpPr>
        <p:spPr>
          <a:xfrm>
            <a:off x="4242816" y="1097280"/>
            <a:ext cx="1847088" cy="475488"/>
          </a:xfrm>
          <a:prstGeom prst="rect">
            <a:avLst/>
          </a:prstGeom>
          <a:solidFill>
            <a:srgbClr val="0A5C36"/>
          </a:solidFill>
          <a:ln w="12700">
            <a:solidFill>
              <a:srgbClr val="0A5C36"/>
            </a:solidFill>
            <a:prstDash val="solid"/>
          </a:ln>
        </p:spPr>
        <p:txBody>
          <a:bodyPr/>
          <a:p/>
        </p:txBody>
      </p:sp>
      <p:sp>
        <p:nvSpPr>
          <p:cNvPr id="20" name="Text 18"/>
          <p:cNvSpPr txBox="1"/>
          <p:nvPr/>
        </p:nvSpPr>
        <p:spPr>
          <a:xfrm>
            <a:off x="4297680" y="1115568"/>
            <a:ext cx="365760" cy="438912"/>
          </a:xfrm>
          <a:prstGeom prst="rect">
            <a:avLst/>
          </a:prstGeom>
          <a:noFill/>
          <a:ln/>
        </p:spPr>
        <p:txBody>
          <a:bodyPr wrap="square" lIns="25400" tIns="25400" rIns="25400" bIns="25400" rtlCol="0" anchor="ctr"/>
          <a:lstStyle/>
          <a:p>
            <a:pPr algn="ctr" indent="0" marL="0">
              <a:buNone/>
            </a:pPr>
            <a:r>
              <a:rPr lang="en-US" sz="1800" b="1" dirty="0">
                <a:solidFill>
                  <a:srgbClr val="CCCCCC"/>
                </a:solidFill>
                <a:latin typeface="Calibri" pitchFamily="34" charset="0"/>
                <a:ea typeface="Calibri" pitchFamily="34" charset="-122"/>
                <a:cs typeface="Calibri" pitchFamily="34" charset="-120"/>
              </a:rPr>
              <a:t>3</a:t>
            </a:r>
            <a:endParaRPr lang="en-US" sz="1800" dirty="0"/>
          </a:p>
        </p:txBody>
      </p:sp>
      <p:sp>
        <p:nvSpPr>
          <p:cNvPr id="21" name="Text 19"/>
          <p:cNvSpPr txBox="1"/>
          <p:nvPr/>
        </p:nvSpPr>
        <p:spPr>
          <a:xfrm>
            <a:off x="4681728" y="1133856"/>
            <a:ext cx="1371600" cy="420624"/>
          </a:xfrm>
          <a:prstGeom prst="rect">
            <a:avLst/>
          </a:prstGeom>
          <a:noFill/>
          <a:ln/>
        </p:spPr>
        <p:txBody>
          <a:bodyPr wrap="square" lIns="25400" tIns="25400" rIns="25400" bIns="2540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Feature Engineering</a:t>
            </a:r>
            <a:endParaRPr lang="en-US" sz="1200" dirty="0"/>
          </a:p>
        </p:txBody>
      </p:sp>
      <p:sp>
        <p:nvSpPr>
          <p:cNvPr id="22" name="Text 20"/>
          <p:cNvSpPr txBox="1"/>
          <p:nvPr/>
        </p:nvSpPr>
        <p:spPr>
          <a:xfrm>
            <a:off x="4334256" y="1609344"/>
            <a:ext cx="1691640" cy="2926080"/>
          </a:xfrm>
          <a:prstGeom prst="rect">
            <a:avLst/>
          </a:prstGeom>
          <a:noFill/>
          <a:ln/>
        </p:spPr>
        <p:txBody>
          <a:bodyPr wrap="square" lIns="25400" tIns="25400" rIns="25400" bIns="25400" rtlCol="0" anchor="t"/>
          <a:lstStyle/>
          <a:p>
            <a:pPr algn="l" indent="0" marL="0">
              <a:buNone/>
            </a:pPr>
            <a:r>
              <a:rPr lang="en-US" sz="1100" dirty="0">
                <a:solidFill>
                  <a:srgbClr val="1A202C"/>
                </a:solidFill>
                <a:latin typeface="Calibri" pitchFamily="34" charset="0"/>
                <a:ea typeface="Calibri" pitchFamily="34" charset="-122"/>
                <a:cs typeface="Calibri" pitchFamily="34" charset="-120"/>
              </a:rPr>
              <a:t>5 raw → 11 features</a:t>
            </a:r>
            <a:endParaRPr lang="en-US" sz="1100" dirty="0"/>
          </a:p>
          <a:p>
            <a:pPr algn="l" indent="0" marL="0">
              <a:buNone/>
            </a:pPr>
            <a:r>
              <a:rPr lang="en-US" sz="1100" dirty="0">
                <a:solidFill>
                  <a:srgbClr val="1A202C"/>
                </a:solidFill>
                <a:latin typeface="Calibri" pitchFamily="34" charset="0"/>
                <a:ea typeface="Calibri" pitchFamily="34" charset="-122"/>
                <a:cs typeface="Calibri" pitchFamily="34" charset="-120"/>
              </a:rPr>
              <a:t>temp×TDS interaction</a:t>
            </a:r>
            <a:endParaRPr lang="en-US" sz="1100" dirty="0"/>
          </a:p>
          <a:p>
            <a:pPr algn="l" indent="0" marL="0">
              <a:buNone/>
            </a:pPr>
            <a:r>
              <a:rPr lang="en-US" sz="1100" dirty="0">
                <a:solidFill>
                  <a:srgbClr val="1A202C"/>
                </a:solidFill>
                <a:latin typeface="Calibri" pitchFamily="34" charset="0"/>
                <a:ea typeface="Calibri" pitchFamily="34" charset="-122"/>
                <a:cs typeface="Calibri" pitchFamily="34" charset="-120"/>
              </a:rPr>
              <a:t>temp optimality (23°C)</a:t>
            </a:r>
            <a:endParaRPr lang="en-US" sz="1100" dirty="0"/>
          </a:p>
          <a:p>
            <a:pPr algn="l" indent="0" marL="0">
              <a:buNone/>
            </a:pPr>
            <a:r>
              <a:rPr lang="en-US" sz="1100" dirty="0">
                <a:solidFill>
                  <a:srgbClr val="1A202C"/>
                </a:solidFill>
                <a:latin typeface="Calibri" pitchFamily="34" charset="0"/>
                <a:ea typeface="Calibri" pitchFamily="34" charset="-122"/>
                <a:cs typeface="Calibri" pitchFamily="34" charset="-120"/>
              </a:rPr>
              <a:t>humidity² non-linear</a:t>
            </a:r>
            <a:endParaRPr lang="en-US" sz="1100" dirty="0"/>
          </a:p>
        </p:txBody>
      </p:sp>
      <p:sp>
        <p:nvSpPr>
          <p:cNvPr id="23" name="Text 21"/>
          <p:cNvSpPr txBox="1"/>
          <p:nvPr/>
        </p:nvSpPr>
        <p:spPr>
          <a:xfrm>
            <a:off x="6089904" y="2468880"/>
            <a:ext cx="137160" cy="548640"/>
          </a:xfrm>
          <a:prstGeom prst="rect">
            <a:avLst/>
          </a:prstGeom>
          <a:noFill/>
          <a:ln/>
        </p:spPr>
        <p:txBody>
          <a:bodyPr wrap="square" lIns="25400" tIns="25400" rIns="25400" bIns="25400" rtlCol="0" anchor="ctr"/>
          <a:lstStyle/>
          <a:p>
            <a:pPr algn="ctr" indent="0" marL="0">
              <a:buNone/>
            </a:pPr>
            <a:r>
              <a:rPr lang="en-US" sz="1800" b="1" dirty="0">
                <a:solidFill>
                  <a:srgbClr val="718096"/>
                </a:solidFill>
                <a:latin typeface="Calibri" pitchFamily="34" charset="0"/>
                <a:ea typeface="Calibri" pitchFamily="34" charset="-122"/>
                <a:cs typeface="Calibri" pitchFamily="34" charset="-120"/>
              </a:rPr>
              <a:t>→</a:t>
            </a:r>
            <a:endParaRPr lang="en-US" sz="1800" dirty="0"/>
          </a:p>
        </p:txBody>
      </p:sp>
      <p:sp>
        <p:nvSpPr>
          <p:cNvPr id="24" name="Shape 22"/>
          <p:cNvSpPr/>
          <p:nvPr/>
        </p:nvSpPr>
        <p:spPr>
          <a:xfrm>
            <a:off x="6227064" y="1097280"/>
            <a:ext cx="1847088" cy="3474720"/>
          </a:xfrm>
          <a:prstGeom prst="rect">
            <a:avLst/>
          </a:prstGeom>
          <a:solidFill>
            <a:srgbClr val="F5F7FA"/>
          </a:solidFill>
          <a:ln w="12700">
            <a:solidFill>
              <a:srgbClr val="F5F7FA"/>
            </a:solidFill>
            <a:prstDash val="solid"/>
          </a:ln>
        </p:spPr>
        <p:txBody>
          <a:bodyPr/>
          <a:p/>
        </p:txBody>
      </p:sp>
      <p:sp>
        <p:nvSpPr>
          <p:cNvPr id="25" name="Shape 23"/>
          <p:cNvSpPr/>
          <p:nvPr/>
        </p:nvSpPr>
        <p:spPr>
          <a:xfrm>
            <a:off x="6227064" y="1097280"/>
            <a:ext cx="1847088" cy="475488"/>
          </a:xfrm>
          <a:prstGeom prst="rect">
            <a:avLst/>
          </a:prstGeom>
          <a:solidFill>
            <a:srgbClr val="2C5F8A"/>
          </a:solidFill>
          <a:ln w="12700">
            <a:solidFill>
              <a:srgbClr val="2C5F8A"/>
            </a:solidFill>
            <a:prstDash val="solid"/>
          </a:ln>
        </p:spPr>
        <p:txBody>
          <a:bodyPr/>
          <a:p/>
        </p:txBody>
      </p:sp>
      <p:sp>
        <p:nvSpPr>
          <p:cNvPr id="26" name="Text 24"/>
          <p:cNvSpPr txBox="1"/>
          <p:nvPr/>
        </p:nvSpPr>
        <p:spPr>
          <a:xfrm>
            <a:off x="6281928" y="1115568"/>
            <a:ext cx="365760" cy="438912"/>
          </a:xfrm>
          <a:prstGeom prst="rect">
            <a:avLst/>
          </a:prstGeom>
          <a:noFill/>
          <a:ln/>
        </p:spPr>
        <p:txBody>
          <a:bodyPr wrap="square" lIns="25400" tIns="25400" rIns="25400" bIns="25400" rtlCol="0" anchor="ctr"/>
          <a:lstStyle/>
          <a:p>
            <a:pPr algn="ctr" indent="0" marL="0">
              <a:buNone/>
            </a:pPr>
            <a:r>
              <a:rPr lang="en-US" sz="1800" b="1" dirty="0">
                <a:solidFill>
                  <a:srgbClr val="CCCCCC"/>
                </a:solidFill>
                <a:latin typeface="Calibri" pitchFamily="34" charset="0"/>
                <a:ea typeface="Calibri" pitchFamily="34" charset="-122"/>
                <a:cs typeface="Calibri" pitchFamily="34" charset="-120"/>
              </a:rPr>
              <a:t>4</a:t>
            </a:r>
            <a:endParaRPr lang="en-US" sz="1800" dirty="0"/>
          </a:p>
        </p:txBody>
      </p:sp>
      <p:sp>
        <p:nvSpPr>
          <p:cNvPr id="27" name="Text 25"/>
          <p:cNvSpPr txBox="1"/>
          <p:nvPr/>
        </p:nvSpPr>
        <p:spPr>
          <a:xfrm>
            <a:off x="6665976" y="1133856"/>
            <a:ext cx="1371600" cy="420624"/>
          </a:xfrm>
          <a:prstGeom prst="rect">
            <a:avLst/>
          </a:prstGeom>
          <a:noFill/>
          <a:ln/>
        </p:spPr>
        <p:txBody>
          <a:bodyPr wrap="square" lIns="25400" tIns="25400" rIns="25400" bIns="2540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70/15/15 Split</a:t>
            </a:r>
            <a:endParaRPr lang="en-US" sz="1200" dirty="0"/>
          </a:p>
        </p:txBody>
      </p:sp>
      <p:sp>
        <p:nvSpPr>
          <p:cNvPr id="28" name="Text 26"/>
          <p:cNvSpPr txBox="1"/>
          <p:nvPr/>
        </p:nvSpPr>
        <p:spPr>
          <a:xfrm>
            <a:off x="6318504" y="1609344"/>
            <a:ext cx="1691640" cy="2926080"/>
          </a:xfrm>
          <a:prstGeom prst="rect">
            <a:avLst/>
          </a:prstGeom>
          <a:noFill/>
          <a:ln/>
        </p:spPr>
        <p:txBody>
          <a:bodyPr wrap="square" lIns="25400" tIns="25400" rIns="25400" bIns="25400" rtlCol="0" anchor="t"/>
          <a:lstStyle/>
          <a:p>
            <a:pPr algn="l" indent="0" marL="0">
              <a:buNone/>
            </a:pPr>
            <a:r>
              <a:rPr lang="en-US" sz="1100" dirty="0">
                <a:solidFill>
                  <a:srgbClr val="1A202C"/>
                </a:solidFill>
                <a:latin typeface="Calibri" pitchFamily="34" charset="0"/>
                <a:ea typeface="Calibri" pitchFamily="34" charset="-122"/>
                <a:cs typeface="Calibri" pitchFamily="34" charset="-120"/>
              </a:rPr>
              <a:t>6,924 training rows</a:t>
            </a:r>
            <a:endParaRPr lang="en-US" sz="1100" dirty="0"/>
          </a:p>
          <a:p>
            <a:pPr algn="l" indent="0" marL="0">
              <a:buNone/>
            </a:pPr>
            <a:r>
              <a:rPr lang="en-US" sz="1100" dirty="0">
                <a:solidFill>
                  <a:srgbClr val="1A202C"/>
                </a:solidFill>
                <a:latin typeface="Calibri" pitchFamily="34" charset="0"/>
                <a:ea typeface="Calibri" pitchFamily="34" charset="-122"/>
                <a:cs typeface="Calibri" pitchFamily="34" charset="-120"/>
              </a:rPr>
              <a:t>1,484 validation rows</a:t>
            </a:r>
            <a:endParaRPr lang="en-US" sz="1100" dirty="0"/>
          </a:p>
          <a:p>
            <a:pPr algn="l" indent="0" marL="0">
              <a:buNone/>
            </a:pPr>
            <a:r>
              <a:rPr lang="en-US" sz="1100" dirty="0">
                <a:solidFill>
                  <a:srgbClr val="1A202C"/>
                </a:solidFill>
                <a:latin typeface="Calibri" pitchFamily="34" charset="0"/>
                <a:ea typeface="Calibri" pitchFamily="34" charset="-122"/>
                <a:cs typeface="Calibri" pitchFamily="34" charset="-120"/>
              </a:rPr>
              <a:t>1,483 test (held out)</a:t>
            </a:r>
            <a:endParaRPr lang="en-US" sz="1100" dirty="0"/>
          </a:p>
          <a:p>
            <a:pPr algn="l" indent="0" marL="0">
              <a:buNone/>
            </a:pPr>
            <a:r>
              <a:rPr lang="en-US" sz="1100" dirty="0">
                <a:solidFill>
                  <a:srgbClr val="1A202C"/>
                </a:solidFill>
                <a:latin typeface="Calibri" pitchFamily="34" charset="0"/>
                <a:ea typeface="Calibri" pitchFamily="34" charset="-122"/>
                <a:cs typeface="Calibri" pitchFamily="34" charset="-120"/>
              </a:rPr>
              <a:t>random_state=42</a:t>
            </a:r>
            <a:endParaRPr lang="en-US" sz="1100" dirty="0"/>
          </a:p>
        </p:txBody>
      </p:sp>
      <p:sp>
        <p:nvSpPr>
          <p:cNvPr id="29" name="Text 27"/>
          <p:cNvSpPr txBox="1"/>
          <p:nvPr/>
        </p:nvSpPr>
        <p:spPr>
          <a:xfrm>
            <a:off x="8074152" y="2468880"/>
            <a:ext cx="137160" cy="548640"/>
          </a:xfrm>
          <a:prstGeom prst="rect">
            <a:avLst/>
          </a:prstGeom>
          <a:noFill/>
          <a:ln/>
        </p:spPr>
        <p:txBody>
          <a:bodyPr wrap="square" lIns="25400" tIns="25400" rIns="25400" bIns="25400" rtlCol="0" anchor="ctr"/>
          <a:lstStyle/>
          <a:p>
            <a:pPr algn="ctr" indent="0" marL="0">
              <a:buNone/>
            </a:pPr>
            <a:r>
              <a:rPr lang="en-US" sz="1800" b="1" dirty="0">
                <a:solidFill>
                  <a:srgbClr val="718096"/>
                </a:solidFill>
                <a:latin typeface="Calibri" pitchFamily="34" charset="0"/>
                <a:ea typeface="Calibri" pitchFamily="34" charset="-122"/>
                <a:cs typeface="Calibri" pitchFamily="34" charset="-120"/>
              </a:rPr>
              <a:t>→</a:t>
            </a:r>
            <a:endParaRPr lang="en-US" sz="1800" dirty="0"/>
          </a:p>
        </p:txBody>
      </p:sp>
      <p:sp>
        <p:nvSpPr>
          <p:cNvPr id="30" name="Shape 28"/>
          <p:cNvSpPr/>
          <p:nvPr/>
        </p:nvSpPr>
        <p:spPr>
          <a:xfrm>
            <a:off x="8211312" y="1097280"/>
            <a:ext cx="1847088" cy="3474720"/>
          </a:xfrm>
          <a:prstGeom prst="rect">
            <a:avLst/>
          </a:prstGeom>
          <a:solidFill>
            <a:srgbClr val="F5F7FA"/>
          </a:solidFill>
          <a:ln w="12700">
            <a:solidFill>
              <a:srgbClr val="F5F7FA"/>
            </a:solidFill>
            <a:prstDash val="solid"/>
          </a:ln>
        </p:spPr>
        <p:txBody>
          <a:bodyPr/>
          <a:p/>
        </p:txBody>
      </p:sp>
      <p:sp>
        <p:nvSpPr>
          <p:cNvPr id="31" name="Shape 29"/>
          <p:cNvSpPr/>
          <p:nvPr/>
        </p:nvSpPr>
        <p:spPr>
          <a:xfrm>
            <a:off x="8211312" y="1097280"/>
            <a:ext cx="1847088" cy="475488"/>
          </a:xfrm>
          <a:prstGeom prst="rect">
            <a:avLst/>
          </a:prstGeom>
          <a:solidFill>
            <a:srgbClr val="1E3A5F"/>
          </a:solidFill>
          <a:ln w="12700">
            <a:solidFill>
              <a:srgbClr val="1E3A5F"/>
            </a:solidFill>
            <a:prstDash val="solid"/>
          </a:ln>
        </p:spPr>
        <p:txBody>
          <a:bodyPr/>
          <a:p/>
        </p:txBody>
      </p:sp>
      <p:sp>
        <p:nvSpPr>
          <p:cNvPr id="32" name="Text 30"/>
          <p:cNvSpPr txBox="1"/>
          <p:nvPr/>
        </p:nvSpPr>
        <p:spPr>
          <a:xfrm>
            <a:off x="8266176" y="1115568"/>
            <a:ext cx="365760" cy="438912"/>
          </a:xfrm>
          <a:prstGeom prst="rect">
            <a:avLst/>
          </a:prstGeom>
          <a:noFill/>
          <a:ln/>
        </p:spPr>
        <p:txBody>
          <a:bodyPr wrap="square" lIns="25400" tIns="25400" rIns="25400" bIns="25400" rtlCol="0" anchor="ctr"/>
          <a:lstStyle/>
          <a:p>
            <a:pPr algn="ctr" indent="0" marL="0">
              <a:buNone/>
            </a:pPr>
            <a:r>
              <a:rPr lang="en-US" sz="1800" b="1" dirty="0">
                <a:solidFill>
                  <a:srgbClr val="CCCCCC"/>
                </a:solidFill>
                <a:latin typeface="Calibri" pitchFamily="34" charset="0"/>
                <a:ea typeface="Calibri" pitchFamily="34" charset="-122"/>
                <a:cs typeface="Calibri" pitchFamily="34" charset="-120"/>
              </a:rPr>
              <a:t>5</a:t>
            </a:r>
            <a:endParaRPr lang="en-US" sz="1800" dirty="0"/>
          </a:p>
        </p:txBody>
      </p:sp>
      <p:sp>
        <p:nvSpPr>
          <p:cNvPr id="33" name="Text 31"/>
          <p:cNvSpPr txBox="1"/>
          <p:nvPr/>
        </p:nvSpPr>
        <p:spPr>
          <a:xfrm>
            <a:off x="8650224" y="1133856"/>
            <a:ext cx="1371600" cy="420624"/>
          </a:xfrm>
          <a:prstGeom prst="rect">
            <a:avLst/>
          </a:prstGeom>
          <a:noFill/>
          <a:ln/>
        </p:spPr>
        <p:txBody>
          <a:bodyPr wrap="square" lIns="25400" tIns="25400" rIns="25400" bIns="2540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DNN Design</a:t>
            </a:r>
            <a:endParaRPr lang="en-US" sz="1200" dirty="0"/>
          </a:p>
        </p:txBody>
      </p:sp>
      <p:sp>
        <p:nvSpPr>
          <p:cNvPr id="34" name="Text 32"/>
          <p:cNvSpPr txBox="1"/>
          <p:nvPr/>
        </p:nvSpPr>
        <p:spPr>
          <a:xfrm>
            <a:off x="8302752" y="1609344"/>
            <a:ext cx="1691640" cy="2926080"/>
          </a:xfrm>
          <a:prstGeom prst="rect">
            <a:avLst/>
          </a:prstGeom>
          <a:noFill/>
          <a:ln/>
        </p:spPr>
        <p:txBody>
          <a:bodyPr wrap="square" lIns="25400" tIns="25400" rIns="25400" bIns="25400" rtlCol="0" anchor="t"/>
          <a:lstStyle/>
          <a:p>
            <a:pPr algn="l" indent="0" marL="0">
              <a:buNone/>
            </a:pPr>
            <a:r>
              <a:rPr lang="en-US" sz="1100" dirty="0">
                <a:solidFill>
                  <a:srgbClr val="1A202C"/>
                </a:solidFill>
                <a:latin typeface="Calibri" pitchFamily="34" charset="0"/>
                <a:ea typeface="Calibri" pitchFamily="34" charset="-122"/>
                <a:cs typeface="Calibri" pitchFamily="34" charset="-120"/>
              </a:rPr>
              <a:t>CropYieldNet</a:t>
            </a:r>
            <a:endParaRPr lang="en-US" sz="1100" dirty="0"/>
          </a:p>
          <a:p>
            <a:pPr algn="l" indent="0" marL="0">
              <a:buNone/>
            </a:pPr>
            <a:r>
              <a:rPr lang="en-US" sz="1100" dirty="0">
                <a:solidFill>
                  <a:srgbClr val="1A202C"/>
                </a:solidFill>
                <a:latin typeface="Calibri" pitchFamily="34" charset="0"/>
                <a:ea typeface="Calibri" pitchFamily="34" charset="-122"/>
                <a:cs typeface="Calibri" pitchFamily="34" charset="-120"/>
              </a:rPr>
              <a:t>Input(11)→128→64</a:t>
            </a:r>
            <a:endParaRPr lang="en-US" sz="1100" dirty="0"/>
          </a:p>
          <a:p>
            <a:pPr algn="l" indent="0" marL="0">
              <a:buNone/>
            </a:pPr>
            <a:r>
              <a:rPr lang="en-US" sz="1100" dirty="0">
                <a:solidFill>
                  <a:srgbClr val="1A202C"/>
                </a:solidFill>
                <a:latin typeface="Calibri" pitchFamily="34" charset="0"/>
                <a:ea typeface="Calibri" pitchFamily="34" charset="-122"/>
                <a:cs typeface="Calibri" pitchFamily="34" charset="-120"/>
              </a:rPr>
              <a:t>→32→16→Output(1)</a:t>
            </a:r>
            <a:endParaRPr lang="en-US" sz="1100" dirty="0"/>
          </a:p>
          <a:p>
            <a:pPr algn="l" indent="0" marL="0">
              <a:buNone/>
            </a:pPr>
            <a:r>
              <a:rPr lang="en-US" sz="1100" dirty="0">
                <a:solidFill>
                  <a:srgbClr val="1A202C"/>
                </a:solidFill>
                <a:latin typeface="Calibri" pitchFamily="34" charset="0"/>
                <a:ea typeface="Calibri" pitchFamily="34" charset="-122"/>
                <a:cs typeface="Calibri" pitchFamily="34" charset="-120"/>
              </a:rPr>
              <a:t>BatchNorm + Dropout</a:t>
            </a:r>
            <a:endParaRPr lang="en-US" sz="1100" dirty="0"/>
          </a:p>
        </p:txBody>
      </p:sp>
      <p:sp>
        <p:nvSpPr>
          <p:cNvPr id="35" name="Text 33"/>
          <p:cNvSpPr txBox="1"/>
          <p:nvPr/>
        </p:nvSpPr>
        <p:spPr>
          <a:xfrm>
            <a:off x="10058400" y="2468880"/>
            <a:ext cx="137160" cy="548640"/>
          </a:xfrm>
          <a:prstGeom prst="rect">
            <a:avLst/>
          </a:prstGeom>
          <a:noFill/>
          <a:ln/>
        </p:spPr>
        <p:txBody>
          <a:bodyPr wrap="square" lIns="25400" tIns="25400" rIns="25400" bIns="25400" rtlCol="0" anchor="ctr"/>
          <a:lstStyle/>
          <a:p>
            <a:pPr algn="ctr" indent="0" marL="0">
              <a:buNone/>
            </a:pPr>
            <a:r>
              <a:rPr lang="en-US" sz="1800" b="1" dirty="0">
                <a:solidFill>
                  <a:srgbClr val="718096"/>
                </a:solidFill>
                <a:latin typeface="Calibri" pitchFamily="34" charset="0"/>
                <a:ea typeface="Calibri" pitchFamily="34" charset="-122"/>
                <a:cs typeface="Calibri" pitchFamily="34" charset="-120"/>
              </a:rPr>
              <a:t>→</a:t>
            </a:r>
            <a:endParaRPr lang="en-US" sz="1800" dirty="0"/>
          </a:p>
        </p:txBody>
      </p:sp>
      <p:sp>
        <p:nvSpPr>
          <p:cNvPr id="36" name="Shape 34"/>
          <p:cNvSpPr/>
          <p:nvPr/>
        </p:nvSpPr>
        <p:spPr>
          <a:xfrm>
            <a:off x="10195560" y="1097280"/>
            <a:ext cx="1847088" cy="3474720"/>
          </a:xfrm>
          <a:prstGeom prst="rect">
            <a:avLst/>
          </a:prstGeom>
          <a:solidFill>
            <a:srgbClr val="F5F7FA"/>
          </a:solidFill>
          <a:ln w="12700">
            <a:solidFill>
              <a:srgbClr val="F5F7FA"/>
            </a:solidFill>
            <a:prstDash val="solid"/>
          </a:ln>
        </p:spPr>
        <p:txBody>
          <a:bodyPr/>
          <a:p/>
        </p:txBody>
      </p:sp>
      <p:sp>
        <p:nvSpPr>
          <p:cNvPr id="37" name="Shape 35"/>
          <p:cNvSpPr/>
          <p:nvPr/>
        </p:nvSpPr>
        <p:spPr>
          <a:xfrm>
            <a:off x="10195560" y="1097280"/>
            <a:ext cx="1847088" cy="475488"/>
          </a:xfrm>
          <a:prstGeom prst="rect">
            <a:avLst/>
          </a:prstGeom>
          <a:solidFill>
            <a:srgbClr val="0D6B72"/>
          </a:solidFill>
          <a:ln w="12700">
            <a:solidFill>
              <a:srgbClr val="0D6B72"/>
            </a:solidFill>
            <a:prstDash val="solid"/>
          </a:ln>
        </p:spPr>
        <p:txBody>
          <a:bodyPr/>
          <a:p/>
        </p:txBody>
      </p:sp>
      <p:sp>
        <p:nvSpPr>
          <p:cNvPr id="38" name="Text 36"/>
          <p:cNvSpPr txBox="1"/>
          <p:nvPr/>
        </p:nvSpPr>
        <p:spPr>
          <a:xfrm>
            <a:off x="10250424" y="1115568"/>
            <a:ext cx="365760" cy="438912"/>
          </a:xfrm>
          <a:prstGeom prst="rect">
            <a:avLst/>
          </a:prstGeom>
          <a:noFill/>
          <a:ln/>
        </p:spPr>
        <p:txBody>
          <a:bodyPr wrap="square" lIns="25400" tIns="25400" rIns="25400" bIns="25400" rtlCol="0" anchor="ctr"/>
          <a:lstStyle/>
          <a:p>
            <a:pPr algn="ctr" indent="0" marL="0">
              <a:buNone/>
            </a:pPr>
            <a:r>
              <a:rPr lang="en-US" sz="1800" b="1" dirty="0">
                <a:solidFill>
                  <a:srgbClr val="CCCCCC"/>
                </a:solidFill>
                <a:latin typeface="Calibri" pitchFamily="34" charset="0"/>
                <a:ea typeface="Calibri" pitchFamily="34" charset="-122"/>
                <a:cs typeface="Calibri" pitchFamily="34" charset="-120"/>
              </a:rPr>
              <a:t>6</a:t>
            </a:r>
            <a:endParaRPr lang="en-US" sz="1800" dirty="0"/>
          </a:p>
        </p:txBody>
      </p:sp>
      <p:sp>
        <p:nvSpPr>
          <p:cNvPr id="39" name="Text 37"/>
          <p:cNvSpPr txBox="1"/>
          <p:nvPr/>
        </p:nvSpPr>
        <p:spPr>
          <a:xfrm>
            <a:off x="10634472" y="1133856"/>
            <a:ext cx="1371600" cy="420624"/>
          </a:xfrm>
          <a:prstGeom prst="rect">
            <a:avLst/>
          </a:prstGeom>
          <a:noFill/>
          <a:ln/>
        </p:spPr>
        <p:txBody>
          <a:bodyPr wrap="square" lIns="25400" tIns="25400" rIns="25400" bIns="2540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RF Baseline</a:t>
            </a:r>
            <a:endParaRPr lang="en-US" sz="1200" dirty="0"/>
          </a:p>
        </p:txBody>
      </p:sp>
      <p:sp>
        <p:nvSpPr>
          <p:cNvPr id="40" name="Text 38"/>
          <p:cNvSpPr txBox="1"/>
          <p:nvPr/>
        </p:nvSpPr>
        <p:spPr>
          <a:xfrm>
            <a:off x="10287000" y="1609344"/>
            <a:ext cx="1691640" cy="2926080"/>
          </a:xfrm>
          <a:prstGeom prst="rect">
            <a:avLst/>
          </a:prstGeom>
          <a:noFill/>
          <a:ln/>
        </p:spPr>
        <p:txBody>
          <a:bodyPr wrap="square" lIns="25400" tIns="25400" rIns="25400" bIns="25400" rtlCol="0" anchor="t"/>
          <a:lstStyle/>
          <a:p>
            <a:pPr algn="l" indent="0" marL="0">
              <a:buNone/>
            </a:pPr>
            <a:r>
              <a:rPr lang="en-US" sz="1100" dirty="0">
                <a:solidFill>
                  <a:srgbClr val="1A202C"/>
                </a:solidFill>
                <a:latin typeface="Calibri" pitchFamily="34" charset="0"/>
                <a:ea typeface="Calibri" pitchFamily="34" charset="-122"/>
                <a:cs typeface="Calibri" pitchFamily="34" charset="-120"/>
              </a:rPr>
              <a:t>200 trees</a:t>
            </a:r>
            <a:endParaRPr lang="en-US" sz="1100" dirty="0"/>
          </a:p>
          <a:p>
            <a:pPr algn="l" indent="0" marL="0">
              <a:buNone/>
            </a:pPr>
            <a:r>
              <a:rPr lang="en-US" sz="1100" dirty="0">
                <a:solidFill>
                  <a:srgbClr val="1A202C"/>
                </a:solidFill>
                <a:latin typeface="Calibri" pitchFamily="34" charset="0"/>
                <a:ea typeface="Calibri" pitchFamily="34" charset="-122"/>
                <a:cs typeface="Calibri" pitchFamily="34" charset="-120"/>
              </a:rPr>
              <a:t>max_depth=None</a:t>
            </a:r>
            <a:endParaRPr lang="en-US" sz="1100" dirty="0"/>
          </a:p>
          <a:p>
            <a:pPr algn="l" indent="0" marL="0">
              <a:buNone/>
            </a:pPr>
            <a:r>
              <a:rPr lang="en-US" sz="1100" dirty="0">
                <a:solidFill>
                  <a:srgbClr val="1A202C"/>
                </a:solidFill>
                <a:latin typeface="Calibri" pitchFamily="34" charset="0"/>
                <a:ea typeface="Calibri" pitchFamily="34" charset="-122"/>
                <a:cs typeface="Calibri" pitchFamily="34" charset="-120"/>
              </a:rPr>
              <a:t>scikit-learn 1.4.2</a:t>
            </a:r>
            <a:endParaRPr lang="en-US" sz="1100" dirty="0"/>
          </a:p>
          <a:p>
            <a:pPr algn="l" indent="0" marL="0">
              <a:buNone/>
            </a:pPr>
            <a:r>
              <a:rPr lang="en-US" sz="1100" dirty="0">
                <a:solidFill>
                  <a:srgbClr val="1A202C"/>
                </a:solidFill>
                <a:latin typeface="Calibri" pitchFamily="34" charset="0"/>
                <a:ea typeface="Calibri" pitchFamily="34" charset="-122"/>
                <a:cs typeface="Calibri" pitchFamily="34" charset="-120"/>
              </a:rPr>
              <a:t>Same 11 features</a:t>
            </a:r>
            <a:endParaRPr lang="en-US" sz="1100" dirty="0"/>
          </a:p>
        </p:txBody>
      </p:sp>
      <p:sp>
        <p:nvSpPr>
          <p:cNvPr id="41" name="Shape 39"/>
          <p:cNvSpPr/>
          <p:nvPr/>
        </p:nvSpPr>
        <p:spPr>
          <a:xfrm>
            <a:off x="274320" y="4736592"/>
            <a:ext cx="11612880" cy="45720"/>
          </a:xfrm>
          <a:prstGeom prst="rect">
            <a:avLst/>
          </a:prstGeom>
          <a:solidFill>
            <a:srgbClr val="0D6B72"/>
          </a:solidFill>
          <a:ln w="12700">
            <a:solidFill>
              <a:srgbClr val="0D6B72"/>
            </a:solidFill>
            <a:prstDash val="solid"/>
          </a:ln>
        </p:spPr>
        <p:txBody>
          <a:bodyPr/>
          <a:p/>
        </p:txBody>
      </p:sp>
      <p:sp>
        <p:nvSpPr>
          <p:cNvPr id="42" name="Text 40"/>
          <p:cNvSpPr txBox="1"/>
          <p:nvPr/>
        </p:nvSpPr>
        <p:spPr>
          <a:xfrm>
            <a:off x="274320" y="4828032"/>
            <a:ext cx="11612880" cy="384048"/>
          </a:xfrm>
          <a:prstGeom prst="rect">
            <a:avLst/>
          </a:prstGeom>
          <a:noFill/>
          <a:ln/>
        </p:spPr>
        <p:txBody>
          <a:bodyPr wrap="square" lIns="25400" tIns="25400" rIns="25400" bIns="25400" rtlCol="0" anchor="ctr"/>
          <a:lstStyle/>
          <a:p>
            <a:pPr algn="l" indent="0" marL="0">
              <a:buNone/>
            </a:pPr>
            <a:r>
              <a:rPr lang="en-US" sz="1150" i="1" dirty="0">
                <a:solidFill>
                  <a:srgbClr val="718096"/>
                </a:solidFill>
                <a:latin typeface="Calibri" pitchFamily="34" charset="0"/>
                <a:ea typeface="Calibri" pitchFamily="34" charset="-122"/>
                <a:cs typeface="Calibri" pitchFamily="34" charset="-120"/>
              </a:rPr>
              <a:t>Pipeline continues on next slide: Steps 7–11 (Training → Validation → Test → Feature Importance → Interpretation)</a:t>
            </a:r>
            <a:endParaRPr lang="en-US" sz="1150" dirty="0"/>
          </a:p>
        </p:txBody>
      </p:sp>
      <p:sp>
        <p:nvSpPr>
          <p:cNvPr id="43" name="Shape 41"/>
          <p:cNvSpPr/>
          <p:nvPr/>
        </p:nvSpPr>
        <p:spPr>
          <a:xfrm>
            <a:off x="274320" y="5285232"/>
            <a:ext cx="11612880" cy="777240"/>
          </a:xfrm>
          <a:prstGeom prst="rect">
            <a:avLst/>
          </a:prstGeom>
          <a:solidFill>
            <a:srgbClr val="EBF0F7"/>
          </a:solidFill>
          <a:ln w="12700">
            <a:solidFill>
              <a:srgbClr val="EBF0F7"/>
            </a:solidFill>
            <a:prstDash val="solid"/>
          </a:ln>
        </p:spPr>
        <p:txBody>
          <a:bodyPr/>
          <a:p/>
        </p:txBody>
      </p:sp>
      <p:sp>
        <p:nvSpPr>
          <p:cNvPr id="44" name="Text 42"/>
          <p:cNvSpPr txBox="1"/>
          <p:nvPr/>
        </p:nvSpPr>
        <p:spPr>
          <a:xfrm>
            <a:off x="457200" y="5349240"/>
            <a:ext cx="11247120" cy="658368"/>
          </a:xfrm>
          <a:prstGeom prst="rect">
            <a:avLst/>
          </a:prstGeom>
          <a:noFill/>
          <a:ln/>
        </p:spPr>
        <p:txBody>
          <a:bodyPr wrap="square" lIns="25400" tIns="25400" rIns="25400" bIns="25400" rtlCol="0" anchor="ctr"/>
          <a:lstStyle/>
          <a:p>
            <a:pPr algn="l" indent="0" marL="0">
              <a:buNone/>
            </a:pPr>
            <a:r>
              <a:rPr lang="en-US" sz="1100" b="1" dirty="0">
                <a:solidFill>
                  <a:srgbClr val="1E3A5F"/>
                </a:solidFill>
                <a:latin typeface="Courier New" pitchFamily="34" charset="0"/>
                <a:ea typeface="Courier New" pitchFamily="34" charset="-122"/>
                <a:cs typeface="Courier New" pitchFamily="34" charset="-120"/>
              </a:rPr>
              <a:t>CropYieldNet Architecture:  Input(11) → BatchNorm → Dense(128) → ReLU → Dropout(30%) → Dense(64) → ReLU → BatchNorm → Dropout(20%) → Dense(32) → ReLU → BatchNorm → Dropout(10%) → Dense(16) → ReLU → Output(yield kg/m²)</a:t>
            </a:r>
            <a:endParaRPr lang="en-US" sz="1100" dirty="0"/>
          </a:p>
        </p:txBody>
      </p:sp>
      <p:sp>
        <p:nvSpPr>
          <p:cNvPr id="45" name="Shape 43"/>
          <p:cNvSpPr/>
          <p:nvPr/>
        </p:nvSpPr>
        <p:spPr>
          <a:xfrm>
            <a:off x="0" y="6510528"/>
            <a:ext cx="12161520" cy="347472"/>
          </a:xfrm>
          <a:prstGeom prst="rect">
            <a:avLst/>
          </a:prstGeom>
          <a:solidFill>
            <a:srgbClr val="E8EDF3"/>
          </a:solidFill>
          <a:ln w="12700">
            <a:solidFill>
              <a:srgbClr val="E8EDF3"/>
            </a:solidFill>
            <a:prstDash val="solid"/>
          </a:ln>
        </p:spPr>
        <p:txBody>
          <a:bodyPr/>
          <a:p/>
        </p:txBody>
      </p:sp>
      <p:sp>
        <p:nvSpPr>
          <p:cNvPr id="47" name="Text 45"/>
          <p:cNvSpPr txBox="1"/>
          <p:nvPr/>
        </p:nvSpPr>
        <p:spPr>
          <a:xfrm>
            <a:off x="9784080" y="6510528"/>
            <a:ext cx="2194560" cy="347472"/>
          </a:xfrm>
          <a:prstGeom prst="rect">
            <a:avLst/>
          </a:prstGeom>
          <a:noFill/>
          <a:ln/>
        </p:spPr>
        <p:txBody>
          <a:bodyPr wrap="square" lIns="25400" tIns="25400" rIns="25400" bIns="25400" rtlCol="0" anchor="ctr"/>
          <a:lstStyle/>
          <a:p>
            <a:pPr algn="r" indent="0" marL="0">
              <a:buNone/>
            </a:pPr>
            <a:r>
              <a:rPr lang="en-US" sz="1000" dirty="0">
                <a:solidFill>
                  <a:srgbClr val="718096"/>
                </a:solidFill>
                <a:latin typeface="Calibri" pitchFamily="34" charset="0"/>
                <a:ea typeface="Calibri" pitchFamily="34" charset="-122"/>
                <a:cs typeface="Calibri" pitchFamily="34" charset="-120"/>
              </a:rPr>
              <a:t>3:30 – 4:30</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E3A5F"/>
          </a:solidFill>
          <a:ln w="12700">
            <a:solidFill>
              <a:srgbClr val="1E3A5F"/>
            </a:solidFill>
            <a:prstDash val="solid"/>
          </a:ln>
        </p:spPr>
        <p:txBody>
          <a:bodyPr/>
          <a:p/>
        </p:txBody>
      </p:sp>
      <p:sp>
        <p:nvSpPr>
          <p:cNvPr id="3" name="Text 1"/>
          <p:cNvSpPr txBox="1"/>
          <p:nvPr/>
        </p:nvSpPr>
        <p:spPr>
          <a:xfrm>
            <a:off x="365760" y="45720"/>
            <a:ext cx="10058400" cy="566928"/>
          </a:xfrm>
          <a:prstGeom prst="rect">
            <a:avLst/>
          </a:prstGeom>
          <a:noFill/>
          <a:ln/>
        </p:spPr>
        <p:txBody>
          <a:bodyPr wrap="square" lIns="25400" tIns="25400" rIns="25400" bIns="2540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Deep Learning Pipeline — Steps 7 to 11 (Training → Interpretation)</a:t>
            </a:r>
            <a:endParaRPr lang="en-US" sz="2200" dirty="0"/>
          </a:p>
        </p:txBody>
      </p:sp>
      <p:sp>
        <p:nvSpPr>
          <p:cNvPr id="4" name="Text 2"/>
          <p:cNvSpPr txBox="1"/>
          <p:nvPr/>
        </p:nvSpPr>
        <p:spPr>
          <a:xfrm>
            <a:off x="365760" y="585216"/>
            <a:ext cx="10972800" cy="329184"/>
          </a:xfrm>
          <a:prstGeom prst="rect">
            <a:avLst/>
          </a:prstGeom>
          <a:noFill/>
          <a:ln/>
        </p:spPr>
        <p:txBody>
          <a:bodyPr wrap="square" lIns="25400" tIns="25400" rIns="25400" bIns="25400" rtlCol="0" anchor="ctr"/>
          <a:lstStyle/>
          <a:p>
            <a:pPr algn="l" indent="0" marL="0">
              <a:buNone/>
            </a:pPr>
            <a:r>
              <a:rPr lang="en-US" sz="1100" dirty="0">
                <a:solidFill>
                  <a:srgbClr val="B8CDE0"/>
                </a:solidFill>
                <a:latin typeface="Calibri" pitchFamily="34" charset="0"/>
                <a:ea typeface="Calibri" pitchFamily="34" charset="-122"/>
                <a:cs typeface="Calibri" pitchFamily="34" charset="-120"/>
              </a:rPr>
              <a:t>Completing the full pipeline | WHAT + HOW + WHY for every technical decision</a:t>
            </a:r>
            <a:endParaRPr lang="en-US" sz="1100" dirty="0"/>
          </a:p>
        </p:txBody>
      </p:sp>
      <p:sp>
        <p:nvSpPr>
          <p:cNvPr id="5" name="Shape 3"/>
          <p:cNvSpPr/>
          <p:nvPr/>
        </p:nvSpPr>
        <p:spPr>
          <a:xfrm>
            <a:off x="0" y="960120"/>
            <a:ext cx="12161520" cy="45720"/>
          </a:xfrm>
          <a:prstGeom prst="rect">
            <a:avLst/>
          </a:prstGeom>
          <a:solidFill>
            <a:srgbClr val="0D6B72"/>
          </a:solidFill>
          <a:ln w="12700">
            <a:solidFill>
              <a:srgbClr val="0D6B72"/>
            </a:solidFill>
            <a:prstDash val="solid"/>
          </a:ln>
        </p:spPr>
        <p:txBody>
          <a:bodyPr/>
          <a:p/>
        </p:txBody>
      </p:sp>
      <p:sp>
        <p:nvSpPr>
          <p:cNvPr id="6" name="Shape 4"/>
          <p:cNvSpPr/>
          <p:nvPr/>
        </p:nvSpPr>
        <p:spPr>
          <a:xfrm>
            <a:off x="274320" y="1097280"/>
            <a:ext cx="2212848" cy="3291840"/>
          </a:xfrm>
          <a:prstGeom prst="rect">
            <a:avLst/>
          </a:prstGeom>
          <a:solidFill>
            <a:srgbClr val="F5F7FA"/>
          </a:solidFill>
          <a:ln w="12700">
            <a:solidFill>
              <a:srgbClr val="F5F7FA"/>
            </a:solidFill>
            <a:prstDash val="solid"/>
          </a:ln>
        </p:spPr>
        <p:txBody>
          <a:bodyPr/>
          <a:p/>
        </p:txBody>
      </p:sp>
      <p:sp>
        <p:nvSpPr>
          <p:cNvPr id="7" name="Shape 5"/>
          <p:cNvSpPr/>
          <p:nvPr/>
        </p:nvSpPr>
        <p:spPr>
          <a:xfrm>
            <a:off x="274320" y="1097280"/>
            <a:ext cx="2212848" cy="475488"/>
          </a:xfrm>
          <a:prstGeom prst="rect">
            <a:avLst/>
          </a:prstGeom>
          <a:solidFill>
            <a:srgbClr val="1E3A5F"/>
          </a:solidFill>
          <a:ln w="12700">
            <a:solidFill>
              <a:srgbClr val="1E3A5F"/>
            </a:solidFill>
            <a:prstDash val="solid"/>
          </a:ln>
        </p:spPr>
        <p:txBody>
          <a:bodyPr/>
          <a:p/>
        </p:txBody>
      </p:sp>
      <p:sp>
        <p:nvSpPr>
          <p:cNvPr id="8" name="Text 6"/>
          <p:cNvSpPr txBox="1"/>
          <p:nvPr/>
        </p:nvSpPr>
        <p:spPr>
          <a:xfrm>
            <a:off x="329184" y="1115568"/>
            <a:ext cx="365760" cy="438912"/>
          </a:xfrm>
          <a:prstGeom prst="rect">
            <a:avLst/>
          </a:prstGeom>
          <a:noFill/>
          <a:ln/>
        </p:spPr>
        <p:txBody>
          <a:bodyPr wrap="square" lIns="25400" tIns="25400" rIns="25400" bIns="25400" rtlCol="0" anchor="ctr"/>
          <a:lstStyle/>
          <a:p>
            <a:pPr algn="ctr" indent="0" marL="0">
              <a:buNone/>
            </a:pPr>
            <a:r>
              <a:rPr lang="en-US" sz="1800" b="1" dirty="0">
                <a:solidFill>
                  <a:srgbClr val="CCCCCC"/>
                </a:solidFill>
                <a:latin typeface="Calibri" pitchFamily="34" charset="0"/>
                <a:ea typeface="Calibri" pitchFamily="34" charset="-122"/>
                <a:cs typeface="Calibri" pitchFamily="34" charset="-120"/>
              </a:rPr>
              <a:t>7</a:t>
            </a:r>
            <a:endParaRPr lang="en-US" sz="1800" dirty="0"/>
          </a:p>
        </p:txBody>
      </p:sp>
      <p:sp>
        <p:nvSpPr>
          <p:cNvPr id="9" name="Text 7"/>
          <p:cNvSpPr txBox="1"/>
          <p:nvPr/>
        </p:nvSpPr>
        <p:spPr>
          <a:xfrm>
            <a:off x="713232" y="1133856"/>
            <a:ext cx="1737360" cy="420624"/>
          </a:xfrm>
          <a:prstGeom prst="rect">
            <a:avLst/>
          </a:prstGeom>
          <a:noFill/>
          <a:ln/>
        </p:spPr>
        <p:txBody>
          <a:bodyPr wrap="square" lIns="25400" tIns="25400" rIns="25400" bIns="2540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Training &amp; Optimisation</a:t>
            </a:r>
            <a:endParaRPr lang="en-US" sz="1200" dirty="0"/>
          </a:p>
        </p:txBody>
      </p:sp>
      <p:sp>
        <p:nvSpPr>
          <p:cNvPr id="10" name="Text 8"/>
          <p:cNvSpPr txBox="1"/>
          <p:nvPr/>
        </p:nvSpPr>
        <p:spPr>
          <a:xfrm>
            <a:off x="365760" y="1627632"/>
            <a:ext cx="2057400" cy="2743200"/>
          </a:xfrm>
          <a:prstGeom prst="rect">
            <a:avLst/>
          </a:prstGeom>
          <a:noFill/>
          <a:ln/>
        </p:spPr>
        <p:txBody>
          <a:bodyPr wrap="square" lIns="25400" tIns="25400" rIns="25400" bIns="25400" rtlCol="0" anchor="t"/>
          <a:lstStyle/>
          <a:p>
            <a:pPr algn="l" indent="0" marL="0">
              <a:buNone/>
            </a:pPr>
            <a:r>
              <a:rPr lang="en-US" sz="1150" dirty="0">
                <a:solidFill>
                  <a:srgbClr val="1A202C"/>
                </a:solidFill>
                <a:latin typeface="Calibri" pitchFamily="34" charset="0"/>
                <a:ea typeface="Calibri" pitchFamily="34" charset="-122"/>
                <a:cs typeface="Calibri" pitchFamily="34" charset="-120"/>
              </a:rPr>
              <a:t>AdamW lr=0.001</a:t>
            </a:r>
            <a:endParaRPr lang="en-US" sz="1150" dirty="0"/>
          </a:p>
          <a:p>
            <a:pPr algn="l" indent="0" marL="0">
              <a:buNone/>
            </a:pPr>
            <a:r>
              <a:rPr lang="en-US" sz="1150" dirty="0">
                <a:solidFill>
                  <a:srgbClr val="1A202C"/>
                </a:solidFill>
                <a:latin typeface="Calibri" pitchFamily="34" charset="0"/>
                <a:ea typeface="Calibri" pitchFamily="34" charset="-122"/>
                <a:cs typeface="Calibri" pitchFamily="34" charset="-120"/>
              </a:rPr>
              <a:t>HuberLoss δ=1.0 (Sharma 2024)</a:t>
            </a:r>
            <a:endParaRPr lang="en-US" sz="1150" dirty="0"/>
          </a:p>
          <a:p>
            <a:pPr algn="l" indent="0" marL="0">
              <a:buNone/>
            </a:pPr>
            <a:r>
              <a:rPr lang="en-US" sz="1150" dirty="0">
                <a:solidFill>
                  <a:srgbClr val="1A202C"/>
                </a:solidFill>
                <a:latin typeface="Calibri" pitchFamily="34" charset="0"/>
                <a:ea typeface="Calibri" pitchFamily="34" charset="-122"/>
                <a:cs typeface="Calibri" pitchFamily="34" charset="-120"/>
              </a:rPr>
              <a:t>ReduceLROnPlateau</a:t>
            </a:r>
            <a:endParaRPr lang="en-US" sz="1150" dirty="0"/>
          </a:p>
          <a:p>
            <a:pPr algn="l" indent="0" marL="0">
              <a:buNone/>
            </a:pPr>
            <a:r>
              <a:rPr lang="en-US" sz="1150" dirty="0">
                <a:solidFill>
                  <a:srgbClr val="1A202C"/>
                </a:solidFill>
                <a:latin typeface="Calibri" pitchFamily="34" charset="0"/>
                <a:ea typeface="Calibri" pitchFamily="34" charset="-122"/>
                <a:cs typeface="Calibri" pitchFamily="34" charset="-120"/>
              </a:rPr>
              <a:t>Batch size=64</a:t>
            </a:r>
            <a:endParaRPr lang="en-US" sz="1150" dirty="0"/>
          </a:p>
        </p:txBody>
      </p:sp>
      <p:sp>
        <p:nvSpPr>
          <p:cNvPr id="11" name="Text 9"/>
          <p:cNvSpPr txBox="1"/>
          <p:nvPr/>
        </p:nvSpPr>
        <p:spPr>
          <a:xfrm>
            <a:off x="2487168" y="2560320"/>
            <a:ext cx="146304" cy="457200"/>
          </a:xfrm>
          <a:prstGeom prst="rect">
            <a:avLst/>
          </a:prstGeom>
          <a:noFill/>
          <a:ln/>
        </p:spPr>
        <p:txBody>
          <a:bodyPr wrap="square" lIns="25400" tIns="25400" rIns="25400" bIns="25400" rtlCol="0" anchor="ctr"/>
          <a:lstStyle/>
          <a:p>
            <a:pPr algn="ctr" indent="0" marL="0">
              <a:buNone/>
            </a:pPr>
            <a:r>
              <a:rPr lang="en-US" sz="1600" b="1" dirty="0">
                <a:solidFill>
                  <a:srgbClr val="718096"/>
                </a:solidFill>
                <a:latin typeface="Calibri" pitchFamily="34" charset="0"/>
                <a:ea typeface="Calibri" pitchFamily="34" charset="-122"/>
                <a:cs typeface="Calibri" pitchFamily="34" charset="-120"/>
              </a:rPr>
              <a:t>→</a:t>
            </a:r>
            <a:endParaRPr lang="en-US" sz="1600" dirty="0"/>
          </a:p>
        </p:txBody>
      </p:sp>
      <p:sp>
        <p:nvSpPr>
          <p:cNvPr id="12" name="Shape 10"/>
          <p:cNvSpPr/>
          <p:nvPr/>
        </p:nvSpPr>
        <p:spPr>
          <a:xfrm>
            <a:off x="2633472" y="1097280"/>
            <a:ext cx="2212848" cy="3291840"/>
          </a:xfrm>
          <a:prstGeom prst="rect">
            <a:avLst/>
          </a:prstGeom>
          <a:solidFill>
            <a:srgbClr val="F5F7FA"/>
          </a:solidFill>
          <a:ln w="12700">
            <a:solidFill>
              <a:srgbClr val="F5F7FA"/>
            </a:solidFill>
            <a:prstDash val="solid"/>
          </a:ln>
        </p:spPr>
        <p:txBody>
          <a:bodyPr/>
          <a:p/>
        </p:txBody>
      </p:sp>
      <p:sp>
        <p:nvSpPr>
          <p:cNvPr id="13" name="Shape 11"/>
          <p:cNvSpPr/>
          <p:nvPr/>
        </p:nvSpPr>
        <p:spPr>
          <a:xfrm>
            <a:off x="2633472" y="1097280"/>
            <a:ext cx="2212848" cy="475488"/>
          </a:xfrm>
          <a:prstGeom prst="rect">
            <a:avLst/>
          </a:prstGeom>
          <a:solidFill>
            <a:srgbClr val="0D6B72"/>
          </a:solidFill>
          <a:ln w="12700">
            <a:solidFill>
              <a:srgbClr val="0D6B72"/>
            </a:solidFill>
            <a:prstDash val="solid"/>
          </a:ln>
        </p:spPr>
        <p:txBody>
          <a:bodyPr/>
          <a:p/>
        </p:txBody>
      </p:sp>
      <p:sp>
        <p:nvSpPr>
          <p:cNvPr id="14" name="Text 12"/>
          <p:cNvSpPr txBox="1"/>
          <p:nvPr/>
        </p:nvSpPr>
        <p:spPr>
          <a:xfrm>
            <a:off x="2688336" y="1115568"/>
            <a:ext cx="365760" cy="438912"/>
          </a:xfrm>
          <a:prstGeom prst="rect">
            <a:avLst/>
          </a:prstGeom>
          <a:noFill/>
          <a:ln/>
        </p:spPr>
        <p:txBody>
          <a:bodyPr wrap="square" lIns="25400" tIns="25400" rIns="25400" bIns="25400" rtlCol="0" anchor="ctr"/>
          <a:lstStyle/>
          <a:p>
            <a:pPr algn="ctr" indent="0" marL="0">
              <a:buNone/>
            </a:pPr>
            <a:r>
              <a:rPr lang="en-US" sz="1800" b="1" dirty="0">
                <a:solidFill>
                  <a:srgbClr val="CCCCCC"/>
                </a:solidFill>
                <a:latin typeface="Calibri" pitchFamily="34" charset="0"/>
                <a:ea typeface="Calibri" pitchFamily="34" charset="-122"/>
                <a:cs typeface="Calibri" pitchFamily="34" charset="-120"/>
              </a:rPr>
              <a:t>8</a:t>
            </a:r>
            <a:endParaRPr lang="en-US" sz="1800" dirty="0"/>
          </a:p>
        </p:txBody>
      </p:sp>
      <p:sp>
        <p:nvSpPr>
          <p:cNvPr id="15" name="Text 13"/>
          <p:cNvSpPr txBox="1"/>
          <p:nvPr/>
        </p:nvSpPr>
        <p:spPr>
          <a:xfrm>
            <a:off x="3072384" y="1133856"/>
            <a:ext cx="1737360" cy="420624"/>
          </a:xfrm>
          <a:prstGeom prst="rect">
            <a:avLst/>
          </a:prstGeom>
          <a:noFill/>
          <a:ln/>
        </p:spPr>
        <p:txBody>
          <a:bodyPr wrap="square" lIns="25400" tIns="25400" rIns="25400" bIns="2540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Validation Monitoring</a:t>
            </a:r>
            <a:endParaRPr lang="en-US" sz="1200" dirty="0"/>
          </a:p>
        </p:txBody>
      </p:sp>
      <p:sp>
        <p:nvSpPr>
          <p:cNvPr id="16" name="Text 14"/>
          <p:cNvSpPr txBox="1"/>
          <p:nvPr/>
        </p:nvSpPr>
        <p:spPr>
          <a:xfrm>
            <a:off x="2724912" y="1627632"/>
            <a:ext cx="2057400" cy="2743200"/>
          </a:xfrm>
          <a:prstGeom prst="rect">
            <a:avLst/>
          </a:prstGeom>
          <a:noFill/>
          <a:ln/>
        </p:spPr>
        <p:txBody>
          <a:bodyPr wrap="square" lIns="25400" tIns="25400" rIns="25400" bIns="25400" rtlCol="0" anchor="t"/>
          <a:lstStyle/>
          <a:p>
            <a:pPr algn="l" indent="0" marL="0">
              <a:buNone/>
            </a:pPr>
            <a:r>
              <a:rPr lang="en-US" sz="1150" dirty="0">
                <a:solidFill>
                  <a:srgbClr val="1A202C"/>
                </a:solidFill>
                <a:latin typeface="Calibri" pitchFamily="34" charset="0"/>
                <a:ea typeface="Calibri" pitchFamily="34" charset="-122"/>
                <a:cs typeface="Calibri" pitchFamily="34" charset="-120"/>
              </a:rPr>
              <a:t>Smooth convergence confirmed</a:t>
            </a:r>
            <a:endParaRPr lang="en-US" sz="1150" dirty="0"/>
          </a:p>
          <a:p>
            <a:pPr algn="l" indent="0" marL="0">
              <a:buNone/>
            </a:pPr>
            <a:r>
              <a:rPr lang="en-US" sz="1150" dirty="0">
                <a:solidFill>
                  <a:srgbClr val="1A202C"/>
                </a:solidFill>
                <a:latin typeface="Calibri" pitchFamily="34" charset="0"/>
                <a:ea typeface="Calibri" pitchFamily="34" charset="-122"/>
                <a:cs typeface="Calibri" pitchFamily="34" charset="-120"/>
              </a:rPr>
              <a:t>No oscillation in loss curve</a:t>
            </a:r>
            <a:endParaRPr lang="en-US" sz="1150" dirty="0"/>
          </a:p>
          <a:p>
            <a:pPr algn="l" indent="0" marL="0">
              <a:buNone/>
            </a:pPr>
            <a:r>
              <a:rPr lang="en-US" sz="1150" dirty="0">
                <a:solidFill>
                  <a:srgbClr val="1A202C"/>
                </a:solidFill>
                <a:latin typeface="Calibri" pitchFamily="34" charset="0"/>
                <a:ea typeface="Calibri" pitchFamily="34" charset="-122"/>
                <a:cs typeface="Calibri" pitchFamily="34" charset="-120"/>
              </a:rPr>
              <a:t>Val R²=0.9416</a:t>
            </a:r>
            <a:endParaRPr lang="en-US" sz="1150" dirty="0"/>
          </a:p>
          <a:p>
            <a:pPr algn="l" indent="0" marL="0">
              <a:buNone/>
            </a:pPr>
            <a:r>
              <a:rPr lang="en-US" sz="1150" dirty="0">
                <a:solidFill>
                  <a:srgbClr val="1A202C"/>
                </a:solidFill>
                <a:latin typeface="Calibri" pitchFamily="34" charset="0"/>
                <a:ea typeface="Calibri" pitchFamily="34" charset="-122"/>
                <a:cs typeface="Calibri" pitchFamily="34" charset="-120"/>
              </a:rPr>
              <a:t>Early stop patience=25</a:t>
            </a:r>
            <a:endParaRPr lang="en-US" sz="1150" dirty="0"/>
          </a:p>
        </p:txBody>
      </p:sp>
      <p:sp>
        <p:nvSpPr>
          <p:cNvPr id="17" name="Text 15"/>
          <p:cNvSpPr txBox="1"/>
          <p:nvPr/>
        </p:nvSpPr>
        <p:spPr>
          <a:xfrm>
            <a:off x="4846320" y="2560320"/>
            <a:ext cx="146304" cy="457200"/>
          </a:xfrm>
          <a:prstGeom prst="rect">
            <a:avLst/>
          </a:prstGeom>
          <a:noFill/>
          <a:ln/>
        </p:spPr>
        <p:txBody>
          <a:bodyPr wrap="square" lIns="25400" tIns="25400" rIns="25400" bIns="25400" rtlCol="0" anchor="ctr"/>
          <a:lstStyle/>
          <a:p>
            <a:pPr algn="ctr" indent="0" marL="0">
              <a:buNone/>
            </a:pPr>
            <a:r>
              <a:rPr lang="en-US" sz="1600" b="1" dirty="0">
                <a:solidFill>
                  <a:srgbClr val="718096"/>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4992624" y="1097280"/>
            <a:ext cx="2212848" cy="3291840"/>
          </a:xfrm>
          <a:prstGeom prst="rect">
            <a:avLst/>
          </a:prstGeom>
          <a:solidFill>
            <a:srgbClr val="F5F7FA"/>
          </a:solidFill>
          <a:ln w="12700">
            <a:solidFill>
              <a:srgbClr val="F5F7FA"/>
            </a:solidFill>
            <a:prstDash val="solid"/>
          </a:ln>
        </p:spPr>
        <p:txBody>
          <a:bodyPr/>
          <a:p/>
        </p:txBody>
      </p:sp>
      <p:sp>
        <p:nvSpPr>
          <p:cNvPr id="19" name="Shape 17"/>
          <p:cNvSpPr/>
          <p:nvPr/>
        </p:nvSpPr>
        <p:spPr>
          <a:xfrm>
            <a:off x="4992624" y="1097280"/>
            <a:ext cx="2212848" cy="475488"/>
          </a:xfrm>
          <a:prstGeom prst="rect">
            <a:avLst/>
          </a:prstGeom>
          <a:solidFill>
            <a:srgbClr val="0A5C36"/>
          </a:solidFill>
          <a:ln w="12700">
            <a:solidFill>
              <a:srgbClr val="0A5C36"/>
            </a:solidFill>
            <a:prstDash val="solid"/>
          </a:ln>
        </p:spPr>
        <p:txBody>
          <a:bodyPr/>
          <a:p/>
        </p:txBody>
      </p:sp>
      <p:sp>
        <p:nvSpPr>
          <p:cNvPr id="20" name="Text 18"/>
          <p:cNvSpPr txBox="1"/>
          <p:nvPr/>
        </p:nvSpPr>
        <p:spPr>
          <a:xfrm>
            <a:off x="5047488" y="1115568"/>
            <a:ext cx="365760" cy="438912"/>
          </a:xfrm>
          <a:prstGeom prst="rect">
            <a:avLst/>
          </a:prstGeom>
          <a:noFill/>
          <a:ln/>
        </p:spPr>
        <p:txBody>
          <a:bodyPr wrap="square" lIns="25400" tIns="25400" rIns="25400" bIns="25400" rtlCol="0" anchor="ctr"/>
          <a:lstStyle/>
          <a:p>
            <a:pPr algn="ctr" indent="0" marL="0">
              <a:buNone/>
            </a:pPr>
            <a:r>
              <a:rPr lang="en-US" sz="1800" b="1" dirty="0">
                <a:solidFill>
                  <a:srgbClr val="CCCCCC"/>
                </a:solidFill>
                <a:latin typeface="Calibri" pitchFamily="34" charset="0"/>
                <a:ea typeface="Calibri" pitchFamily="34" charset="-122"/>
                <a:cs typeface="Calibri" pitchFamily="34" charset="-120"/>
              </a:rPr>
              <a:t>9</a:t>
            </a:r>
            <a:endParaRPr lang="en-US" sz="1800" dirty="0"/>
          </a:p>
        </p:txBody>
      </p:sp>
      <p:sp>
        <p:nvSpPr>
          <p:cNvPr id="21" name="Text 19"/>
          <p:cNvSpPr txBox="1"/>
          <p:nvPr/>
        </p:nvSpPr>
        <p:spPr>
          <a:xfrm>
            <a:off x="5431536" y="1133856"/>
            <a:ext cx="1737360" cy="420624"/>
          </a:xfrm>
          <a:prstGeom prst="rect">
            <a:avLst/>
          </a:prstGeom>
          <a:noFill/>
          <a:ln/>
        </p:spPr>
        <p:txBody>
          <a:bodyPr wrap="square" lIns="25400" tIns="25400" rIns="25400" bIns="2540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Test Evaluation</a:t>
            </a:r>
            <a:endParaRPr lang="en-US" sz="1200" dirty="0"/>
          </a:p>
        </p:txBody>
      </p:sp>
      <p:sp>
        <p:nvSpPr>
          <p:cNvPr id="22" name="Text 20"/>
          <p:cNvSpPr txBox="1"/>
          <p:nvPr/>
        </p:nvSpPr>
        <p:spPr>
          <a:xfrm>
            <a:off x="5084064" y="1627632"/>
            <a:ext cx="2057400" cy="2743200"/>
          </a:xfrm>
          <a:prstGeom prst="rect">
            <a:avLst/>
          </a:prstGeom>
          <a:noFill/>
          <a:ln/>
        </p:spPr>
        <p:txBody>
          <a:bodyPr wrap="square" lIns="25400" tIns="25400" rIns="25400" bIns="25400" rtlCol="0" anchor="t"/>
          <a:lstStyle/>
          <a:p>
            <a:pPr algn="l" indent="0" marL="0">
              <a:buNone/>
            </a:pPr>
            <a:r>
              <a:rPr lang="en-US" sz="1150" dirty="0">
                <a:solidFill>
                  <a:srgbClr val="1A202C"/>
                </a:solidFill>
                <a:latin typeface="Calibri" pitchFamily="34" charset="0"/>
                <a:ea typeface="Calibri" pitchFamily="34" charset="-122"/>
                <a:cs typeface="Calibri" pitchFamily="34" charset="-120"/>
              </a:rPr>
              <a:t>R²=0.9389 ✅</a:t>
            </a:r>
            <a:endParaRPr lang="en-US" sz="1150" dirty="0"/>
          </a:p>
          <a:p>
            <a:pPr algn="l" indent="0" marL="0">
              <a:buNone/>
            </a:pPr>
            <a:r>
              <a:rPr lang="en-US" sz="1150" dirty="0">
                <a:solidFill>
                  <a:srgbClr val="1A202C"/>
                </a:solidFill>
                <a:latin typeface="Calibri" pitchFamily="34" charset="0"/>
                <a:ea typeface="Calibri" pitchFamily="34" charset="-122"/>
                <a:cs typeface="Calibri" pitchFamily="34" charset="-120"/>
              </a:rPr>
              <a:t>MAE=0.165 kg/m²</a:t>
            </a:r>
            <a:endParaRPr lang="en-US" sz="1150" dirty="0"/>
          </a:p>
          <a:p>
            <a:pPr algn="l" indent="0" marL="0">
              <a:buNone/>
            </a:pPr>
            <a:r>
              <a:rPr lang="en-US" sz="1150" dirty="0">
                <a:solidFill>
                  <a:srgbClr val="1A202C"/>
                </a:solidFill>
                <a:latin typeface="Calibri" pitchFamily="34" charset="0"/>
                <a:ea typeface="Calibri" pitchFamily="34" charset="-122"/>
                <a:cs typeface="Calibri" pitchFamily="34" charset="-120"/>
              </a:rPr>
              <a:t>RMSE=0.206</a:t>
            </a:r>
            <a:endParaRPr lang="en-US" sz="1150" dirty="0"/>
          </a:p>
          <a:p>
            <a:pPr algn="l" indent="0" marL="0">
              <a:buNone/>
            </a:pPr>
            <a:r>
              <a:rPr lang="en-US" sz="1150" dirty="0">
                <a:solidFill>
                  <a:srgbClr val="1A202C"/>
                </a:solidFill>
                <a:latin typeface="Calibri" pitchFamily="34" charset="0"/>
                <a:ea typeface="Calibri" pitchFamily="34" charset="-122"/>
                <a:cs typeface="Calibri" pitchFamily="34" charset="-120"/>
              </a:rPr>
              <a:t>Gap=0.0016 ✅</a:t>
            </a:r>
            <a:endParaRPr lang="en-US" sz="1150" dirty="0"/>
          </a:p>
        </p:txBody>
      </p:sp>
      <p:sp>
        <p:nvSpPr>
          <p:cNvPr id="23" name="Text 21"/>
          <p:cNvSpPr txBox="1"/>
          <p:nvPr/>
        </p:nvSpPr>
        <p:spPr>
          <a:xfrm>
            <a:off x="7205472" y="2560320"/>
            <a:ext cx="146304" cy="457200"/>
          </a:xfrm>
          <a:prstGeom prst="rect">
            <a:avLst/>
          </a:prstGeom>
          <a:noFill/>
          <a:ln/>
        </p:spPr>
        <p:txBody>
          <a:bodyPr wrap="square" lIns="25400" tIns="25400" rIns="25400" bIns="25400" rtlCol="0" anchor="ctr"/>
          <a:lstStyle/>
          <a:p>
            <a:pPr algn="ctr" indent="0" marL="0">
              <a:buNone/>
            </a:pPr>
            <a:r>
              <a:rPr lang="en-US" sz="1600" b="1" dirty="0">
                <a:solidFill>
                  <a:srgbClr val="718096"/>
                </a:solidFill>
                <a:latin typeface="Calibri" pitchFamily="34" charset="0"/>
                <a:ea typeface="Calibri" pitchFamily="34" charset="-122"/>
                <a:cs typeface="Calibri" pitchFamily="34" charset="-120"/>
              </a:rPr>
              <a:t>→</a:t>
            </a:r>
            <a:endParaRPr lang="en-US" sz="1600" dirty="0"/>
          </a:p>
        </p:txBody>
      </p:sp>
      <p:sp>
        <p:nvSpPr>
          <p:cNvPr id="24" name="Shape 22"/>
          <p:cNvSpPr/>
          <p:nvPr/>
        </p:nvSpPr>
        <p:spPr>
          <a:xfrm>
            <a:off x="7351776" y="1097280"/>
            <a:ext cx="2212848" cy="3291840"/>
          </a:xfrm>
          <a:prstGeom prst="rect">
            <a:avLst/>
          </a:prstGeom>
          <a:solidFill>
            <a:srgbClr val="F5F7FA"/>
          </a:solidFill>
          <a:ln w="12700">
            <a:solidFill>
              <a:srgbClr val="F5F7FA"/>
            </a:solidFill>
            <a:prstDash val="solid"/>
          </a:ln>
        </p:spPr>
        <p:txBody>
          <a:bodyPr/>
          <a:p/>
        </p:txBody>
      </p:sp>
      <p:sp>
        <p:nvSpPr>
          <p:cNvPr id="25" name="Shape 23"/>
          <p:cNvSpPr/>
          <p:nvPr/>
        </p:nvSpPr>
        <p:spPr>
          <a:xfrm>
            <a:off x="7351776" y="1097280"/>
            <a:ext cx="2212848" cy="475488"/>
          </a:xfrm>
          <a:prstGeom prst="rect">
            <a:avLst/>
          </a:prstGeom>
          <a:solidFill>
            <a:srgbClr val="2C5F8A"/>
          </a:solidFill>
          <a:ln w="12700">
            <a:solidFill>
              <a:srgbClr val="2C5F8A"/>
            </a:solidFill>
            <a:prstDash val="solid"/>
          </a:ln>
        </p:spPr>
        <p:txBody>
          <a:bodyPr/>
          <a:p/>
        </p:txBody>
      </p:sp>
      <p:sp>
        <p:nvSpPr>
          <p:cNvPr id="26" name="Text 24"/>
          <p:cNvSpPr txBox="1"/>
          <p:nvPr/>
        </p:nvSpPr>
        <p:spPr>
          <a:xfrm>
            <a:off x="7406640" y="1115568"/>
            <a:ext cx="365760" cy="438912"/>
          </a:xfrm>
          <a:prstGeom prst="rect">
            <a:avLst/>
          </a:prstGeom>
          <a:noFill/>
          <a:ln/>
        </p:spPr>
        <p:txBody>
          <a:bodyPr wrap="square" lIns="25400" tIns="25400" rIns="25400" bIns="25400" rtlCol="0" anchor="ctr"/>
          <a:lstStyle/>
          <a:p>
            <a:pPr algn="ctr" indent="0" marL="0">
              <a:buNone/>
            </a:pPr>
            <a:r>
              <a:rPr lang="en-US" sz="1800" b="1" dirty="0">
                <a:solidFill>
                  <a:srgbClr val="CCCCCC"/>
                </a:solidFill>
                <a:latin typeface="Calibri" pitchFamily="34" charset="0"/>
                <a:ea typeface="Calibri" pitchFamily="34" charset="-122"/>
                <a:cs typeface="Calibri" pitchFamily="34" charset="-120"/>
              </a:rPr>
              <a:t>10</a:t>
            </a:r>
            <a:endParaRPr lang="en-US" sz="1800" dirty="0"/>
          </a:p>
        </p:txBody>
      </p:sp>
      <p:sp>
        <p:nvSpPr>
          <p:cNvPr id="27" name="Text 25"/>
          <p:cNvSpPr txBox="1"/>
          <p:nvPr/>
        </p:nvSpPr>
        <p:spPr>
          <a:xfrm>
            <a:off x="7790688" y="1133856"/>
            <a:ext cx="1737360" cy="420624"/>
          </a:xfrm>
          <a:prstGeom prst="rect">
            <a:avLst/>
          </a:prstGeom>
          <a:noFill/>
          <a:ln/>
        </p:spPr>
        <p:txBody>
          <a:bodyPr wrap="square" lIns="25400" tIns="25400" rIns="25400" bIns="2540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Feature Importance</a:t>
            </a:r>
            <a:endParaRPr lang="en-US" sz="1200" dirty="0"/>
          </a:p>
        </p:txBody>
      </p:sp>
      <p:sp>
        <p:nvSpPr>
          <p:cNvPr id="28" name="Text 26"/>
          <p:cNvSpPr txBox="1"/>
          <p:nvPr/>
        </p:nvSpPr>
        <p:spPr>
          <a:xfrm>
            <a:off x="7443216" y="1627632"/>
            <a:ext cx="2057400" cy="2743200"/>
          </a:xfrm>
          <a:prstGeom prst="rect">
            <a:avLst/>
          </a:prstGeom>
          <a:noFill/>
          <a:ln/>
        </p:spPr>
        <p:txBody>
          <a:bodyPr wrap="square" lIns="25400" tIns="25400" rIns="25400" bIns="25400" rtlCol="0" anchor="t"/>
          <a:lstStyle/>
          <a:p>
            <a:pPr algn="l" indent="0" marL="0">
              <a:buNone/>
            </a:pPr>
            <a:r>
              <a:rPr lang="en-US" sz="1150" dirty="0">
                <a:solidFill>
                  <a:srgbClr val="1A202C"/>
                </a:solidFill>
                <a:latin typeface="Calibri" pitchFamily="34" charset="0"/>
                <a:ea typeface="Calibri" pitchFamily="34" charset="-122"/>
                <a:cs typeface="Calibri" pitchFamily="34" charset="-120"/>
              </a:rPr>
              <a:t>Gradient sensitivity</a:t>
            </a:r>
            <a:endParaRPr lang="en-US" sz="1150" dirty="0"/>
          </a:p>
          <a:p>
            <a:pPr algn="l" indent="0" marL="0">
              <a:buNone/>
            </a:pPr>
            <a:r>
              <a:rPr lang="en-US" sz="1150" dirty="0">
                <a:solidFill>
                  <a:srgbClr val="1A202C"/>
                </a:solidFill>
                <a:latin typeface="Calibri" pitchFamily="34" charset="0"/>
                <a:ea typeface="Calibri" pitchFamily="34" charset="-122"/>
                <a:cs typeface="Calibri" pitchFamily="34" charset="-120"/>
              </a:rPr>
              <a:t>20 perturbation passes</a:t>
            </a:r>
            <a:endParaRPr lang="en-US" sz="1150" dirty="0"/>
          </a:p>
          <a:p>
            <a:pPr algn="l" indent="0" marL="0">
              <a:buNone/>
            </a:pPr>
            <a:r>
              <a:rPr lang="en-US" sz="1150" dirty="0">
                <a:solidFill>
                  <a:srgbClr val="1A202C"/>
                </a:solidFill>
                <a:latin typeface="Calibri" pitchFamily="34" charset="0"/>
                <a:ea typeface="Calibri" pitchFamily="34" charset="-122"/>
                <a:cs typeface="Calibri" pitchFamily="34" charset="-120"/>
              </a:rPr>
              <a:t>Nutrients 40%</a:t>
            </a:r>
            <a:endParaRPr lang="en-US" sz="1150" dirty="0"/>
          </a:p>
          <a:p>
            <a:pPr algn="l" indent="0" marL="0">
              <a:buNone/>
            </a:pPr>
            <a:r>
              <a:rPr lang="en-US" sz="1150" dirty="0">
                <a:solidFill>
                  <a:srgbClr val="1A202C"/>
                </a:solidFill>
                <a:latin typeface="Calibri" pitchFamily="34" charset="0"/>
                <a:ea typeface="Calibri" pitchFamily="34" charset="-122"/>
                <a:cs typeface="Calibri" pitchFamily="34" charset="-120"/>
              </a:rPr>
              <a:t>Temperature 28%</a:t>
            </a:r>
            <a:endParaRPr lang="en-US" sz="1150" dirty="0"/>
          </a:p>
        </p:txBody>
      </p:sp>
      <p:sp>
        <p:nvSpPr>
          <p:cNvPr id="29" name="Text 27"/>
          <p:cNvSpPr txBox="1"/>
          <p:nvPr/>
        </p:nvSpPr>
        <p:spPr>
          <a:xfrm>
            <a:off x="9564624" y="2560320"/>
            <a:ext cx="146304" cy="457200"/>
          </a:xfrm>
          <a:prstGeom prst="rect">
            <a:avLst/>
          </a:prstGeom>
          <a:noFill/>
          <a:ln/>
        </p:spPr>
        <p:txBody>
          <a:bodyPr wrap="square" lIns="25400" tIns="25400" rIns="25400" bIns="25400" rtlCol="0" anchor="ctr"/>
          <a:lstStyle/>
          <a:p>
            <a:pPr algn="ctr" indent="0" marL="0">
              <a:buNone/>
            </a:pPr>
            <a:r>
              <a:rPr lang="en-US" sz="1600" b="1" dirty="0">
                <a:solidFill>
                  <a:srgbClr val="718096"/>
                </a:solidFill>
                <a:latin typeface="Calibri" pitchFamily="34" charset="0"/>
                <a:ea typeface="Calibri" pitchFamily="34" charset="-122"/>
                <a:cs typeface="Calibri" pitchFamily="34" charset="-120"/>
              </a:rPr>
              <a:t>→</a:t>
            </a:r>
            <a:endParaRPr lang="en-US" sz="1600" dirty="0"/>
          </a:p>
        </p:txBody>
      </p:sp>
      <p:sp>
        <p:nvSpPr>
          <p:cNvPr id="30" name="Shape 28"/>
          <p:cNvSpPr/>
          <p:nvPr/>
        </p:nvSpPr>
        <p:spPr>
          <a:xfrm>
            <a:off x="9710928" y="1097280"/>
            <a:ext cx="2212848" cy="3291840"/>
          </a:xfrm>
          <a:prstGeom prst="rect">
            <a:avLst/>
          </a:prstGeom>
          <a:solidFill>
            <a:srgbClr val="F5F7FA"/>
          </a:solidFill>
          <a:ln w="12700">
            <a:solidFill>
              <a:srgbClr val="F5F7FA"/>
            </a:solidFill>
            <a:prstDash val="solid"/>
          </a:ln>
        </p:spPr>
        <p:txBody>
          <a:bodyPr/>
          <a:p/>
        </p:txBody>
      </p:sp>
      <p:sp>
        <p:nvSpPr>
          <p:cNvPr id="31" name="Shape 29"/>
          <p:cNvSpPr/>
          <p:nvPr/>
        </p:nvSpPr>
        <p:spPr>
          <a:xfrm>
            <a:off x="9710928" y="1097280"/>
            <a:ext cx="2212848" cy="475488"/>
          </a:xfrm>
          <a:prstGeom prst="rect">
            <a:avLst/>
          </a:prstGeom>
          <a:solidFill>
            <a:srgbClr val="1E3A5F"/>
          </a:solidFill>
          <a:ln w="12700">
            <a:solidFill>
              <a:srgbClr val="1E3A5F"/>
            </a:solidFill>
            <a:prstDash val="solid"/>
          </a:ln>
        </p:spPr>
        <p:txBody>
          <a:bodyPr/>
          <a:p/>
        </p:txBody>
      </p:sp>
      <p:sp>
        <p:nvSpPr>
          <p:cNvPr id="32" name="Text 30"/>
          <p:cNvSpPr txBox="1"/>
          <p:nvPr/>
        </p:nvSpPr>
        <p:spPr>
          <a:xfrm>
            <a:off x="9765792" y="1115568"/>
            <a:ext cx="365760" cy="438912"/>
          </a:xfrm>
          <a:prstGeom prst="rect">
            <a:avLst/>
          </a:prstGeom>
          <a:noFill/>
          <a:ln/>
        </p:spPr>
        <p:txBody>
          <a:bodyPr wrap="square" lIns="25400" tIns="25400" rIns="25400" bIns="25400" rtlCol="0" anchor="ctr"/>
          <a:lstStyle/>
          <a:p>
            <a:pPr algn="ctr" indent="0" marL="0">
              <a:buNone/>
            </a:pPr>
            <a:r>
              <a:rPr lang="en-US" sz="1800" b="1" dirty="0">
                <a:solidFill>
                  <a:srgbClr val="CCCCCC"/>
                </a:solidFill>
                <a:latin typeface="Calibri" pitchFamily="34" charset="0"/>
                <a:ea typeface="Calibri" pitchFamily="34" charset="-122"/>
                <a:cs typeface="Calibri" pitchFamily="34" charset="-120"/>
              </a:rPr>
              <a:t>11</a:t>
            </a:r>
            <a:endParaRPr lang="en-US" sz="1800" dirty="0"/>
          </a:p>
        </p:txBody>
      </p:sp>
      <p:sp>
        <p:nvSpPr>
          <p:cNvPr id="33" name="Text 31"/>
          <p:cNvSpPr txBox="1"/>
          <p:nvPr/>
        </p:nvSpPr>
        <p:spPr>
          <a:xfrm>
            <a:off x="10149840" y="1133856"/>
            <a:ext cx="1737360" cy="420624"/>
          </a:xfrm>
          <a:prstGeom prst="rect">
            <a:avLst/>
          </a:prstGeom>
          <a:noFill/>
          <a:ln/>
        </p:spPr>
        <p:txBody>
          <a:bodyPr wrap="square" lIns="25400" tIns="25400" rIns="25400" bIns="2540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Interpretation</a:t>
            </a:r>
            <a:endParaRPr lang="en-US" sz="1200" dirty="0"/>
          </a:p>
        </p:txBody>
      </p:sp>
      <p:sp>
        <p:nvSpPr>
          <p:cNvPr id="34" name="Text 32"/>
          <p:cNvSpPr txBox="1"/>
          <p:nvPr/>
        </p:nvSpPr>
        <p:spPr>
          <a:xfrm>
            <a:off x="9802368" y="1627632"/>
            <a:ext cx="2057400" cy="2743200"/>
          </a:xfrm>
          <a:prstGeom prst="rect">
            <a:avLst/>
          </a:prstGeom>
          <a:noFill/>
          <a:ln/>
        </p:spPr>
        <p:txBody>
          <a:bodyPr wrap="square" lIns="25400" tIns="25400" rIns="25400" bIns="25400" rtlCol="0" anchor="t"/>
          <a:lstStyle/>
          <a:p>
            <a:pPr algn="l" indent="0" marL="0">
              <a:buNone/>
            </a:pPr>
            <a:r>
              <a:rPr lang="en-US" sz="1150" dirty="0">
                <a:solidFill>
                  <a:srgbClr val="1A202C"/>
                </a:solidFill>
                <a:latin typeface="Calibri" pitchFamily="34" charset="0"/>
                <a:ea typeface="Calibri" pitchFamily="34" charset="-122"/>
                <a:cs typeface="Calibri" pitchFamily="34" charset="-120"/>
              </a:rPr>
              <a:t>Rankings match literature</a:t>
            </a:r>
            <a:endParaRPr lang="en-US" sz="1150" dirty="0"/>
          </a:p>
          <a:p>
            <a:pPr algn="l" indent="0" marL="0">
              <a:buNone/>
            </a:pPr>
            <a:r>
              <a:rPr lang="en-US" sz="1150" dirty="0">
                <a:solidFill>
                  <a:srgbClr val="1A202C"/>
                </a:solidFill>
                <a:latin typeface="Calibri" pitchFamily="34" charset="0"/>
                <a:ea typeface="Calibri" pitchFamily="34" charset="-122"/>
                <a:cs typeface="Calibri" pitchFamily="34" charset="-120"/>
              </a:rPr>
              <a:t>Avgoustaki (2020) ✓</a:t>
            </a:r>
            <a:endParaRPr lang="en-US" sz="1150" dirty="0"/>
          </a:p>
          <a:p>
            <a:pPr algn="l" indent="0" marL="0">
              <a:buNone/>
            </a:pPr>
            <a:r>
              <a:rPr lang="en-US" sz="1150" dirty="0">
                <a:solidFill>
                  <a:srgbClr val="1A202C"/>
                </a:solidFill>
                <a:latin typeface="Calibri" pitchFamily="34" charset="0"/>
                <a:ea typeface="Calibri" pitchFamily="34" charset="-122"/>
                <a:cs typeface="Calibri" pitchFamily="34" charset="-120"/>
              </a:rPr>
              <a:t>Kozai (2019) ✓</a:t>
            </a:r>
            <a:endParaRPr lang="en-US" sz="1150" dirty="0"/>
          </a:p>
          <a:p>
            <a:pPr algn="l" indent="0" marL="0">
              <a:buNone/>
            </a:pPr>
            <a:r>
              <a:rPr lang="en-US" sz="1150" dirty="0">
                <a:solidFill>
                  <a:srgbClr val="1A202C"/>
                </a:solidFill>
                <a:latin typeface="Calibri" pitchFamily="34" charset="0"/>
                <a:ea typeface="Calibri" pitchFamily="34" charset="-122"/>
                <a:cs typeface="Calibri" pitchFamily="34" charset="-120"/>
              </a:rPr>
              <a:t>External validity ✅</a:t>
            </a:r>
            <a:endParaRPr lang="en-US" sz="1150" dirty="0"/>
          </a:p>
        </p:txBody>
      </p:sp>
      <p:sp>
        <p:nvSpPr>
          <p:cNvPr id="35" name="Shape 33"/>
          <p:cNvSpPr/>
          <p:nvPr/>
        </p:nvSpPr>
        <p:spPr>
          <a:xfrm>
            <a:off x="274320" y="4572000"/>
            <a:ext cx="11612880" cy="45720"/>
          </a:xfrm>
          <a:prstGeom prst="rect">
            <a:avLst/>
          </a:prstGeom>
          <a:solidFill>
            <a:srgbClr val="0D6B72"/>
          </a:solidFill>
          <a:ln w="12700">
            <a:solidFill>
              <a:srgbClr val="0D6B72"/>
            </a:solidFill>
            <a:prstDash val="solid"/>
          </a:ln>
        </p:spPr>
        <p:txBody>
          <a:bodyPr/>
          <a:p/>
        </p:txBody>
      </p:sp>
      <p:sp>
        <p:nvSpPr>
          <p:cNvPr id="36" name="Shape 34"/>
          <p:cNvSpPr/>
          <p:nvPr/>
        </p:nvSpPr>
        <p:spPr>
          <a:xfrm>
            <a:off x="274320" y="4681728"/>
            <a:ext cx="3767328" cy="566928"/>
          </a:xfrm>
          <a:prstGeom prst="rect">
            <a:avLst/>
          </a:prstGeom>
          <a:solidFill>
            <a:srgbClr val="EBF0F7"/>
          </a:solidFill>
          <a:ln w="12700">
            <a:solidFill>
              <a:srgbClr val="EBF0F7"/>
            </a:solidFill>
            <a:prstDash val="solid"/>
          </a:ln>
        </p:spPr>
        <p:txBody>
          <a:bodyPr/>
          <a:p/>
        </p:txBody>
      </p:sp>
      <p:sp>
        <p:nvSpPr>
          <p:cNvPr id="37" name="Text 35"/>
          <p:cNvSpPr txBox="1"/>
          <p:nvPr/>
        </p:nvSpPr>
        <p:spPr>
          <a:xfrm>
            <a:off x="384048" y="4709160"/>
            <a:ext cx="685800" cy="512064"/>
          </a:xfrm>
          <a:prstGeom prst="rect">
            <a:avLst/>
          </a:prstGeom>
          <a:noFill/>
          <a:ln/>
        </p:spPr>
        <p:txBody>
          <a:bodyPr wrap="square" lIns="25400" tIns="25400" rIns="25400" bIns="25400" rtlCol="0" anchor="ctr"/>
          <a:lstStyle/>
          <a:p>
            <a:pPr algn="l" indent="0" marL="0">
              <a:buNone/>
            </a:pPr>
            <a:r>
              <a:rPr lang="en-US" sz="1200" b="1" dirty="0">
                <a:solidFill>
                  <a:srgbClr val="1E3A5F"/>
                </a:solidFill>
                <a:latin typeface="Calibri" pitchFamily="34" charset="0"/>
                <a:ea typeface="Calibri" pitchFamily="34" charset="-122"/>
                <a:cs typeface="Calibri" pitchFamily="34" charset="-120"/>
              </a:rPr>
              <a:t>WHAT: </a:t>
            </a:r>
            <a:endParaRPr lang="en-US" sz="1200" dirty="0"/>
          </a:p>
        </p:txBody>
      </p:sp>
      <p:sp>
        <p:nvSpPr>
          <p:cNvPr id="38" name="Text 36"/>
          <p:cNvSpPr txBox="1"/>
          <p:nvPr/>
        </p:nvSpPr>
        <p:spPr>
          <a:xfrm>
            <a:off x="1097280" y="4709160"/>
            <a:ext cx="2834640" cy="512064"/>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4-layer DNN · 11 engineered features · PyTorch 2.3.1</a:t>
            </a:r>
            <a:endParaRPr lang="en-US" sz="1100" dirty="0"/>
          </a:p>
        </p:txBody>
      </p:sp>
      <p:sp>
        <p:nvSpPr>
          <p:cNvPr id="39" name="Shape 37"/>
          <p:cNvSpPr/>
          <p:nvPr/>
        </p:nvSpPr>
        <p:spPr>
          <a:xfrm>
            <a:off x="4187952" y="4681728"/>
            <a:ext cx="3767328" cy="566928"/>
          </a:xfrm>
          <a:prstGeom prst="rect">
            <a:avLst/>
          </a:prstGeom>
          <a:solidFill>
            <a:srgbClr val="EBF0F7"/>
          </a:solidFill>
          <a:ln w="12700">
            <a:solidFill>
              <a:srgbClr val="EBF0F7"/>
            </a:solidFill>
            <a:prstDash val="solid"/>
          </a:ln>
        </p:spPr>
        <p:txBody>
          <a:bodyPr/>
          <a:p/>
        </p:txBody>
      </p:sp>
      <p:sp>
        <p:nvSpPr>
          <p:cNvPr id="40" name="Text 38"/>
          <p:cNvSpPr txBox="1"/>
          <p:nvPr/>
        </p:nvSpPr>
        <p:spPr>
          <a:xfrm>
            <a:off x="4297680" y="4709160"/>
            <a:ext cx="685800" cy="512064"/>
          </a:xfrm>
          <a:prstGeom prst="rect">
            <a:avLst/>
          </a:prstGeom>
          <a:noFill/>
          <a:ln/>
        </p:spPr>
        <p:txBody>
          <a:bodyPr wrap="square" lIns="25400" tIns="25400" rIns="25400" bIns="25400" rtlCol="0" anchor="ctr"/>
          <a:lstStyle/>
          <a:p>
            <a:pPr algn="l" indent="0" marL="0">
              <a:buNone/>
            </a:pPr>
            <a:r>
              <a:rPr lang="en-US" sz="1200" b="1" dirty="0">
                <a:solidFill>
                  <a:srgbClr val="1E3A5F"/>
                </a:solidFill>
                <a:latin typeface="Calibri" pitchFamily="34" charset="0"/>
                <a:ea typeface="Calibri" pitchFamily="34" charset="-122"/>
                <a:cs typeface="Calibri" pitchFamily="34" charset="-120"/>
              </a:rPr>
              <a:t>HOW: </a:t>
            </a:r>
            <a:endParaRPr lang="en-US" sz="1200" dirty="0"/>
          </a:p>
        </p:txBody>
      </p:sp>
      <p:sp>
        <p:nvSpPr>
          <p:cNvPr id="41" name="Text 39"/>
          <p:cNvSpPr txBox="1"/>
          <p:nvPr/>
        </p:nvSpPr>
        <p:spPr>
          <a:xfrm>
            <a:off x="5010912" y="4709160"/>
            <a:ext cx="2834640" cy="512064"/>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BatchNorm stabilises activations · Dropout prevents memorisation · AdamW with weight decay</a:t>
            </a:r>
            <a:endParaRPr lang="en-US" sz="1100" dirty="0"/>
          </a:p>
        </p:txBody>
      </p:sp>
      <p:sp>
        <p:nvSpPr>
          <p:cNvPr id="42" name="Shape 40"/>
          <p:cNvSpPr/>
          <p:nvPr/>
        </p:nvSpPr>
        <p:spPr>
          <a:xfrm>
            <a:off x="8101584" y="4681728"/>
            <a:ext cx="3767328" cy="566928"/>
          </a:xfrm>
          <a:prstGeom prst="rect">
            <a:avLst/>
          </a:prstGeom>
          <a:solidFill>
            <a:srgbClr val="EBF0F7"/>
          </a:solidFill>
          <a:ln w="12700">
            <a:solidFill>
              <a:srgbClr val="EBF0F7"/>
            </a:solidFill>
            <a:prstDash val="solid"/>
          </a:ln>
        </p:spPr>
        <p:txBody>
          <a:bodyPr/>
          <a:p/>
        </p:txBody>
      </p:sp>
      <p:sp>
        <p:nvSpPr>
          <p:cNvPr id="43" name="Text 41"/>
          <p:cNvSpPr txBox="1"/>
          <p:nvPr/>
        </p:nvSpPr>
        <p:spPr>
          <a:xfrm>
            <a:off x="8211312" y="4709160"/>
            <a:ext cx="685800" cy="512064"/>
          </a:xfrm>
          <a:prstGeom prst="rect">
            <a:avLst/>
          </a:prstGeom>
          <a:noFill/>
          <a:ln/>
        </p:spPr>
        <p:txBody>
          <a:bodyPr wrap="square" lIns="25400" tIns="25400" rIns="25400" bIns="25400" rtlCol="0" anchor="ctr"/>
          <a:lstStyle/>
          <a:p>
            <a:pPr algn="l" indent="0" marL="0">
              <a:buNone/>
            </a:pPr>
            <a:r>
              <a:rPr lang="en-US" sz="1200" b="1" dirty="0">
                <a:solidFill>
                  <a:srgbClr val="1E3A5F"/>
                </a:solidFill>
                <a:latin typeface="Calibri" pitchFamily="34" charset="0"/>
                <a:ea typeface="Calibri" pitchFamily="34" charset="-122"/>
                <a:cs typeface="Calibri" pitchFamily="34" charset="-120"/>
              </a:rPr>
              <a:t>WHY: </a:t>
            </a:r>
            <a:endParaRPr lang="en-US" sz="1200" dirty="0"/>
          </a:p>
        </p:txBody>
      </p:sp>
      <p:sp>
        <p:nvSpPr>
          <p:cNvPr id="44" name="Text 42"/>
          <p:cNvSpPr txBox="1"/>
          <p:nvPr/>
        </p:nvSpPr>
        <p:spPr>
          <a:xfrm>
            <a:off x="8924544" y="4709160"/>
            <a:ext cx="2834640" cy="512064"/>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Khaki &amp; Wang (2019): Dropout at multiple layers achieves stable generalisation on agricultural tabular data</a:t>
            </a:r>
            <a:endParaRPr lang="en-US" sz="1100" dirty="0"/>
          </a:p>
        </p:txBody>
      </p:sp>
      <p:sp>
        <p:nvSpPr>
          <p:cNvPr id="45" name="Text 43"/>
          <p:cNvSpPr txBox="1"/>
          <p:nvPr/>
        </p:nvSpPr>
        <p:spPr>
          <a:xfrm>
            <a:off x="274320" y="5349240"/>
            <a:ext cx="11612880" cy="457200"/>
          </a:xfrm>
          <a:prstGeom prst="rect">
            <a:avLst/>
          </a:prstGeom>
          <a:noFill/>
          <a:ln/>
        </p:spPr>
        <p:txBody>
          <a:bodyPr wrap="square" lIns="25400" tIns="25400" rIns="25400" bIns="25400" rtlCol="0" anchor="ctr"/>
          <a:lstStyle/>
          <a:p>
            <a:pPr algn="l" indent="0" marL="0">
              <a:buNone/>
            </a:pPr>
            <a:r>
              <a:rPr lang="en-US" sz="1150" i="1" dirty="0">
                <a:solidFill>
                  <a:srgbClr val="718096"/>
                </a:solidFill>
                <a:latin typeface="Calibri" pitchFamily="34" charset="0"/>
                <a:ea typeface="Calibri" pitchFamily="34" charset="-122"/>
                <a:cs typeface="Calibri" pitchFamily="34" charset="-120"/>
              </a:rPr>
              <a:t>Early stopping triggered at Epoch 136 of 500 maximum — model stopped before overfitting. Test set evaluated exactly once after all training decisions were finalised.</a:t>
            </a:r>
            <a:endParaRPr lang="en-US" sz="1150" dirty="0"/>
          </a:p>
        </p:txBody>
      </p:sp>
      <p:sp>
        <p:nvSpPr>
          <p:cNvPr id="46" name="Shape 44"/>
          <p:cNvSpPr/>
          <p:nvPr/>
        </p:nvSpPr>
        <p:spPr>
          <a:xfrm>
            <a:off x="0" y="6510528"/>
            <a:ext cx="12161520" cy="347472"/>
          </a:xfrm>
          <a:prstGeom prst="rect">
            <a:avLst/>
          </a:prstGeom>
          <a:solidFill>
            <a:srgbClr val="E8EDF3"/>
          </a:solidFill>
          <a:ln w="12700">
            <a:solidFill>
              <a:srgbClr val="E8EDF3"/>
            </a:solidFill>
            <a:prstDash val="solid"/>
          </a:ln>
        </p:spPr>
        <p:txBody>
          <a:body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E3A5F"/>
          </a:solidFill>
          <a:ln w="12700">
            <a:solidFill>
              <a:srgbClr val="1E3A5F"/>
            </a:solidFill>
            <a:prstDash val="solid"/>
          </a:ln>
        </p:spPr>
        <p:txBody>
          <a:bodyPr/>
          <a:p/>
        </p:txBody>
      </p:sp>
      <p:sp>
        <p:nvSpPr>
          <p:cNvPr id="3" name="Text 1"/>
          <p:cNvSpPr txBox="1"/>
          <p:nvPr/>
        </p:nvSpPr>
        <p:spPr>
          <a:xfrm>
            <a:off x="365760" y="45720"/>
            <a:ext cx="10058400" cy="566928"/>
          </a:xfrm>
          <a:prstGeom prst="rect">
            <a:avLst/>
          </a:prstGeom>
          <a:noFill/>
          <a:ln/>
        </p:spPr>
        <p:txBody>
          <a:bodyPr wrap="square" lIns="25400" tIns="25400" rIns="25400" bIns="2540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System Architecture — Four Technology Layers</a:t>
            </a:r>
            <a:endParaRPr lang="en-US" sz="2200" dirty="0"/>
          </a:p>
        </p:txBody>
      </p:sp>
      <p:sp>
        <p:nvSpPr>
          <p:cNvPr id="4" name="Shape 2"/>
          <p:cNvSpPr/>
          <p:nvPr/>
        </p:nvSpPr>
        <p:spPr>
          <a:xfrm>
            <a:off x="0" y="960120"/>
            <a:ext cx="12161520" cy="45720"/>
          </a:xfrm>
          <a:prstGeom prst="rect">
            <a:avLst/>
          </a:prstGeom>
          <a:solidFill>
            <a:srgbClr val="0D6B72"/>
          </a:solidFill>
          <a:ln w="12700">
            <a:solidFill>
              <a:srgbClr val="0D6B72"/>
            </a:solidFill>
            <a:prstDash val="solid"/>
          </a:ln>
        </p:spPr>
        <p:txBody>
          <a:bodyPr/>
          <a:p/>
        </p:txBody>
      </p:sp>
      <p:sp>
        <p:nvSpPr>
          <p:cNvPr id="5" name="Shape 3"/>
          <p:cNvSpPr/>
          <p:nvPr/>
        </p:nvSpPr>
        <p:spPr>
          <a:xfrm>
            <a:off x="274320" y="1078992"/>
            <a:ext cx="2798064" cy="548640"/>
          </a:xfrm>
          <a:prstGeom prst="rect">
            <a:avLst/>
          </a:prstGeom>
          <a:solidFill>
            <a:srgbClr val="0A5C36"/>
          </a:solidFill>
          <a:ln w="12700">
            <a:solidFill>
              <a:srgbClr val="0A5C36"/>
            </a:solidFill>
            <a:prstDash val="solid"/>
          </a:ln>
        </p:spPr>
        <p:txBody>
          <a:bodyPr/>
          <a:p/>
        </p:txBody>
      </p:sp>
      <p:sp>
        <p:nvSpPr>
          <p:cNvPr id="6" name="Text 4"/>
          <p:cNvSpPr txBox="1"/>
          <p:nvPr/>
        </p:nvSpPr>
        <p:spPr>
          <a:xfrm>
            <a:off x="365760" y="1097280"/>
            <a:ext cx="2633472" cy="329184"/>
          </a:xfrm>
          <a:prstGeom prst="rect">
            <a:avLst/>
          </a:prstGeom>
          <a:noFill/>
          <a:ln/>
        </p:spPr>
        <p:txBody>
          <a:bodyPr wrap="square" lIns="25400" tIns="25400" rIns="25400" bIns="2540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Layer 1: Presentation</a:t>
            </a:r>
            <a:endParaRPr lang="en-US" sz="1150" dirty="0"/>
          </a:p>
        </p:txBody>
      </p:sp>
      <p:sp>
        <p:nvSpPr>
          <p:cNvPr id="7" name="Text 5"/>
          <p:cNvSpPr txBox="1"/>
          <p:nvPr/>
        </p:nvSpPr>
        <p:spPr>
          <a:xfrm>
            <a:off x="365760" y="1408176"/>
            <a:ext cx="2633472" cy="201168"/>
          </a:xfrm>
          <a:prstGeom prst="rect">
            <a:avLst/>
          </a:prstGeom>
          <a:noFill/>
          <a:ln/>
        </p:spPr>
        <p:txBody>
          <a:bodyPr wrap="square" lIns="25400" tIns="25400" rIns="25400" bIns="25400" rtlCol="0" anchor="ctr"/>
          <a:lstStyle/>
          <a:p>
            <a:pPr algn="l" indent="0" marL="0">
              <a:buNone/>
            </a:pPr>
            <a:r>
              <a:rPr lang="en-US" sz="900" dirty="0">
                <a:solidFill>
                  <a:srgbClr val="CCCCCC"/>
                </a:solidFill>
                <a:latin typeface="Calibri" pitchFamily="34" charset="0"/>
                <a:ea typeface="Calibri" pitchFamily="34" charset="-122"/>
                <a:cs typeface="Calibri" pitchFamily="34" charset="-120"/>
              </a:rPr>
              <a:t>ReactJS 18 + Vite · Port 3000</a:t>
            </a:r>
            <a:endParaRPr lang="en-US" sz="900" dirty="0"/>
          </a:p>
        </p:txBody>
      </p:sp>
      <p:sp>
        <p:nvSpPr>
          <p:cNvPr id="8" name="Shape 6"/>
          <p:cNvSpPr/>
          <p:nvPr/>
        </p:nvSpPr>
        <p:spPr>
          <a:xfrm>
            <a:off x="274320" y="1627632"/>
            <a:ext cx="2798064" cy="3657600"/>
          </a:xfrm>
          <a:prstGeom prst="rect">
            <a:avLst/>
          </a:prstGeom>
          <a:solidFill>
            <a:srgbClr val="F5F7FA"/>
          </a:solidFill>
          <a:ln w="12700">
            <a:solidFill>
              <a:srgbClr val="F5F7FA"/>
            </a:solidFill>
            <a:prstDash val="solid"/>
          </a:ln>
        </p:spPr>
        <p:txBody>
          <a:bodyPr/>
          <a:p/>
        </p:txBody>
      </p:sp>
      <p:sp>
        <p:nvSpPr>
          <p:cNvPr id="9" name="Shape 7"/>
          <p:cNvSpPr/>
          <p:nvPr/>
        </p:nvSpPr>
        <p:spPr>
          <a:xfrm>
            <a:off x="411480" y="2011680"/>
            <a:ext cx="54864" cy="54864"/>
          </a:xfrm>
          <a:prstGeom prst="rect">
            <a:avLst/>
          </a:prstGeom>
          <a:solidFill>
            <a:srgbClr val="0A5C36"/>
          </a:solidFill>
          <a:ln w="12700">
            <a:solidFill>
              <a:srgbClr val="0A5C36"/>
            </a:solidFill>
            <a:prstDash val="solid"/>
          </a:ln>
        </p:spPr>
        <p:txBody>
          <a:bodyPr/>
          <a:p/>
        </p:txBody>
      </p:sp>
      <p:sp>
        <p:nvSpPr>
          <p:cNvPr id="10" name="Text 8"/>
          <p:cNvSpPr txBox="1"/>
          <p:nvPr/>
        </p:nvSpPr>
        <p:spPr>
          <a:xfrm>
            <a:off x="548640" y="1737360"/>
            <a:ext cx="2423160" cy="713232"/>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9 pages · functional components · hooks</a:t>
            </a:r>
            <a:endParaRPr lang="en-US" sz="1050" dirty="0"/>
          </a:p>
        </p:txBody>
      </p:sp>
      <p:sp>
        <p:nvSpPr>
          <p:cNvPr id="11" name="Shape 9"/>
          <p:cNvSpPr/>
          <p:nvPr/>
        </p:nvSpPr>
        <p:spPr>
          <a:xfrm>
            <a:off x="411480" y="2761488"/>
            <a:ext cx="54864" cy="54864"/>
          </a:xfrm>
          <a:prstGeom prst="rect">
            <a:avLst/>
          </a:prstGeom>
          <a:solidFill>
            <a:srgbClr val="0A5C36"/>
          </a:solidFill>
          <a:ln w="12700">
            <a:solidFill>
              <a:srgbClr val="0A5C36"/>
            </a:solidFill>
            <a:prstDash val="solid"/>
          </a:ln>
        </p:spPr>
        <p:txBody>
          <a:bodyPr/>
          <a:p/>
        </p:txBody>
      </p:sp>
      <p:sp>
        <p:nvSpPr>
          <p:cNvPr id="12" name="Text 10"/>
          <p:cNvSpPr txBox="1"/>
          <p:nvPr/>
        </p:nvSpPr>
        <p:spPr>
          <a:xfrm>
            <a:off x="548640" y="2487168"/>
            <a:ext cx="2423160" cy="713232"/>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useState · useEffect · useContext (AuthContext)</a:t>
            </a:r>
            <a:endParaRPr lang="en-US" sz="1050" dirty="0"/>
          </a:p>
        </p:txBody>
      </p:sp>
      <p:sp>
        <p:nvSpPr>
          <p:cNvPr id="13" name="Shape 11"/>
          <p:cNvSpPr/>
          <p:nvPr/>
        </p:nvSpPr>
        <p:spPr>
          <a:xfrm>
            <a:off x="411480" y="3511296"/>
            <a:ext cx="54864" cy="54864"/>
          </a:xfrm>
          <a:prstGeom prst="rect">
            <a:avLst/>
          </a:prstGeom>
          <a:solidFill>
            <a:srgbClr val="0A5C36"/>
          </a:solidFill>
          <a:ln w="12700">
            <a:solidFill>
              <a:srgbClr val="0A5C36"/>
            </a:solidFill>
            <a:prstDash val="solid"/>
          </a:ln>
        </p:spPr>
        <p:txBody>
          <a:bodyPr/>
          <a:p/>
        </p:txBody>
      </p:sp>
      <p:sp>
        <p:nvSpPr>
          <p:cNvPr id="14" name="Text 12"/>
          <p:cNvSpPr txBox="1"/>
          <p:nvPr/>
        </p:nvSpPr>
        <p:spPr>
          <a:xfrm>
            <a:off x="548640" y="3236976"/>
            <a:ext cx="2423160" cy="713232"/>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React Router v6 · Axios JWT interceptors</a:t>
            </a:r>
            <a:endParaRPr lang="en-US" sz="1050" dirty="0"/>
          </a:p>
        </p:txBody>
      </p:sp>
      <p:sp>
        <p:nvSpPr>
          <p:cNvPr id="15" name="Shape 13"/>
          <p:cNvSpPr/>
          <p:nvPr/>
        </p:nvSpPr>
        <p:spPr>
          <a:xfrm>
            <a:off x="411480" y="4261104"/>
            <a:ext cx="54864" cy="54864"/>
          </a:xfrm>
          <a:prstGeom prst="rect">
            <a:avLst/>
          </a:prstGeom>
          <a:solidFill>
            <a:srgbClr val="0A5C36"/>
          </a:solidFill>
          <a:ln w="12700">
            <a:solidFill>
              <a:srgbClr val="0A5C36"/>
            </a:solidFill>
            <a:prstDash val="solid"/>
          </a:ln>
        </p:spPr>
        <p:txBody>
          <a:bodyPr/>
          <a:p/>
        </p:txBody>
      </p:sp>
      <p:sp>
        <p:nvSpPr>
          <p:cNvPr id="16" name="Text 14"/>
          <p:cNvSpPr txBox="1"/>
          <p:nvPr/>
        </p:nvSpPr>
        <p:spPr>
          <a:xfrm>
            <a:off x="548640" y="3986784"/>
            <a:ext cx="2423160" cy="713232"/>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Recharts AreaChart for activity timeline</a:t>
            </a:r>
            <a:endParaRPr lang="en-US" sz="1050" dirty="0"/>
          </a:p>
        </p:txBody>
      </p:sp>
      <p:sp>
        <p:nvSpPr>
          <p:cNvPr id="17" name="Shape 15"/>
          <p:cNvSpPr/>
          <p:nvPr/>
        </p:nvSpPr>
        <p:spPr>
          <a:xfrm>
            <a:off x="3218688" y="1078992"/>
            <a:ext cx="2798064" cy="548640"/>
          </a:xfrm>
          <a:prstGeom prst="rect">
            <a:avLst/>
          </a:prstGeom>
          <a:solidFill>
            <a:srgbClr val="1E3A5F"/>
          </a:solidFill>
          <a:ln w="12700">
            <a:solidFill>
              <a:srgbClr val="1E3A5F"/>
            </a:solidFill>
            <a:prstDash val="solid"/>
          </a:ln>
        </p:spPr>
        <p:txBody>
          <a:bodyPr/>
          <a:p/>
        </p:txBody>
      </p:sp>
      <p:sp>
        <p:nvSpPr>
          <p:cNvPr id="18" name="Text 16"/>
          <p:cNvSpPr txBox="1"/>
          <p:nvPr/>
        </p:nvSpPr>
        <p:spPr>
          <a:xfrm>
            <a:off x="3310128" y="1097280"/>
            <a:ext cx="2633472" cy="329184"/>
          </a:xfrm>
          <a:prstGeom prst="rect">
            <a:avLst/>
          </a:prstGeom>
          <a:noFill/>
          <a:ln/>
        </p:spPr>
        <p:txBody>
          <a:bodyPr wrap="square" lIns="25400" tIns="25400" rIns="25400" bIns="2540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Layer 2: Security &amp; Logic</a:t>
            </a:r>
            <a:endParaRPr lang="en-US" sz="1150" dirty="0"/>
          </a:p>
        </p:txBody>
      </p:sp>
      <p:sp>
        <p:nvSpPr>
          <p:cNvPr id="19" name="Text 17"/>
          <p:cNvSpPr txBox="1"/>
          <p:nvPr/>
        </p:nvSpPr>
        <p:spPr>
          <a:xfrm>
            <a:off x="3310128" y="1408176"/>
            <a:ext cx="2633472" cy="201168"/>
          </a:xfrm>
          <a:prstGeom prst="rect">
            <a:avLst/>
          </a:prstGeom>
          <a:noFill/>
          <a:ln/>
        </p:spPr>
        <p:txBody>
          <a:bodyPr wrap="square" lIns="25400" tIns="25400" rIns="25400" bIns="25400" rtlCol="0" anchor="ctr"/>
          <a:lstStyle/>
          <a:p>
            <a:pPr algn="l" indent="0" marL="0">
              <a:buNone/>
            </a:pPr>
            <a:r>
              <a:rPr lang="en-US" sz="900" dirty="0">
                <a:solidFill>
                  <a:srgbClr val="CCCCCC"/>
                </a:solidFill>
                <a:latin typeface="Calibri" pitchFamily="34" charset="0"/>
                <a:ea typeface="Calibri" pitchFamily="34" charset="-122"/>
                <a:cs typeface="Calibri" pitchFamily="34" charset="-120"/>
              </a:rPr>
              <a:t>Spring Boot 3.2 · Java 17 · Port 8080</a:t>
            </a:r>
            <a:endParaRPr lang="en-US" sz="900" dirty="0"/>
          </a:p>
        </p:txBody>
      </p:sp>
      <p:sp>
        <p:nvSpPr>
          <p:cNvPr id="20" name="Shape 18"/>
          <p:cNvSpPr/>
          <p:nvPr/>
        </p:nvSpPr>
        <p:spPr>
          <a:xfrm>
            <a:off x="3218688" y="1627632"/>
            <a:ext cx="2798064" cy="3657600"/>
          </a:xfrm>
          <a:prstGeom prst="rect">
            <a:avLst/>
          </a:prstGeom>
          <a:solidFill>
            <a:srgbClr val="F5F7FA"/>
          </a:solidFill>
          <a:ln w="12700">
            <a:solidFill>
              <a:srgbClr val="F5F7FA"/>
            </a:solidFill>
            <a:prstDash val="solid"/>
          </a:ln>
        </p:spPr>
        <p:txBody>
          <a:bodyPr/>
          <a:p/>
        </p:txBody>
      </p:sp>
      <p:sp>
        <p:nvSpPr>
          <p:cNvPr id="21" name="Shape 19"/>
          <p:cNvSpPr/>
          <p:nvPr/>
        </p:nvSpPr>
        <p:spPr>
          <a:xfrm>
            <a:off x="3355848" y="2011680"/>
            <a:ext cx="54864" cy="54864"/>
          </a:xfrm>
          <a:prstGeom prst="rect">
            <a:avLst/>
          </a:prstGeom>
          <a:solidFill>
            <a:srgbClr val="1E3A5F"/>
          </a:solidFill>
          <a:ln w="12700">
            <a:solidFill>
              <a:srgbClr val="1E3A5F"/>
            </a:solidFill>
            <a:prstDash val="solid"/>
          </a:ln>
        </p:spPr>
        <p:txBody>
          <a:bodyPr/>
          <a:p/>
        </p:txBody>
      </p:sp>
      <p:sp>
        <p:nvSpPr>
          <p:cNvPr id="22" name="Text 20"/>
          <p:cNvSpPr txBox="1"/>
          <p:nvPr/>
        </p:nvSpPr>
        <p:spPr>
          <a:xfrm>
            <a:off x="3493008" y="1737360"/>
            <a:ext cx="2423160" cy="713232"/>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Spring Security 6 lambda DSL (replaces deprecated adapter)</a:t>
            </a:r>
            <a:endParaRPr lang="en-US" sz="1050" dirty="0"/>
          </a:p>
        </p:txBody>
      </p:sp>
      <p:sp>
        <p:nvSpPr>
          <p:cNvPr id="23" name="Shape 21"/>
          <p:cNvSpPr/>
          <p:nvPr/>
        </p:nvSpPr>
        <p:spPr>
          <a:xfrm>
            <a:off x="3355848" y="2761488"/>
            <a:ext cx="54864" cy="54864"/>
          </a:xfrm>
          <a:prstGeom prst="rect">
            <a:avLst/>
          </a:prstGeom>
          <a:solidFill>
            <a:srgbClr val="1E3A5F"/>
          </a:solidFill>
          <a:ln w="12700">
            <a:solidFill>
              <a:srgbClr val="1E3A5F"/>
            </a:solidFill>
            <a:prstDash val="solid"/>
          </a:ln>
        </p:spPr>
        <p:txBody>
          <a:bodyPr/>
          <a:p/>
        </p:txBody>
      </p:sp>
      <p:sp>
        <p:nvSpPr>
          <p:cNvPr id="24" name="Text 22"/>
          <p:cNvSpPr txBox="1"/>
          <p:nvPr/>
        </p:nvSpPr>
        <p:spPr>
          <a:xfrm>
            <a:off x="3493008" y="2487168"/>
            <a:ext cx="2423160" cy="713232"/>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jjwt 0.12.5 · userId as Long claim (prevents ClassCastException)</a:t>
            </a:r>
            <a:endParaRPr lang="en-US" sz="1050" dirty="0"/>
          </a:p>
        </p:txBody>
      </p:sp>
      <p:sp>
        <p:nvSpPr>
          <p:cNvPr id="25" name="Shape 23"/>
          <p:cNvSpPr/>
          <p:nvPr/>
        </p:nvSpPr>
        <p:spPr>
          <a:xfrm>
            <a:off x="3355848" y="3511296"/>
            <a:ext cx="54864" cy="54864"/>
          </a:xfrm>
          <a:prstGeom prst="rect">
            <a:avLst/>
          </a:prstGeom>
          <a:solidFill>
            <a:srgbClr val="1E3A5F"/>
          </a:solidFill>
          <a:ln w="12700">
            <a:solidFill>
              <a:srgbClr val="1E3A5F"/>
            </a:solidFill>
            <a:prstDash val="solid"/>
          </a:ln>
        </p:spPr>
        <p:txBody>
          <a:bodyPr/>
          <a:p/>
        </p:txBody>
      </p:sp>
      <p:sp>
        <p:nvSpPr>
          <p:cNvPr id="26" name="Text 24"/>
          <p:cNvSpPr txBox="1"/>
          <p:nvPr/>
        </p:nvSpPr>
        <p:spPr>
          <a:xfrm>
            <a:off x="3493008" y="3236976"/>
            <a:ext cx="2423160" cy="713232"/>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BCrypt strength 12 · 4,096 rounds · NIST (2018) compliant</a:t>
            </a:r>
            <a:endParaRPr lang="en-US" sz="1050" dirty="0"/>
          </a:p>
        </p:txBody>
      </p:sp>
      <p:sp>
        <p:nvSpPr>
          <p:cNvPr id="27" name="Shape 25"/>
          <p:cNvSpPr/>
          <p:nvPr/>
        </p:nvSpPr>
        <p:spPr>
          <a:xfrm>
            <a:off x="3355848" y="4261104"/>
            <a:ext cx="54864" cy="54864"/>
          </a:xfrm>
          <a:prstGeom prst="rect">
            <a:avLst/>
          </a:prstGeom>
          <a:solidFill>
            <a:srgbClr val="1E3A5F"/>
          </a:solidFill>
          <a:ln w="12700">
            <a:solidFill>
              <a:srgbClr val="1E3A5F"/>
            </a:solidFill>
            <a:prstDash val="solid"/>
          </a:ln>
        </p:spPr>
        <p:txBody>
          <a:bodyPr/>
          <a:p/>
        </p:txBody>
      </p:sp>
      <p:sp>
        <p:nvSpPr>
          <p:cNvPr id="28" name="Text 26"/>
          <p:cNvSpPr txBox="1"/>
          <p:nvPr/>
        </p:nvSpPr>
        <p:spPr>
          <a:xfrm>
            <a:off x="3493008" y="3986784"/>
            <a:ext cx="2423160" cy="713232"/>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7 REST controllers · @PreAuthorize role-based access</a:t>
            </a:r>
            <a:endParaRPr lang="en-US" sz="1050" dirty="0"/>
          </a:p>
        </p:txBody>
      </p:sp>
      <p:sp>
        <p:nvSpPr>
          <p:cNvPr id="29" name="Shape 27"/>
          <p:cNvSpPr/>
          <p:nvPr/>
        </p:nvSpPr>
        <p:spPr>
          <a:xfrm>
            <a:off x="6163056" y="1078992"/>
            <a:ext cx="2798064" cy="548640"/>
          </a:xfrm>
          <a:prstGeom prst="rect">
            <a:avLst/>
          </a:prstGeom>
          <a:solidFill>
            <a:srgbClr val="0D6B72"/>
          </a:solidFill>
          <a:ln w="12700">
            <a:solidFill>
              <a:srgbClr val="0D6B72"/>
            </a:solidFill>
            <a:prstDash val="solid"/>
          </a:ln>
        </p:spPr>
        <p:txBody>
          <a:bodyPr/>
          <a:p/>
        </p:txBody>
      </p:sp>
      <p:sp>
        <p:nvSpPr>
          <p:cNvPr id="30" name="Text 28"/>
          <p:cNvSpPr txBox="1"/>
          <p:nvPr/>
        </p:nvSpPr>
        <p:spPr>
          <a:xfrm>
            <a:off x="6254496" y="1097280"/>
            <a:ext cx="2633472" cy="329184"/>
          </a:xfrm>
          <a:prstGeom prst="rect">
            <a:avLst/>
          </a:prstGeom>
          <a:noFill/>
          <a:ln/>
        </p:spPr>
        <p:txBody>
          <a:bodyPr wrap="square" lIns="25400" tIns="25400" rIns="25400" bIns="2540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Layer 3: Data</a:t>
            </a:r>
            <a:endParaRPr lang="en-US" sz="1150" dirty="0"/>
          </a:p>
        </p:txBody>
      </p:sp>
      <p:sp>
        <p:nvSpPr>
          <p:cNvPr id="31" name="Text 29"/>
          <p:cNvSpPr txBox="1"/>
          <p:nvPr/>
        </p:nvSpPr>
        <p:spPr>
          <a:xfrm>
            <a:off x="6254496" y="1408176"/>
            <a:ext cx="2633472" cy="201168"/>
          </a:xfrm>
          <a:prstGeom prst="rect">
            <a:avLst/>
          </a:prstGeom>
          <a:noFill/>
          <a:ln/>
        </p:spPr>
        <p:txBody>
          <a:bodyPr wrap="square" lIns="25400" tIns="25400" rIns="25400" bIns="25400" rtlCol="0" anchor="ctr"/>
          <a:lstStyle/>
          <a:p>
            <a:pPr algn="l" indent="0" marL="0">
              <a:buNone/>
            </a:pPr>
            <a:r>
              <a:rPr lang="en-US" sz="900" dirty="0">
                <a:solidFill>
                  <a:srgbClr val="CCCCCC"/>
                </a:solidFill>
                <a:latin typeface="Calibri" pitchFamily="34" charset="0"/>
                <a:ea typeface="Calibri" pitchFamily="34" charset="-122"/>
                <a:cs typeface="Calibri" pitchFamily="34" charset="-120"/>
              </a:rPr>
              <a:t>MySQL 8.0 · Spring Data JPA · Port 3306</a:t>
            </a:r>
            <a:endParaRPr lang="en-US" sz="900" dirty="0"/>
          </a:p>
        </p:txBody>
      </p:sp>
      <p:sp>
        <p:nvSpPr>
          <p:cNvPr id="32" name="Shape 30"/>
          <p:cNvSpPr/>
          <p:nvPr/>
        </p:nvSpPr>
        <p:spPr>
          <a:xfrm>
            <a:off x="6163056" y="1627632"/>
            <a:ext cx="2798064" cy="3657600"/>
          </a:xfrm>
          <a:prstGeom prst="rect">
            <a:avLst/>
          </a:prstGeom>
          <a:solidFill>
            <a:srgbClr val="F5F7FA"/>
          </a:solidFill>
          <a:ln w="12700">
            <a:solidFill>
              <a:srgbClr val="F5F7FA"/>
            </a:solidFill>
            <a:prstDash val="solid"/>
          </a:ln>
        </p:spPr>
        <p:txBody>
          <a:bodyPr/>
          <a:p/>
        </p:txBody>
      </p:sp>
      <p:sp>
        <p:nvSpPr>
          <p:cNvPr id="33" name="Shape 31"/>
          <p:cNvSpPr/>
          <p:nvPr/>
        </p:nvSpPr>
        <p:spPr>
          <a:xfrm>
            <a:off x="6300216" y="2011680"/>
            <a:ext cx="54864" cy="54864"/>
          </a:xfrm>
          <a:prstGeom prst="rect">
            <a:avLst/>
          </a:prstGeom>
          <a:solidFill>
            <a:srgbClr val="0D6B72"/>
          </a:solidFill>
          <a:ln w="12700">
            <a:solidFill>
              <a:srgbClr val="0D6B72"/>
            </a:solidFill>
            <a:prstDash val="solid"/>
          </a:ln>
        </p:spPr>
        <p:txBody>
          <a:bodyPr/>
          <a:p/>
        </p:txBody>
      </p:sp>
      <p:sp>
        <p:nvSpPr>
          <p:cNvPr id="34" name="Text 32"/>
          <p:cNvSpPr txBox="1"/>
          <p:nvPr/>
        </p:nvSpPr>
        <p:spPr>
          <a:xfrm>
            <a:off x="6437376" y="1737360"/>
            <a:ext cx="2423160" cy="713232"/>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6 normalised tables · FK constraints · CASCADE DELETE</a:t>
            </a:r>
            <a:endParaRPr lang="en-US" sz="1050" dirty="0"/>
          </a:p>
        </p:txBody>
      </p:sp>
      <p:sp>
        <p:nvSpPr>
          <p:cNvPr id="35" name="Shape 33"/>
          <p:cNvSpPr/>
          <p:nvPr/>
        </p:nvSpPr>
        <p:spPr>
          <a:xfrm>
            <a:off x="6300216" y="2761488"/>
            <a:ext cx="54864" cy="54864"/>
          </a:xfrm>
          <a:prstGeom prst="rect">
            <a:avLst/>
          </a:prstGeom>
          <a:solidFill>
            <a:srgbClr val="0D6B72"/>
          </a:solidFill>
          <a:ln w="12700">
            <a:solidFill>
              <a:srgbClr val="0D6B72"/>
            </a:solidFill>
            <a:prstDash val="solid"/>
          </a:ln>
        </p:spPr>
        <p:txBody>
          <a:bodyPr/>
          <a:p/>
        </p:txBody>
      </p:sp>
      <p:sp>
        <p:nvSpPr>
          <p:cNvPr id="36" name="Text 34"/>
          <p:cNvSpPr txBox="1"/>
          <p:nvPr/>
        </p:nvSpPr>
        <p:spPr>
          <a:xfrm>
            <a:off x="6437376" y="2487168"/>
            <a:ext cx="2423160" cy="713232"/>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ENUM types enforce valid values at database level</a:t>
            </a:r>
            <a:endParaRPr lang="en-US" sz="1050" dirty="0"/>
          </a:p>
        </p:txBody>
      </p:sp>
      <p:sp>
        <p:nvSpPr>
          <p:cNvPr id="37" name="Shape 35"/>
          <p:cNvSpPr/>
          <p:nvPr/>
        </p:nvSpPr>
        <p:spPr>
          <a:xfrm>
            <a:off x="6300216" y="3511296"/>
            <a:ext cx="54864" cy="54864"/>
          </a:xfrm>
          <a:prstGeom prst="rect">
            <a:avLst/>
          </a:prstGeom>
          <a:solidFill>
            <a:srgbClr val="0D6B72"/>
          </a:solidFill>
          <a:ln w="12700">
            <a:solidFill>
              <a:srgbClr val="0D6B72"/>
            </a:solidFill>
            <a:prstDash val="solid"/>
          </a:ln>
        </p:spPr>
        <p:txBody>
          <a:bodyPr/>
          <a:p/>
        </p:txBody>
      </p:sp>
      <p:sp>
        <p:nvSpPr>
          <p:cNvPr id="38" name="Text 36"/>
          <p:cNvSpPr txBox="1"/>
          <p:nvPr/>
        </p:nvSpPr>
        <p:spPr>
          <a:xfrm>
            <a:off x="6437376" y="3236976"/>
            <a:ext cx="2423160" cy="713232"/>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@Param parameterised queries — A03 injection protection</a:t>
            </a:r>
            <a:endParaRPr lang="en-US" sz="1050" dirty="0"/>
          </a:p>
        </p:txBody>
      </p:sp>
      <p:sp>
        <p:nvSpPr>
          <p:cNvPr id="39" name="Shape 37"/>
          <p:cNvSpPr/>
          <p:nvPr/>
        </p:nvSpPr>
        <p:spPr>
          <a:xfrm>
            <a:off x="6300216" y="4261104"/>
            <a:ext cx="54864" cy="54864"/>
          </a:xfrm>
          <a:prstGeom prst="rect">
            <a:avLst/>
          </a:prstGeom>
          <a:solidFill>
            <a:srgbClr val="0D6B72"/>
          </a:solidFill>
          <a:ln w="12700">
            <a:solidFill>
              <a:srgbClr val="0D6B72"/>
            </a:solidFill>
            <a:prstDash val="solid"/>
          </a:ln>
        </p:spPr>
        <p:txBody>
          <a:bodyPr/>
          <a:p/>
        </p:txBody>
      </p:sp>
      <p:sp>
        <p:nvSpPr>
          <p:cNvPr id="40" name="Text 38"/>
          <p:cNvSpPr txBox="1"/>
          <p:nvPr/>
        </p:nvSpPr>
        <p:spPr>
          <a:xfrm>
            <a:off x="6437376" y="3986784"/>
            <a:ext cx="2423160" cy="713232"/>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findByIdAndUserId() — A01 access control at repository level</a:t>
            </a:r>
            <a:endParaRPr lang="en-US" sz="1050" dirty="0"/>
          </a:p>
        </p:txBody>
      </p:sp>
      <p:sp>
        <p:nvSpPr>
          <p:cNvPr id="41" name="Shape 39"/>
          <p:cNvSpPr/>
          <p:nvPr/>
        </p:nvSpPr>
        <p:spPr>
          <a:xfrm>
            <a:off x="9107424" y="1078992"/>
            <a:ext cx="2798064" cy="548640"/>
          </a:xfrm>
          <a:prstGeom prst="rect">
            <a:avLst/>
          </a:prstGeom>
          <a:solidFill>
            <a:srgbClr val="2C5F8A"/>
          </a:solidFill>
          <a:ln w="12700">
            <a:solidFill>
              <a:srgbClr val="2C5F8A"/>
            </a:solidFill>
            <a:prstDash val="solid"/>
          </a:ln>
        </p:spPr>
        <p:txBody>
          <a:bodyPr/>
          <a:p/>
        </p:txBody>
      </p:sp>
      <p:sp>
        <p:nvSpPr>
          <p:cNvPr id="42" name="Text 40"/>
          <p:cNvSpPr txBox="1"/>
          <p:nvPr/>
        </p:nvSpPr>
        <p:spPr>
          <a:xfrm>
            <a:off x="9198864" y="1097280"/>
            <a:ext cx="2633472" cy="329184"/>
          </a:xfrm>
          <a:prstGeom prst="rect">
            <a:avLst/>
          </a:prstGeom>
          <a:noFill/>
          <a:ln/>
        </p:spPr>
        <p:txBody>
          <a:bodyPr wrap="square" lIns="25400" tIns="25400" rIns="25400" bIns="2540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Layer 4: AI Microservice</a:t>
            </a:r>
            <a:endParaRPr lang="en-US" sz="1150" dirty="0"/>
          </a:p>
        </p:txBody>
      </p:sp>
      <p:sp>
        <p:nvSpPr>
          <p:cNvPr id="43" name="Text 41"/>
          <p:cNvSpPr txBox="1"/>
          <p:nvPr/>
        </p:nvSpPr>
        <p:spPr>
          <a:xfrm>
            <a:off x="9198864" y="1408176"/>
            <a:ext cx="2633472" cy="201168"/>
          </a:xfrm>
          <a:prstGeom prst="rect">
            <a:avLst/>
          </a:prstGeom>
          <a:noFill/>
          <a:ln/>
        </p:spPr>
        <p:txBody>
          <a:bodyPr wrap="square" lIns="25400" tIns="25400" rIns="25400" bIns="25400" rtlCol="0" anchor="ctr"/>
          <a:lstStyle/>
          <a:p>
            <a:pPr algn="l" indent="0" marL="0">
              <a:buNone/>
            </a:pPr>
            <a:r>
              <a:rPr lang="en-US" sz="900" dirty="0">
                <a:solidFill>
                  <a:srgbClr val="CCCCCC"/>
                </a:solidFill>
                <a:latin typeface="Calibri" pitchFamily="34" charset="0"/>
                <a:ea typeface="Calibri" pitchFamily="34" charset="-122"/>
                <a:cs typeface="Calibri" pitchFamily="34" charset="-120"/>
              </a:rPr>
              <a:t>Flask 3.0 + PyTorch 2.3.1 · Port 5000</a:t>
            </a:r>
            <a:endParaRPr lang="en-US" sz="900" dirty="0"/>
          </a:p>
        </p:txBody>
      </p:sp>
      <p:sp>
        <p:nvSpPr>
          <p:cNvPr id="44" name="Shape 42"/>
          <p:cNvSpPr/>
          <p:nvPr/>
        </p:nvSpPr>
        <p:spPr>
          <a:xfrm>
            <a:off x="9107424" y="1627632"/>
            <a:ext cx="2798064" cy="3657600"/>
          </a:xfrm>
          <a:prstGeom prst="rect">
            <a:avLst/>
          </a:prstGeom>
          <a:solidFill>
            <a:srgbClr val="F5F7FA"/>
          </a:solidFill>
          <a:ln w="12700">
            <a:solidFill>
              <a:srgbClr val="F5F7FA"/>
            </a:solidFill>
            <a:prstDash val="solid"/>
          </a:ln>
        </p:spPr>
        <p:txBody>
          <a:bodyPr/>
          <a:p/>
        </p:txBody>
      </p:sp>
      <p:sp>
        <p:nvSpPr>
          <p:cNvPr id="45" name="Shape 43"/>
          <p:cNvSpPr/>
          <p:nvPr/>
        </p:nvSpPr>
        <p:spPr>
          <a:xfrm>
            <a:off x="9244584" y="2011680"/>
            <a:ext cx="54864" cy="54864"/>
          </a:xfrm>
          <a:prstGeom prst="rect">
            <a:avLst/>
          </a:prstGeom>
          <a:solidFill>
            <a:srgbClr val="2C5F8A"/>
          </a:solidFill>
          <a:ln w="12700">
            <a:solidFill>
              <a:srgbClr val="2C5F8A"/>
            </a:solidFill>
            <a:prstDash val="solid"/>
          </a:ln>
        </p:spPr>
        <p:txBody>
          <a:bodyPr/>
          <a:p/>
        </p:txBody>
      </p:sp>
      <p:sp>
        <p:nvSpPr>
          <p:cNvPr id="46" name="Text 44"/>
          <p:cNvSpPr txBox="1"/>
          <p:nvPr/>
        </p:nvSpPr>
        <p:spPr>
          <a:xfrm>
            <a:off x="9381744" y="1737360"/>
            <a:ext cx="2423160" cy="713232"/>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POST /predict — DNN yield prediction + confidence score</a:t>
            </a:r>
            <a:endParaRPr lang="en-US" sz="1050" dirty="0"/>
          </a:p>
        </p:txBody>
      </p:sp>
      <p:sp>
        <p:nvSpPr>
          <p:cNvPr id="47" name="Shape 45"/>
          <p:cNvSpPr/>
          <p:nvPr/>
        </p:nvSpPr>
        <p:spPr>
          <a:xfrm>
            <a:off x="9244584" y="2761488"/>
            <a:ext cx="54864" cy="54864"/>
          </a:xfrm>
          <a:prstGeom prst="rect">
            <a:avLst/>
          </a:prstGeom>
          <a:solidFill>
            <a:srgbClr val="2C5F8A"/>
          </a:solidFill>
          <a:ln w="12700">
            <a:solidFill>
              <a:srgbClr val="2C5F8A"/>
            </a:solidFill>
            <a:prstDash val="solid"/>
          </a:ln>
        </p:spPr>
        <p:txBody>
          <a:bodyPr/>
          <a:p/>
        </p:txBody>
      </p:sp>
      <p:sp>
        <p:nvSpPr>
          <p:cNvPr id="48" name="Text 46"/>
          <p:cNvSpPr txBox="1"/>
          <p:nvPr/>
        </p:nvSpPr>
        <p:spPr>
          <a:xfrm>
            <a:off x="9381744" y="2487168"/>
            <a:ext cx="2423160" cy="713232"/>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POST /compare — DNN vs RF side-by-side results</a:t>
            </a:r>
            <a:endParaRPr lang="en-US" sz="1050" dirty="0"/>
          </a:p>
        </p:txBody>
      </p:sp>
      <p:sp>
        <p:nvSpPr>
          <p:cNvPr id="49" name="Shape 47"/>
          <p:cNvSpPr/>
          <p:nvPr/>
        </p:nvSpPr>
        <p:spPr>
          <a:xfrm>
            <a:off x="9244584" y="3511296"/>
            <a:ext cx="54864" cy="54864"/>
          </a:xfrm>
          <a:prstGeom prst="rect">
            <a:avLst/>
          </a:prstGeom>
          <a:solidFill>
            <a:srgbClr val="2C5F8A"/>
          </a:solidFill>
          <a:ln w="12700">
            <a:solidFill>
              <a:srgbClr val="2C5F8A"/>
            </a:solidFill>
            <a:prstDash val="solid"/>
          </a:ln>
        </p:spPr>
        <p:txBody>
          <a:bodyPr/>
          <a:p/>
        </p:txBody>
      </p:sp>
      <p:sp>
        <p:nvSpPr>
          <p:cNvPr id="50" name="Text 48"/>
          <p:cNvSpPr txBox="1"/>
          <p:nvPr/>
        </p:nvSpPr>
        <p:spPr>
          <a:xfrm>
            <a:off x="9381744" y="3236976"/>
            <a:ext cx="2423160" cy="713232"/>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GET /health — model loaded confirmation (32ms)</a:t>
            </a:r>
            <a:endParaRPr lang="en-US" sz="1050" dirty="0"/>
          </a:p>
        </p:txBody>
      </p:sp>
      <p:sp>
        <p:nvSpPr>
          <p:cNvPr id="51" name="Shape 49"/>
          <p:cNvSpPr/>
          <p:nvPr/>
        </p:nvSpPr>
        <p:spPr>
          <a:xfrm>
            <a:off x="9244584" y="4261104"/>
            <a:ext cx="54864" cy="54864"/>
          </a:xfrm>
          <a:prstGeom prst="rect">
            <a:avLst/>
          </a:prstGeom>
          <a:solidFill>
            <a:srgbClr val="2C5F8A"/>
          </a:solidFill>
          <a:ln w="12700">
            <a:solidFill>
              <a:srgbClr val="2C5F8A"/>
            </a:solidFill>
            <a:prstDash val="solid"/>
          </a:ln>
        </p:spPr>
        <p:txBody>
          <a:bodyPr/>
          <a:p/>
        </p:txBody>
      </p:sp>
      <p:sp>
        <p:nvSpPr>
          <p:cNvPr id="52" name="Text 50"/>
          <p:cNvSpPr txBox="1"/>
          <p:nvPr/>
        </p:nvSpPr>
        <p:spPr>
          <a:xfrm>
            <a:off x="9381744" y="3986784"/>
            <a:ext cx="2423160" cy="713232"/>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Internal network ONLY — user never contacts Flask directly</a:t>
            </a:r>
            <a:endParaRPr lang="en-US" sz="1050" dirty="0"/>
          </a:p>
        </p:txBody>
      </p:sp>
      <p:sp>
        <p:nvSpPr>
          <p:cNvPr id="53" name="Shape 51"/>
          <p:cNvSpPr/>
          <p:nvPr/>
        </p:nvSpPr>
        <p:spPr>
          <a:xfrm>
            <a:off x="274320" y="5376672"/>
            <a:ext cx="11612880" cy="457200"/>
          </a:xfrm>
          <a:prstGeom prst="rect">
            <a:avLst/>
          </a:prstGeom>
          <a:solidFill>
            <a:srgbClr val="EBF0F7"/>
          </a:solidFill>
          <a:ln w="12700">
            <a:solidFill>
              <a:srgbClr val="EBF0F7"/>
            </a:solidFill>
            <a:prstDash val="solid"/>
          </a:ln>
        </p:spPr>
        <p:txBody>
          <a:bodyPr/>
          <a:p/>
        </p:txBody>
      </p:sp>
      <p:sp>
        <p:nvSpPr>
          <p:cNvPr id="54" name="Text 52"/>
          <p:cNvSpPr txBox="1"/>
          <p:nvPr/>
        </p:nvSpPr>
        <p:spPr>
          <a:xfrm>
            <a:off x="457200" y="5422392"/>
            <a:ext cx="11247120" cy="365760"/>
          </a:xfrm>
          <a:prstGeom prst="rect">
            <a:avLst/>
          </a:prstGeom>
          <a:noFill/>
          <a:ln/>
        </p:spPr>
        <p:txBody>
          <a:bodyPr wrap="square" lIns="25400" tIns="25400" rIns="25400" bIns="25400" rtlCol="0" anchor="ctr"/>
          <a:lstStyle/>
          <a:p>
            <a:pPr algn="l" indent="0" marL="0">
              <a:buNone/>
            </a:pPr>
            <a:r>
              <a:rPr lang="en-US" sz="1200" b="1" dirty="0">
                <a:solidFill>
                  <a:srgbClr val="1E3A5F"/>
                </a:solidFill>
                <a:latin typeface="Calibri" pitchFamily="34" charset="0"/>
                <a:ea typeface="Calibri" pitchFamily="34" charset="-122"/>
                <a:cs typeface="Calibri" pitchFamily="34" charset="-120"/>
              </a:rPr>
              <a:t>🔒 Security: User NEVER contacts Flask directly — all AI requests proxied through Spring Boot (internal network only)</a:t>
            </a:r>
            <a:endParaRPr lang="en-US" sz="1200" dirty="0"/>
          </a:p>
        </p:txBody>
      </p:sp>
      <p:sp>
        <p:nvSpPr>
          <p:cNvPr id="55" name="Shape 53"/>
          <p:cNvSpPr/>
          <p:nvPr/>
        </p:nvSpPr>
        <p:spPr>
          <a:xfrm>
            <a:off x="0" y="6510528"/>
            <a:ext cx="12161520" cy="347472"/>
          </a:xfrm>
          <a:prstGeom prst="rect">
            <a:avLst/>
          </a:prstGeom>
          <a:solidFill>
            <a:srgbClr val="E8EDF3"/>
          </a:solidFill>
          <a:ln w="12700">
            <a:solidFill>
              <a:srgbClr val="E8EDF3"/>
            </a:solidFill>
            <a:prstDash val="solid"/>
          </a:ln>
        </p:spPr>
        <p:txBody>
          <a:body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E3A5F"/>
          </a:solidFill>
          <a:ln w="12700">
            <a:solidFill>
              <a:srgbClr val="1E3A5F"/>
            </a:solidFill>
            <a:prstDash val="solid"/>
          </a:ln>
        </p:spPr>
        <p:txBody>
          <a:bodyPr/>
          <a:p/>
        </p:txBody>
      </p:sp>
      <p:sp>
        <p:nvSpPr>
          <p:cNvPr id="3" name="Text 1"/>
          <p:cNvSpPr txBox="1"/>
          <p:nvPr/>
        </p:nvSpPr>
        <p:spPr>
          <a:xfrm>
            <a:off x="365760" y="45720"/>
            <a:ext cx="10058400" cy="566928"/>
          </a:xfrm>
          <a:prstGeom prst="rect">
            <a:avLst/>
          </a:prstGeom>
          <a:noFill/>
          <a:ln/>
        </p:spPr>
        <p:txBody>
          <a:bodyPr wrap="square" lIns="25400" tIns="25400" rIns="25400" bIns="2540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Database Design &amp; User Interface — 6 Tables · 9 Pages</a:t>
            </a:r>
            <a:endParaRPr lang="en-US" sz="2200" dirty="0"/>
          </a:p>
        </p:txBody>
      </p:sp>
      <p:sp>
        <p:nvSpPr>
          <p:cNvPr id="4" name="Shape 2"/>
          <p:cNvSpPr/>
          <p:nvPr/>
        </p:nvSpPr>
        <p:spPr>
          <a:xfrm>
            <a:off x="0" y="960120"/>
            <a:ext cx="12161520" cy="45720"/>
          </a:xfrm>
          <a:prstGeom prst="rect">
            <a:avLst/>
          </a:prstGeom>
          <a:solidFill>
            <a:srgbClr val="0D6B72"/>
          </a:solidFill>
          <a:ln w="12700">
            <a:solidFill>
              <a:srgbClr val="0D6B72"/>
            </a:solidFill>
            <a:prstDash val="solid"/>
          </a:ln>
        </p:spPr>
        <p:txBody>
          <a:bodyPr/>
          <a:p/>
        </p:txBody>
      </p:sp>
      <p:sp>
        <p:nvSpPr>
          <p:cNvPr id="5" name="Text 3"/>
          <p:cNvSpPr txBox="1"/>
          <p:nvPr/>
        </p:nvSpPr>
        <p:spPr>
          <a:xfrm>
            <a:off x="274320" y="1078992"/>
            <a:ext cx="5852160" cy="347472"/>
          </a:xfrm>
          <a:prstGeom prst="rect">
            <a:avLst/>
          </a:prstGeom>
          <a:noFill/>
          <a:ln/>
        </p:spPr>
        <p:txBody>
          <a:bodyPr wrap="square" lIns="25400" tIns="25400" rIns="25400" bIns="25400" rtlCol="0" anchor="ctr"/>
          <a:lstStyle/>
          <a:p>
            <a:pPr algn="l" indent="0" marL="0">
              <a:buNone/>
            </a:pPr>
            <a:r>
              <a:rPr lang="en-US" sz="1300" b="1" dirty="0">
                <a:solidFill>
                  <a:srgbClr val="1E3A5F"/>
                </a:solidFill>
                <a:latin typeface="Calibri" pitchFamily="34" charset="0"/>
                <a:ea typeface="Calibri" pitchFamily="34" charset="-122"/>
                <a:cs typeface="Calibri" pitchFamily="34" charset="-120"/>
              </a:rPr>
              <a:t>MySQL 8.0 — 6 Normalised Tables:</a:t>
            </a:r>
            <a:endParaRPr lang="en-US" sz="1300" dirty="0"/>
          </a:p>
        </p:txBody>
      </p:sp>
      <p:sp>
        <p:nvSpPr>
          <p:cNvPr id="6" name="Shape 4"/>
          <p:cNvSpPr/>
          <p:nvPr/>
        </p:nvSpPr>
        <p:spPr>
          <a:xfrm>
            <a:off x="274320" y="1490472"/>
            <a:ext cx="1508760" cy="384048"/>
          </a:xfrm>
          <a:prstGeom prst="rect">
            <a:avLst/>
          </a:prstGeom>
          <a:solidFill>
            <a:srgbClr val="1E3A5F"/>
          </a:solidFill>
          <a:ln w="12700">
            <a:solidFill>
              <a:srgbClr val="1E3A5F"/>
            </a:solidFill>
            <a:prstDash val="solid"/>
          </a:ln>
        </p:spPr>
        <p:txBody>
          <a:bodyPr/>
          <a:p/>
        </p:txBody>
      </p:sp>
      <p:sp>
        <p:nvSpPr>
          <p:cNvPr id="7" name="Text 5"/>
          <p:cNvSpPr txBox="1"/>
          <p:nvPr/>
        </p:nvSpPr>
        <p:spPr>
          <a:xfrm>
            <a:off x="320040" y="1527048"/>
            <a:ext cx="1444752" cy="320040"/>
          </a:xfrm>
          <a:prstGeom prst="rect">
            <a:avLst/>
          </a:prstGeom>
          <a:noFill/>
          <a:ln/>
        </p:spPr>
        <p:txBody>
          <a:bodyPr wrap="square" lIns="25400" tIns="25400" rIns="25400" bIns="2540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users</a:t>
            </a:r>
            <a:endParaRPr lang="en-US" sz="1000" dirty="0"/>
          </a:p>
        </p:txBody>
      </p:sp>
      <p:sp>
        <p:nvSpPr>
          <p:cNvPr id="8" name="Shape 6"/>
          <p:cNvSpPr/>
          <p:nvPr/>
        </p:nvSpPr>
        <p:spPr>
          <a:xfrm>
            <a:off x="1828800" y="1490472"/>
            <a:ext cx="4389120" cy="384048"/>
          </a:xfrm>
          <a:prstGeom prst="rect">
            <a:avLst/>
          </a:prstGeom>
          <a:solidFill>
            <a:srgbClr val="EBF0F7"/>
          </a:solidFill>
          <a:ln w="12700">
            <a:solidFill>
              <a:srgbClr val="EBF0F7"/>
            </a:solidFill>
            <a:prstDash val="solid"/>
          </a:ln>
        </p:spPr>
        <p:txBody>
          <a:bodyPr/>
          <a:p/>
        </p:txBody>
      </p:sp>
      <p:sp>
        <p:nvSpPr>
          <p:cNvPr id="9" name="Text 7"/>
          <p:cNvSpPr txBox="1"/>
          <p:nvPr/>
        </p:nvSpPr>
        <p:spPr>
          <a:xfrm>
            <a:off x="1920240" y="1527048"/>
            <a:ext cx="4251960" cy="320040"/>
          </a:xfrm>
          <a:prstGeom prst="rect">
            <a:avLst/>
          </a:prstGeom>
          <a:noFill/>
          <a:ln/>
        </p:spPr>
        <p:txBody>
          <a:bodyPr wrap="square" lIns="25400" tIns="25400" rIns="25400" bIns="25400" rtlCol="0" anchor="ctr"/>
          <a:lstStyle/>
          <a:p>
            <a:pPr algn="l" indent="0" marL="0">
              <a:buNone/>
            </a:pPr>
            <a:r>
              <a:rPr lang="en-US" sz="1000" dirty="0">
                <a:solidFill>
                  <a:srgbClr val="1A202C"/>
                </a:solidFill>
                <a:latin typeface="Calibri" pitchFamily="34" charset="0"/>
                <a:ea typeface="Calibri" pitchFamily="34" charset="-122"/>
                <a:cs typeface="Calibri" pitchFamily="34" charset="-120"/>
              </a:rPr>
              <a:t>user_id · name · email · BCrypt-12 hash · role ENUM</a:t>
            </a:r>
            <a:endParaRPr lang="en-US" sz="1000" dirty="0"/>
          </a:p>
        </p:txBody>
      </p:sp>
      <p:sp>
        <p:nvSpPr>
          <p:cNvPr id="10" name="Shape 8"/>
          <p:cNvSpPr/>
          <p:nvPr/>
        </p:nvSpPr>
        <p:spPr>
          <a:xfrm>
            <a:off x="274320" y="1929384"/>
            <a:ext cx="1508760" cy="384048"/>
          </a:xfrm>
          <a:prstGeom prst="rect">
            <a:avLst/>
          </a:prstGeom>
          <a:solidFill>
            <a:srgbClr val="1E3A5F"/>
          </a:solidFill>
          <a:ln w="12700">
            <a:solidFill>
              <a:srgbClr val="1E3A5F"/>
            </a:solidFill>
            <a:prstDash val="solid"/>
          </a:ln>
        </p:spPr>
        <p:txBody>
          <a:bodyPr/>
          <a:p/>
        </p:txBody>
      </p:sp>
      <p:sp>
        <p:nvSpPr>
          <p:cNvPr id="11" name="Text 9"/>
          <p:cNvSpPr txBox="1"/>
          <p:nvPr/>
        </p:nvSpPr>
        <p:spPr>
          <a:xfrm>
            <a:off x="320040" y="1965960"/>
            <a:ext cx="1444752" cy="320040"/>
          </a:xfrm>
          <a:prstGeom prst="rect">
            <a:avLst/>
          </a:prstGeom>
          <a:noFill/>
          <a:ln/>
        </p:spPr>
        <p:txBody>
          <a:bodyPr wrap="square" lIns="25400" tIns="25400" rIns="25400" bIns="2540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farms</a:t>
            </a:r>
            <a:endParaRPr lang="en-US" sz="1000" dirty="0"/>
          </a:p>
        </p:txBody>
      </p:sp>
      <p:sp>
        <p:nvSpPr>
          <p:cNvPr id="12" name="Shape 10"/>
          <p:cNvSpPr/>
          <p:nvPr/>
        </p:nvSpPr>
        <p:spPr>
          <a:xfrm>
            <a:off x="1828800" y="1929384"/>
            <a:ext cx="4389120" cy="384048"/>
          </a:xfrm>
          <a:prstGeom prst="rect">
            <a:avLst/>
          </a:prstGeom>
          <a:solidFill>
            <a:srgbClr val="F5F7FA"/>
          </a:solidFill>
          <a:ln w="12700">
            <a:solidFill>
              <a:srgbClr val="F5F7FA"/>
            </a:solidFill>
            <a:prstDash val="solid"/>
          </a:ln>
        </p:spPr>
        <p:txBody>
          <a:bodyPr/>
          <a:p/>
        </p:txBody>
      </p:sp>
      <p:sp>
        <p:nvSpPr>
          <p:cNvPr id="13" name="Text 11"/>
          <p:cNvSpPr txBox="1"/>
          <p:nvPr/>
        </p:nvSpPr>
        <p:spPr>
          <a:xfrm>
            <a:off x="1920240" y="1965960"/>
            <a:ext cx="4251960" cy="320040"/>
          </a:xfrm>
          <a:prstGeom prst="rect">
            <a:avLst/>
          </a:prstGeom>
          <a:noFill/>
          <a:ln/>
        </p:spPr>
        <p:txBody>
          <a:bodyPr wrap="square" lIns="25400" tIns="25400" rIns="25400" bIns="25400" rtlCol="0" anchor="ctr"/>
          <a:lstStyle/>
          <a:p>
            <a:pPr algn="l" indent="0" marL="0">
              <a:buNone/>
            </a:pPr>
            <a:r>
              <a:rPr lang="en-US" sz="1000" dirty="0">
                <a:solidFill>
                  <a:srgbClr val="1A202C"/>
                </a:solidFill>
                <a:latin typeface="Calibri" pitchFamily="34" charset="0"/>
                <a:ea typeface="Calibri" pitchFamily="34" charset="-122"/>
                <a:cs typeface="Calibri" pitchFamily="34" charset="-120"/>
              </a:rPr>
              <a:t>farm_id · user_id FK · name · location · area · year</a:t>
            </a:r>
            <a:endParaRPr lang="en-US" sz="1000" dirty="0"/>
          </a:p>
        </p:txBody>
      </p:sp>
      <p:sp>
        <p:nvSpPr>
          <p:cNvPr id="14" name="Shape 12"/>
          <p:cNvSpPr/>
          <p:nvPr/>
        </p:nvSpPr>
        <p:spPr>
          <a:xfrm>
            <a:off x="274320" y="2368296"/>
            <a:ext cx="1508760" cy="384048"/>
          </a:xfrm>
          <a:prstGeom prst="rect">
            <a:avLst/>
          </a:prstGeom>
          <a:solidFill>
            <a:srgbClr val="1E3A5F"/>
          </a:solidFill>
          <a:ln w="12700">
            <a:solidFill>
              <a:srgbClr val="1E3A5F"/>
            </a:solidFill>
            <a:prstDash val="solid"/>
          </a:ln>
        </p:spPr>
        <p:txBody>
          <a:bodyPr/>
          <a:p/>
        </p:txBody>
      </p:sp>
      <p:sp>
        <p:nvSpPr>
          <p:cNvPr id="15" name="Text 13"/>
          <p:cNvSpPr txBox="1"/>
          <p:nvPr/>
        </p:nvSpPr>
        <p:spPr>
          <a:xfrm>
            <a:off x="320040" y="2404872"/>
            <a:ext cx="1444752" cy="320040"/>
          </a:xfrm>
          <a:prstGeom prst="rect">
            <a:avLst/>
          </a:prstGeom>
          <a:noFill/>
          <a:ln/>
        </p:spPr>
        <p:txBody>
          <a:bodyPr wrap="square" lIns="25400" tIns="25400" rIns="25400" bIns="2540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growing_units</a:t>
            </a:r>
            <a:endParaRPr lang="en-US" sz="1000" dirty="0"/>
          </a:p>
        </p:txBody>
      </p:sp>
      <p:sp>
        <p:nvSpPr>
          <p:cNvPr id="16" name="Shape 14"/>
          <p:cNvSpPr/>
          <p:nvPr/>
        </p:nvSpPr>
        <p:spPr>
          <a:xfrm>
            <a:off x="1828800" y="2368296"/>
            <a:ext cx="4389120" cy="384048"/>
          </a:xfrm>
          <a:prstGeom prst="rect">
            <a:avLst/>
          </a:prstGeom>
          <a:solidFill>
            <a:srgbClr val="EBF0F7"/>
          </a:solidFill>
          <a:ln w="12700">
            <a:solidFill>
              <a:srgbClr val="EBF0F7"/>
            </a:solidFill>
            <a:prstDash val="solid"/>
          </a:ln>
        </p:spPr>
        <p:txBody>
          <a:bodyPr/>
          <a:p/>
        </p:txBody>
      </p:sp>
      <p:sp>
        <p:nvSpPr>
          <p:cNvPr id="17" name="Text 15"/>
          <p:cNvSpPr txBox="1"/>
          <p:nvPr/>
        </p:nvSpPr>
        <p:spPr>
          <a:xfrm>
            <a:off x="1920240" y="2404872"/>
            <a:ext cx="4251960" cy="320040"/>
          </a:xfrm>
          <a:prstGeom prst="rect">
            <a:avLst/>
          </a:prstGeom>
          <a:noFill/>
          <a:ln/>
        </p:spPr>
        <p:txBody>
          <a:bodyPr wrap="square" lIns="25400" tIns="25400" rIns="25400" bIns="25400" rtlCol="0" anchor="ctr"/>
          <a:lstStyle/>
          <a:p>
            <a:pPr algn="l" indent="0" marL="0">
              <a:buNone/>
            </a:pPr>
            <a:r>
              <a:rPr lang="en-US" sz="1000" dirty="0">
                <a:solidFill>
                  <a:srgbClr val="1A202C"/>
                </a:solidFill>
                <a:latin typeface="Calibri" pitchFamily="34" charset="0"/>
                <a:ea typeface="Calibri" pitchFamily="34" charset="-122"/>
                <a:cs typeface="Calibri" pitchFamily="34" charset="-120"/>
              </a:rPr>
              <a:t>unit_id · farm_id FK · name · growing_method ENUM</a:t>
            </a:r>
            <a:endParaRPr lang="en-US" sz="1000" dirty="0"/>
          </a:p>
        </p:txBody>
      </p:sp>
      <p:sp>
        <p:nvSpPr>
          <p:cNvPr id="18" name="Shape 16"/>
          <p:cNvSpPr/>
          <p:nvPr/>
        </p:nvSpPr>
        <p:spPr>
          <a:xfrm>
            <a:off x="274320" y="2807208"/>
            <a:ext cx="1508760" cy="384048"/>
          </a:xfrm>
          <a:prstGeom prst="rect">
            <a:avLst/>
          </a:prstGeom>
          <a:solidFill>
            <a:srgbClr val="1E3A5F"/>
          </a:solidFill>
          <a:ln w="12700">
            <a:solidFill>
              <a:srgbClr val="1E3A5F"/>
            </a:solidFill>
            <a:prstDash val="solid"/>
          </a:ln>
        </p:spPr>
        <p:txBody>
          <a:bodyPr/>
          <a:p/>
        </p:txBody>
      </p:sp>
      <p:sp>
        <p:nvSpPr>
          <p:cNvPr id="19" name="Text 17"/>
          <p:cNvSpPr txBox="1"/>
          <p:nvPr/>
        </p:nvSpPr>
        <p:spPr>
          <a:xfrm>
            <a:off x="320040" y="2843784"/>
            <a:ext cx="1444752" cy="320040"/>
          </a:xfrm>
          <a:prstGeom prst="rect">
            <a:avLst/>
          </a:prstGeom>
          <a:noFill/>
          <a:ln/>
        </p:spPr>
        <p:txBody>
          <a:bodyPr wrap="square" lIns="25400" tIns="25400" rIns="25400" bIns="2540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crops</a:t>
            </a:r>
            <a:endParaRPr lang="en-US" sz="1000" dirty="0"/>
          </a:p>
        </p:txBody>
      </p:sp>
      <p:sp>
        <p:nvSpPr>
          <p:cNvPr id="20" name="Shape 18"/>
          <p:cNvSpPr/>
          <p:nvPr/>
        </p:nvSpPr>
        <p:spPr>
          <a:xfrm>
            <a:off x="1828800" y="2807208"/>
            <a:ext cx="4389120" cy="384048"/>
          </a:xfrm>
          <a:prstGeom prst="rect">
            <a:avLst/>
          </a:prstGeom>
          <a:solidFill>
            <a:srgbClr val="F5F7FA"/>
          </a:solidFill>
          <a:ln w="12700">
            <a:solidFill>
              <a:srgbClr val="F5F7FA"/>
            </a:solidFill>
            <a:prstDash val="solid"/>
          </a:ln>
        </p:spPr>
        <p:txBody>
          <a:bodyPr/>
          <a:p/>
        </p:txBody>
      </p:sp>
      <p:sp>
        <p:nvSpPr>
          <p:cNvPr id="21" name="Text 19"/>
          <p:cNvSpPr txBox="1"/>
          <p:nvPr/>
        </p:nvSpPr>
        <p:spPr>
          <a:xfrm>
            <a:off x="1920240" y="2843784"/>
            <a:ext cx="4251960" cy="320040"/>
          </a:xfrm>
          <a:prstGeom prst="rect">
            <a:avLst/>
          </a:prstGeom>
          <a:noFill/>
          <a:ln/>
        </p:spPr>
        <p:txBody>
          <a:bodyPr wrap="square" lIns="25400" tIns="25400" rIns="25400" bIns="25400" rtlCol="0" anchor="ctr"/>
          <a:lstStyle/>
          <a:p>
            <a:pPr algn="l" indent="0" marL="0">
              <a:buNone/>
            </a:pPr>
            <a:r>
              <a:rPr lang="en-US" sz="1000" dirty="0">
                <a:solidFill>
                  <a:srgbClr val="1A202C"/>
                </a:solidFill>
                <a:latin typeface="Calibri" pitchFamily="34" charset="0"/>
                <a:ea typeface="Calibri" pitchFamily="34" charset="-122"/>
                <a:cs typeface="Calibri" pitchFamily="34" charset="-120"/>
              </a:rPr>
              <a:t>crop_id · unit_id FK · crop_type · planting_date · actual_yield</a:t>
            </a:r>
            <a:endParaRPr lang="en-US" sz="1000" dirty="0"/>
          </a:p>
        </p:txBody>
      </p:sp>
      <p:sp>
        <p:nvSpPr>
          <p:cNvPr id="22" name="Shape 20"/>
          <p:cNvSpPr/>
          <p:nvPr/>
        </p:nvSpPr>
        <p:spPr>
          <a:xfrm>
            <a:off x="274320" y="3246120"/>
            <a:ext cx="1508760" cy="384048"/>
          </a:xfrm>
          <a:prstGeom prst="rect">
            <a:avLst/>
          </a:prstGeom>
          <a:solidFill>
            <a:srgbClr val="1E3A5F"/>
          </a:solidFill>
          <a:ln w="12700">
            <a:solidFill>
              <a:srgbClr val="1E3A5F"/>
            </a:solidFill>
            <a:prstDash val="solid"/>
          </a:ln>
        </p:spPr>
        <p:txBody>
          <a:bodyPr/>
          <a:p/>
        </p:txBody>
      </p:sp>
      <p:sp>
        <p:nvSpPr>
          <p:cNvPr id="23" name="Text 21"/>
          <p:cNvSpPr txBox="1"/>
          <p:nvPr/>
        </p:nvSpPr>
        <p:spPr>
          <a:xfrm>
            <a:off x="320040" y="3282696"/>
            <a:ext cx="1444752" cy="320040"/>
          </a:xfrm>
          <a:prstGeom prst="rect">
            <a:avLst/>
          </a:prstGeom>
          <a:noFill/>
          <a:ln/>
        </p:spPr>
        <p:txBody>
          <a:bodyPr wrap="square" lIns="25400" tIns="25400" rIns="25400" bIns="2540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activities</a:t>
            </a:r>
            <a:endParaRPr lang="en-US" sz="1000" dirty="0"/>
          </a:p>
        </p:txBody>
      </p:sp>
      <p:sp>
        <p:nvSpPr>
          <p:cNvPr id="24" name="Shape 22"/>
          <p:cNvSpPr/>
          <p:nvPr/>
        </p:nvSpPr>
        <p:spPr>
          <a:xfrm>
            <a:off x="1828800" y="3246120"/>
            <a:ext cx="4389120" cy="384048"/>
          </a:xfrm>
          <a:prstGeom prst="rect">
            <a:avLst/>
          </a:prstGeom>
          <a:solidFill>
            <a:srgbClr val="EBF0F7"/>
          </a:solidFill>
          <a:ln w="12700">
            <a:solidFill>
              <a:srgbClr val="EBF0F7"/>
            </a:solidFill>
            <a:prstDash val="solid"/>
          </a:ln>
        </p:spPr>
        <p:txBody>
          <a:bodyPr/>
          <a:p/>
        </p:txBody>
      </p:sp>
      <p:sp>
        <p:nvSpPr>
          <p:cNvPr id="25" name="Text 23"/>
          <p:cNvSpPr txBox="1"/>
          <p:nvPr/>
        </p:nvSpPr>
        <p:spPr>
          <a:xfrm>
            <a:off x="1920240" y="3282696"/>
            <a:ext cx="4251960" cy="320040"/>
          </a:xfrm>
          <a:prstGeom prst="rect">
            <a:avLst/>
          </a:prstGeom>
          <a:noFill/>
          <a:ln/>
        </p:spPr>
        <p:txBody>
          <a:bodyPr wrap="square" lIns="25400" tIns="25400" rIns="25400" bIns="25400" rtlCol="0" anchor="ctr"/>
          <a:lstStyle/>
          <a:p>
            <a:pPr algn="l" indent="0" marL="0">
              <a:buNone/>
            </a:pPr>
            <a:r>
              <a:rPr lang="en-US" sz="1000" dirty="0">
                <a:solidFill>
                  <a:srgbClr val="1A202C"/>
                </a:solidFill>
                <a:latin typeface="Calibri" pitchFamily="34" charset="0"/>
                <a:ea typeface="Calibri" pitchFamily="34" charset="-122"/>
                <a:cs typeface="Calibri" pitchFamily="34" charset="-120"/>
              </a:rPr>
              <a:t>activity_id · farm_id FK · ENUM type · date · notes</a:t>
            </a:r>
            <a:endParaRPr lang="en-US" sz="1000" dirty="0"/>
          </a:p>
        </p:txBody>
      </p:sp>
      <p:sp>
        <p:nvSpPr>
          <p:cNvPr id="26" name="Shape 24"/>
          <p:cNvSpPr/>
          <p:nvPr/>
        </p:nvSpPr>
        <p:spPr>
          <a:xfrm>
            <a:off x="274320" y="3685032"/>
            <a:ext cx="1508760" cy="384048"/>
          </a:xfrm>
          <a:prstGeom prst="rect">
            <a:avLst/>
          </a:prstGeom>
          <a:solidFill>
            <a:srgbClr val="1E3A5F"/>
          </a:solidFill>
          <a:ln w="12700">
            <a:solidFill>
              <a:srgbClr val="1E3A5F"/>
            </a:solidFill>
            <a:prstDash val="solid"/>
          </a:ln>
        </p:spPr>
        <p:txBody>
          <a:bodyPr/>
          <a:p/>
        </p:txBody>
      </p:sp>
      <p:sp>
        <p:nvSpPr>
          <p:cNvPr id="27" name="Text 25"/>
          <p:cNvSpPr txBox="1"/>
          <p:nvPr/>
        </p:nvSpPr>
        <p:spPr>
          <a:xfrm>
            <a:off x="320040" y="3721608"/>
            <a:ext cx="1444752" cy="320040"/>
          </a:xfrm>
          <a:prstGeom prst="rect">
            <a:avLst/>
          </a:prstGeom>
          <a:noFill/>
          <a:ln/>
        </p:spPr>
        <p:txBody>
          <a:bodyPr wrap="square" lIns="25400" tIns="25400" rIns="25400" bIns="2540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predictions</a:t>
            </a:r>
            <a:endParaRPr lang="en-US" sz="1000" dirty="0"/>
          </a:p>
        </p:txBody>
      </p:sp>
      <p:sp>
        <p:nvSpPr>
          <p:cNvPr id="28" name="Shape 26"/>
          <p:cNvSpPr/>
          <p:nvPr/>
        </p:nvSpPr>
        <p:spPr>
          <a:xfrm>
            <a:off x="1828800" y="3685032"/>
            <a:ext cx="4389120" cy="384048"/>
          </a:xfrm>
          <a:prstGeom prst="rect">
            <a:avLst/>
          </a:prstGeom>
          <a:solidFill>
            <a:srgbClr val="F5F7FA"/>
          </a:solidFill>
          <a:ln w="12700">
            <a:solidFill>
              <a:srgbClr val="F5F7FA"/>
            </a:solidFill>
            <a:prstDash val="solid"/>
          </a:ln>
        </p:spPr>
        <p:txBody>
          <a:bodyPr/>
          <a:p/>
        </p:txBody>
      </p:sp>
      <p:sp>
        <p:nvSpPr>
          <p:cNvPr id="29" name="Text 27"/>
          <p:cNvSpPr txBox="1"/>
          <p:nvPr/>
        </p:nvSpPr>
        <p:spPr>
          <a:xfrm>
            <a:off x="1920240" y="3721608"/>
            <a:ext cx="4251960" cy="320040"/>
          </a:xfrm>
          <a:prstGeom prst="rect">
            <a:avLst/>
          </a:prstGeom>
          <a:noFill/>
          <a:ln/>
        </p:spPr>
        <p:txBody>
          <a:bodyPr wrap="square" lIns="25400" tIns="25400" rIns="25400" bIns="25400" rtlCol="0" anchor="ctr"/>
          <a:lstStyle/>
          <a:p>
            <a:pPr algn="l" indent="0" marL="0">
              <a:buNone/>
            </a:pPr>
            <a:r>
              <a:rPr lang="en-US" sz="1000" dirty="0">
                <a:solidFill>
                  <a:srgbClr val="1A202C"/>
                </a:solidFill>
                <a:latin typeface="Calibri" pitchFamily="34" charset="0"/>
                <a:ea typeface="Calibri" pitchFamily="34" charset="-122"/>
                <a:cs typeface="Calibri" pitchFamily="34" charset="-120"/>
              </a:rPr>
              <a:t>prediction_id · user_id FK · inputs · yield · confidence</a:t>
            </a:r>
            <a:endParaRPr lang="en-US" sz="1000" dirty="0"/>
          </a:p>
        </p:txBody>
      </p:sp>
      <p:sp>
        <p:nvSpPr>
          <p:cNvPr id="30" name="Text 28"/>
          <p:cNvSpPr txBox="1"/>
          <p:nvPr/>
        </p:nvSpPr>
        <p:spPr>
          <a:xfrm>
            <a:off x="274320" y="4160520"/>
            <a:ext cx="6035040" cy="320040"/>
          </a:xfrm>
          <a:prstGeom prst="rect">
            <a:avLst/>
          </a:prstGeom>
          <a:noFill/>
          <a:ln/>
        </p:spPr>
        <p:txBody>
          <a:bodyPr wrap="square" lIns="25400" tIns="25400" rIns="25400" bIns="25400" rtlCol="0" anchor="ctr"/>
          <a:lstStyle/>
          <a:p>
            <a:pPr algn="l" indent="0" marL="0">
              <a:buNone/>
            </a:pPr>
            <a:r>
              <a:rPr lang="en-US" sz="950" i="1" dirty="0">
                <a:solidFill>
                  <a:srgbClr val="718096"/>
                </a:solidFill>
                <a:latin typeface="Calibri" pitchFamily="34" charset="0"/>
                <a:ea typeface="Calibri" pitchFamily="34" charset="-122"/>
                <a:cs typeface="Calibri" pitchFamily="34" charset="-120"/>
              </a:rPr>
              <a:t>FK constraints + CASCADE DELETE · ENUM types enforce valid values at DB level · @Param parameterised queries</a:t>
            </a:r>
            <a:endParaRPr lang="en-US" sz="950" dirty="0"/>
          </a:p>
        </p:txBody>
      </p:sp>
      <p:sp>
        <p:nvSpPr>
          <p:cNvPr id="31" name="Text 29"/>
          <p:cNvSpPr txBox="1"/>
          <p:nvPr/>
        </p:nvSpPr>
        <p:spPr>
          <a:xfrm>
            <a:off x="6492240" y="1078992"/>
            <a:ext cx="5486400" cy="347472"/>
          </a:xfrm>
          <a:prstGeom prst="rect">
            <a:avLst/>
          </a:prstGeom>
          <a:noFill/>
          <a:ln/>
        </p:spPr>
        <p:txBody>
          <a:bodyPr wrap="square" lIns="25400" tIns="25400" rIns="25400" bIns="25400" rtlCol="0" anchor="ctr"/>
          <a:lstStyle/>
          <a:p>
            <a:pPr algn="l" indent="0" marL="0">
              <a:buNone/>
            </a:pPr>
            <a:r>
              <a:rPr lang="en-US" sz="1300" b="1" dirty="0">
                <a:solidFill>
                  <a:srgbClr val="1E3A5F"/>
                </a:solidFill>
                <a:latin typeface="Calibri" pitchFamily="34" charset="0"/>
                <a:ea typeface="Calibri" pitchFamily="34" charset="-122"/>
                <a:cs typeface="Calibri" pitchFamily="34" charset="-120"/>
              </a:rPr>
              <a:t>9 ReactJS Pages — Complete Operator Workflow:</a:t>
            </a:r>
            <a:endParaRPr lang="en-US" sz="1300" dirty="0"/>
          </a:p>
        </p:txBody>
      </p:sp>
      <p:sp>
        <p:nvSpPr>
          <p:cNvPr id="32" name="Shape 30"/>
          <p:cNvSpPr/>
          <p:nvPr/>
        </p:nvSpPr>
        <p:spPr>
          <a:xfrm>
            <a:off x="6492240" y="1490472"/>
            <a:ext cx="1463040" cy="384048"/>
          </a:xfrm>
          <a:prstGeom prst="rect">
            <a:avLst/>
          </a:prstGeom>
          <a:solidFill>
            <a:srgbClr val="0D6B72"/>
          </a:solidFill>
          <a:ln w="12700">
            <a:solidFill>
              <a:srgbClr val="0D6B72"/>
            </a:solidFill>
            <a:prstDash val="solid"/>
          </a:ln>
        </p:spPr>
        <p:txBody>
          <a:bodyPr/>
          <a:p/>
        </p:txBody>
      </p:sp>
      <p:sp>
        <p:nvSpPr>
          <p:cNvPr id="33" name="Text 31"/>
          <p:cNvSpPr txBox="1"/>
          <p:nvPr/>
        </p:nvSpPr>
        <p:spPr>
          <a:xfrm>
            <a:off x="6537960" y="1527048"/>
            <a:ext cx="1389888" cy="320040"/>
          </a:xfrm>
          <a:prstGeom prst="rect">
            <a:avLst/>
          </a:prstGeom>
          <a:noFill/>
          <a:ln/>
        </p:spPr>
        <p:txBody>
          <a:bodyPr wrap="square" lIns="25400" tIns="25400" rIns="25400" bIns="2540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Login</a:t>
            </a:r>
            <a:endParaRPr lang="en-US" sz="1000" dirty="0"/>
          </a:p>
        </p:txBody>
      </p:sp>
      <p:sp>
        <p:nvSpPr>
          <p:cNvPr id="34" name="Shape 32"/>
          <p:cNvSpPr/>
          <p:nvPr/>
        </p:nvSpPr>
        <p:spPr>
          <a:xfrm>
            <a:off x="8001000" y="1490472"/>
            <a:ext cx="777240" cy="384048"/>
          </a:xfrm>
          <a:prstGeom prst="rect">
            <a:avLst/>
          </a:prstGeom>
          <a:solidFill>
            <a:srgbClr val="E6F4F5"/>
          </a:solidFill>
          <a:ln w="12700">
            <a:solidFill>
              <a:srgbClr val="E6F4F5"/>
            </a:solidFill>
            <a:prstDash val="solid"/>
          </a:ln>
        </p:spPr>
        <p:txBody>
          <a:bodyPr/>
          <a:p/>
        </p:txBody>
      </p:sp>
      <p:sp>
        <p:nvSpPr>
          <p:cNvPr id="35" name="Text 33"/>
          <p:cNvSpPr txBox="1"/>
          <p:nvPr/>
        </p:nvSpPr>
        <p:spPr>
          <a:xfrm>
            <a:off x="8046720" y="1527048"/>
            <a:ext cx="713232" cy="320040"/>
          </a:xfrm>
          <a:prstGeom prst="rect">
            <a:avLst/>
          </a:prstGeom>
          <a:noFill/>
          <a:ln/>
        </p:spPr>
        <p:txBody>
          <a:bodyPr wrap="square" lIns="25400" tIns="25400" rIns="25400" bIns="25400" rtlCol="0" anchor="ctr"/>
          <a:lstStyle/>
          <a:p>
            <a:pPr algn="l" indent="0" marL="0">
              <a:buNone/>
            </a:pPr>
            <a:r>
              <a:rPr lang="en-US" sz="900" b="1" dirty="0">
                <a:solidFill>
                  <a:srgbClr val="0D6B72"/>
                </a:solidFill>
                <a:latin typeface="Calibri" pitchFamily="34" charset="0"/>
                <a:ea typeface="Calibri" pitchFamily="34" charset="-122"/>
                <a:cs typeface="Calibri" pitchFamily="34" charset="-120"/>
              </a:rPr>
              <a:t>FR2</a:t>
            </a:r>
            <a:endParaRPr lang="en-US" sz="900" dirty="0"/>
          </a:p>
        </p:txBody>
      </p:sp>
      <p:sp>
        <p:nvSpPr>
          <p:cNvPr id="36" name="Shape 34"/>
          <p:cNvSpPr/>
          <p:nvPr/>
        </p:nvSpPr>
        <p:spPr>
          <a:xfrm>
            <a:off x="8823960" y="1490472"/>
            <a:ext cx="3337560" cy="384048"/>
          </a:xfrm>
          <a:prstGeom prst="rect">
            <a:avLst/>
          </a:prstGeom>
          <a:solidFill>
            <a:srgbClr val="EBF0F7"/>
          </a:solidFill>
          <a:ln w="12700">
            <a:solidFill>
              <a:srgbClr val="EBF0F7"/>
            </a:solidFill>
            <a:prstDash val="solid"/>
          </a:ln>
        </p:spPr>
        <p:txBody>
          <a:bodyPr/>
          <a:p/>
        </p:txBody>
      </p:sp>
      <p:sp>
        <p:nvSpPr>
          <p:cNvPr id="37" name="Text 35"/>
          <p:cNvSpPr txBox="1"/>
          <p:nvPr/>
        </p:nvSpPr>
        <p:spPr>
          <a:xfrm>
            <a:off x="8887968" y="1527048"/>
            <a:ext cx="3246120" cy="320040"/>
          </a:xfrm>
          <a:prstGeom prst="rect">
            <a:avLst/>
          </a:prstGeom>
          <a:noFill/>
          <a:ln/>
        </p:spPr>
        <p:txBody>
          <a:bodyPr wrap="square" lIns="25400" tIns="25400" rIns="25400" bIns="25400" rtlCol="0" anchor="ctr"/>
          <a:lstStyle/>
          <a:p>
            <a:pPr algn="l" indent="0" marL="0">
              <a:buNone/>
            </a:pPr>
            <a:r>
              <a:rPr lang="en-US" sz="1000" dirty="0">
                <a:solidFill>
                  <a:srgbClr val="1A202C"/>
                </a:solidFill>
                <a:latin typeface="Calibri" pitchFamily="34" charset="0"/>
                <a:ea typeface="Calibri" pitchFamily="34" charset="-122"/>
                <a:cs typeface="Calibri" pitchFamily="34" charset="-120"/>
              </a:rPr>
              <a:t>BCrypt verify · JWT generate</a:t>
            </a:r>
            <a:endParaRPr lang="en-US" sz="1000" dirty="0"/>
          </a:p>
        </p:txBody>
      </p:sp>
      <p:sp>
        <p:nvSpPr>
          <p:cNvPr id="38" name="Shape 36"/>
          <p:cNvSpPr/>
          <p:nvPr/>
        </p:nvSpPr>
        <p:spPr>
          <a:xfrm>
            <a:off x="6492240" y="1929384"/>
            <a:ext cx="1463040" cy="384048"/>
          </a:xfrm>
          <a:prstGeom prst="rect">
            <a:avLst/>
          </a:prstGeom>
          <a:solidFill>
            <a:srgbClr val="0D6B72"/>
          </a:solidFill>
          <a:ln w="12700">
            <a:solidFill>
              <a:srgbClr val="0D6B72"/>
            </a:solidFill>
            <a:prstDash val="solid"/>
          </a:ln>
        </p:spPr>
        <p:txBody>
          <a:bodyPr/>
          <a:p/>
        </p:txBody>
      </p:sp>
      <p:sp>
        <p:nvSpPr>
          <p:cNvPr id="39" name="Text 37"/>
          <p:cNvSpPr txBox="1"/>
          <p:nvPr/>
        </p:nvSpPr>
        <p:spPr>
          <a:xfrm>
            <a:off x="6537960" y="1965960"/>
            <a:ext cx="1389888" cy="320040"/>
          </a:xfrm>
          <a:prstGeom prst="rect">
            <a:avLst/>
          </a:prstGeom>
          <a:noFill/>
          <a:ln/>
        </p:spPr>
        <p:txBody>
          <a:bodyPr wrap="square" lIns="25400" tIns="25400" rIns="25400" bIns="2540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Register</a:t>
            </a:r>
            <a:endParaRPr lang="en-US" sz="1000" dirty="0"/>
          </a:p>
        </p:txBody>
      </p:sp>
      <p:sp>
        <p:nvSpPr>
          <p:cNvPr id="40" name="Shape 38"/>
          <p:cNvSpPr/>
          <p:nvPr/>
        </p:nvSpPr>
        <p:spPr>
          <a:xfrm>
            <a:off x="8001000" y="1929384"/>
            <a:ext cx="777240" cy="384048"/>
          </a:xfrm>
          <a:prstGeom prst="rect">
            <a:avLst/>
          </a:prstGeom>
          <a:solidFill>
            <a:srgbClr val="E6F4F5"/>
          </a:solidFill>
          <a:ln w="12700">
            <a:solidFill>
              <a:srgbClr val="E6F4F5"/>
            </a:solidFill>
            <a:prstDash val="solid"/>
          </a:ln>
        </p:spPr>
        <p:txBody>
          <a:bodyPr/>
          <a:p/>
        </p:txBody>
      </p:sp>
      <p:sp>
        <p:nvSpPr>
          <p:cNvPr id="41" name="Text 39"/>
          <p:cNvSpPr txBox="1"/>
          <p:nvPr/>
        </p:nvSpPr>
        <p:spPr>
          <a:xfrm>
            <a:off x="8046720" y="1965960"/>
            <a:ext cx="713232" cy="320040"/>
          </a:xfrm>
          <a:prstGeom prst="rect">
            <a:avLst/>
          </a:prstGeom>
          <a:noFill/>
          <a:ln/>
        </p:spPr>
        <p:txBody>
          <a:bodyPr wrap="square" lIns="25400" tIns="25400" rIns="25400" bIns="25400" rtlCol="0" anchor="ctr"/>
          <a:lstStyle/>
          <a:p>
            <a:pPr algn="l" indent="0" marL="0">
              <a:buNone/>
            </a:pPr>
            <a:r>
              <a:rPr lang="en-US" sz="900" b="1" dirty="0">
                <a:solidFill>
                  <a:srgbClr val="0D6B72"/>
                </a:solidFill>
                <a:latin typeface="Calibri" pitchFamily="34" charset="0"/>
                <a:ea typeface="Calibri" pitchFamily="34" charset="-122"/>
                <a:cs typeface="Calibri" pitchFamily="34" charset="-120"/>
              </a:rPr>
              <a:t>FR1</a:t>
            </a:r>
            <a:endParaRPr lang="en-US" sz="900" dirty="0"/>
          </a:p>
        </p:txBody>
      </p:sp>
      <p:sp>
        <p:nvSpPr>
          <p:cNvPr id="42" name="Shape 40"/>
          <p:cNvSpPr/>
          <p:nvPr/>
        </p:nvSpPr>
        <p:spPr>
          <a:xfrm>
            <a:off x="8823960" y="1929384"/>
            <a:ext cx="3337560" cy="384048"/>
          </a:xfrm>
          <a:prstGeom prst="rect">
            <a:avLst/>
          </a:prstGeom>
          <a:solidFill>
            <a:srgbClr val="F5F7FA"/>
          </a:solidFill>
          <a:ln w="12700">
            <a:solidFill>
              <a:srgbClr val="F5F7FA"/>
            </a:solidFill>
            <a:prstDash val="solid"/>
          </a:ln>
        </p:spPr>
        <p:txBody>
          <a:bodyPr/>
          <a:p/>
        </p:txBody>
      </p:sp>
      <p:sp>
        <p:nvSpPr>
          <p:cNvPr id="43" name="Text 41"/>
          <p:cNvSpPr txBox="1"/>
          <p:nvPr/>
        </p:nvSpPr>
        <p:spPr>
          <a:xfrm>
            <a:off x="8887968" y="1965960"/>
            <a:ext cx="3246120" cy="320040"/>
          </a:xfrm>
          <a:prstGeom prst="rect">
            <a:avLst/>
          </a:prstGeom>
          <a:noFill/>
          <a:ln/>
        </p:spPr>
        <p:txBody>
          <a:bodyPr wrap="square" lIns="25400" tIns="25400" rIns="25400" bIns="25400" rtlCol="0" anchor="ctr"/>
          <a:lstStyle/>
          <a:p>
            <a:pPr algn="l" indent="0" marL="0">
              <a:buNone/>
            </a:pPr>
            <a:r>
              <a:rPr lang="en-US" sz="1000" dirty="0">
                <a:solidFill>
                  <a:srgbClr val="1A202C"/>
                </a:solidFill>
                <a:latin typeface="Calibri" pitchFamily="34" charset="0"/>
                <a:ea typeface="Calibri" pitchFamily="34" charset="-122"/>
                <a:cs typeface="Calibri" pitchFamily="34" charset="-120"/>
              </a:rPr>
              <a:t>BCrypt-12 hash · role ENUM</a:t>
            </a:r>
            <a:endParaRPr lang="en-US" sz="1000" dirty="0"/>
          </a:p>
        </p:txBody>
      </p:sp>
      <p:sp>
        <p:nvSpPr>
          <p:cNvPr id="44" name="Shape 42"/>
          <p:cNvSpPr/>
          <p:nvPr/>
        </p:nvSpPr>
        <p:spPr>
          <a:xfrm>
            <a:off x="6492240" y="2368296"/>
            <a:ext cx="1463040" cy="384048"/>
          </a:xfrm>
          <a:prstGeom prst="rect">
            <a:avLst/>
          </a:prstGeom>
          <a:solidFill>
            <a:srgbClr val="0D6B72"/>
          </a:solidFill>
          <a:ln w="12700">
            <a:solidFill>
              <a:srgbClr val="0D6B72"/>
            </a:solidFill>
            <a:prstDash val="solid"/>
          </a:ln>
        </p:spPr>
        <p:txBody>
          <a:bodyPr/>
          <a:p/>
        </p:txBody>
      </p:sp>
      <p:sp>
        <p:nvSpPr>
          <p:cNvPr id="45" name="Text 43"/>
          <p:cNvSpPr txBox="1"/>
          <p:nvPr/>
        </p:nvSpPr>
        <p:spPr>
          <a:xfrm>
            <a:off x="6537960" y="2404872"/>
            <a:ext cx="1389888" cy="320040"/>
          </a:xfrm>
          <a:prstGeom prst="rect">
            <a:avLst/>
          </a:prstGeom>
          <a:noFill/>
          <a:ln/>
        </p:spPr>
        <p:txBody>
          <a:bodyPr wrap="square" lIns="25400" tIns="25400" rIns="25400" bIns="2540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Dashboard</a:t>
            </a:r>
            <a:endParaRPr lang="en-US" sz="1000" dirty="0"/>
          </a:p>
        </p:txBody>
      </p:sp>
      <p:sp>
        <p:nvSpPr>
          <p:cNvPr id="46" name="Shape 44"/>
          <p:cNvSpPr/>
          <p:nvPr/>
        </p:nvSpPr>
        <p:spPr>
          <a:xfrm>
            <a:off x="8001000" y="2368296"/>
            <a:ext cx="777240" cy="384048"/>
          </a:xfrm>
          <a:prstGeom prst="rect">
            <a:avLst/>
          </a:prstGeom>
          <a:solidFill>
            <a:srgbClr val="E6F4F5"/>
          </a:solidFill>
          <a:ln w="12700">
            <a:solidFill>
              <a:srgbClr val="E6F4F5"/>
            </a:solidFill>
            <a:prstDash val="solid"/>
          </a:ln>
        </p:spPr>
        <p:txBody>
          <a:bodyPr/>
          <a:p/>
        </p:txBody>
      </p:sp>
      <p:sp>
        <p:nvSpPr>
          <p:cNvPr id="47" name="Text 45"/>
          <p:cNvSpPr txBox="1"/>
          <p:nvPr/>
        </p:nvSpPr>
        <p:spPr>
          <a:xfrm>
            <a:off x="8046720" y="2404872"/>
            <a:ext cx="713232" cy="320040"/>
          </a:xfrm>
          <a:prstGeom prst="rect">
            <a:avLst/>
          </a:prstGeom>
          <a:noFill/>
          <a:ln/>
        </p:spPr>
        <p:txBody>
          <a:bodyPr wrap="square" lIns="25400" tIns="25400" rIns="25400" bIns="25400" rtlCol="0" anchor="ctr"/>
          <a:lstStyle/>
          <a:p>
            <a:pPr algn="l" indent="0" marL="0">
              <a:buNone/>
            </a:pPr>
            <a:r>
              <a:rPr lang="en-US" sz="900" b="1" dirty="0">
                <a:solidFill>
                  <a:srgbClr val="0D6B72"/>
                </a:solidFill>
                <a:latin typeface="Calibri" pitchFamily="34" charset="0"/>
                <a:ea typeface="Calibri" pitchFamily="34" charset="-122"/>
                <a:cs typeface="Calibri" pitchFamily="34" charset="-120"/>
              </a:rPr>
              <a:t>FR18,19</a:t>
            </a:r>
            <a:endParaRPr lang="en-US" sz="900" dirty="0"/>
          </a:p>
        </p:txBody>
      </p:sp>
      <p:sp>
        <p:nvSpPr>
          <p:cNvPr id="48" name="Shape 46"/>
          <p:cNvSpPr/>
          <p:nvPr/>
        </p:nvSpPr>
        <p:spPr>
          <a:xfrm>
            <a:off x="8823960" y="2368296"/>
            <a:ext cx="3337560" cy="384048"/>
          </a:xfrm>
          <a:prstGeom prst="rect">
            <a:avLst/>
          </a:prstGeom>
          <a:solidFill>
            <a:srgbClr val="EBF0F7"/>
          </a:solidFill>
          <a:ln w="12700">
            <a:solidFill>
              <a:srgbClr val="EBF0F7"/>
            </a:solidFill>
            <a:prstDash val="solid"/>
          </a:ln>
        </p:spPr>
        <p:txBody>
          <a:bodyPr/>
          <a:p/>
        </p:txBody>
      </p:sp>
      <p:sp>
        <p:nvSpPr>
          <p:cNvPr id="49" name="Text 47"/>
          <p:cNvSpPr txBox="1"/>
          <p:nvPr/>
        </p:nvSpPr>
        <p:spPr>
          <a:xfrm>
            <a:off x="8887968" y="2404872"/>
            <a:ext cx="3246120" cy="320040"/>
          </a:xfrm>
          <a:prstGeom prst="rect">
            <a:avLst/>
          </a:prstGeom>
          <a:noFill/>
          <a:ln/>
        </p:spPr>
        <p:txBody>
          <a:bodyPr wrap="square" lIns="25400" tIns="25400" rIns="25400" bIns="25400" rtlCol="0" anchor="ctr"/>
          <a:lstStyle/>
          <a:p>
            <a:pPr algn="l" indent="0" marL="0">
              <a:buNone/>
            </a:pPr>
            <a:r>
              <a:rPr lang="en-US" sz="1000" dirty="0">
                <a:solidFill>
                  <a:srgbClr val="1A202C"/>
                </a:solidFill>
                <a:latin typeface="Calibri" pitchFamily="34" charset="0"/>
                <a:ea typeface="Calibri" pitchFamily="34" charset="-122"/>
                <a:cs typeface="Calibri" pitchFamily="34" charset="-120"/>
              </a:rPr>
              <a:t>Stats · Recharts AreaChart</a:t>
            </a:r>
            <a:endParaRPr lang="en-US" sz="1000" dirty="0"/>
          </a:p>
        </p:txBody>
      </p:sp>
      <p:sp>
        <p:nvSpPr>
          <p:cNvPr id="50" name="Shape 48"/>
          <p:cNvSpPr/>
          <p:nvPr/>
        </p:nvSpPr>
        <p:spPr>
          <a:xfrm>
            <a:off x="6492240" y="2807208"/>
            <a:ext cx="1463040" cy="384048"/>
          </a:xfrm>
          <a:prstGeom prst="rect">
            <a:avLst/>
          </a:prstGeom>
          <a:solidFill>
            <a:srgbClr val="0D6B72"/>
          </a:solidFill>
          <a:ln w="12700">
            <a:solidFill>
              <a:srgbClr val="0D6B72"/>
            </a:solidFill>
            <a:prstDash val="solid"/>
          </a:ln>
        </p:spPr>
        <p:txBody>
          <a:bodyPr/>
          <a:p/>
        </p:txBody>
      </p:sp>
      <p:sp>
        <p:nvSpPr>
          <p:cNvPr id="51" name="Text 49"/>
          <p:cNvSpPr txBox="1"/>
          <p:nvPr/>
        </p:nvSpPr>
        <p:spPr>
          <a:xfrm>
            <a:off x="6537960" y="2843784"/>
            <a:ext cx="1389888" cy="320040"/>
          </a:xfrm>
          <a:prstGeom prst="rect">
            <a:avLst/>
          </a:prstGeom>
          <a:noFill/>
          <a:ln/>
        </p:spPr>
        <p:txBody>
          <a:bodyPr wrap="square" lIns="25400" tIns="25400" rIns="25400" bIns="2540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Farms</a:t>
            </a:r>
            <a:endParaRPr lang="en-US" sz="1000" dirty="0"/>
          </a:p>
        </p:txBody>
      </p:sp>
      <p:sp>
        <p:nvSpPr>
          <p:cNvPr id="52" name="Shape 50"/>
          <p:cNvSpPr/>
          <p:nvPr/>
        </p:nvSpPr>
        <p:spPr>
          <a:xfrm>
            <a:off x="8001000" y="2807208"/>
            <a:ext cx="777240" cy="384048"/>
          </a:xfrm>
          <a:prstGeom prst="rect">
            <a:avLst/>
          </a:prstGeom>
          <a:solidFill>
            <a:srgbClr val="E6F4F5"/>
          </a:solidFill>
          <a:ln w="12700">
            <a:solidFill>
              <a:srgbClr val="E6F4F5"/>
            </a:solidFill>
            <a:prstDash val="solid"/>
          </a:ln>
        </p:spPr>
        <p:txBody>
          <a:bodyPr/>
          <a:p/>
        </p:txBody>
      </p:sp>
      <p:sp>
        <p:nvSpPr>
          <p:cNvPr id="53" name="Text 51"/>
          <p:cNvSpPr txBox="1"/>
          <p:nvPr/>
        </p:nvSpPr>
        <p:spPr>
          <a:xfrm>
            <a:off x="8046720" y="2843784"/>
            <a:ext cx="713232" cy="320040"/>
          </a:xfrm>
          <a:prstGeom prst="rect">
            <a:avLst/>
          </a:prstGeom>
          <a:noFill/>
          <a:ln/>
        </p:spPr>
        <p:txBody>
          <a:bodyPr wrap="square" lIns="25400" tIns="25400" rIns="25400" bIns="25400" rtlCol="0" anchor="ctr"/>
          <a:lstStyle/>
          <a:p>
            <a:pPr algn="l" indent="0" marL="0">
              <a:buNone/>
            </a:pPr>
            <a:r>
              <a:rPr lang="en-US" sz="900" b="1" dirty="0">
                <a:solidFill>
                  <a:srgbClr val="0D6B72"/>
                </a:solidFill>
                <a:latin typeface="Calibri" pitchFamily="34" charset="0"/>
                <a:ea typeface="Calibri" pitchFamily="34" charset="-122"/>
                <a:cs typeface="Calibri" pitchFamily="34" charset="-120"/>
              </a:rPr>
              <a:t>FR6</a:t>
            </a:r>
            <a:endParaRPr lang="en-US" sz="900" dirty="0"/>
          </a:p>
        </p:txBody>
      </p:sp>
      <p:sp>
        <p:nvSpPr>
          <p:cNvPr id="54" name="Shape 52"/>
          <p:cNvSpPr/>
          <p:nvPr/>
        </p:nvSpPr>
        <p:spPr>
          <a:xfrm>
            <a:off x="8823960" y="2807208"/>
            <a:ext cx="3337560" cy="384048"/>
          </a:xfrm>
          <a:prstGeom prst="rect">
            <a:avLst/>
          </a:prstGeom>
          <a:solidFill>
            <a:srgbClr val="F5F7FA"/>
          </a:solidFill>
          <a:ln w="12700">
            <a:solidFill>
              <a:srgbClr val="F5F7FA"/>
            </a:solidFill>
            <a:prstDash val="solid"/>
          </a:ln>
        </p:spPr>
        <p:txBody>
          <a:bodyPr/>
          <a:p/>
        </p:txBody>
      </p:sp>
      <p:sp>
        <p:nvSpPr>
          <p:cNvPr id="55" name="Text 53"/>
          <p:cNvSpPr txBox="1"/>
          <p:nvPr/>
        </p:nvSpPr>
        <p:spPr>
          <a:xfrm>
            <a:off x="8887968" y="2843784"/>
            <a:ext cx="3246120" cy="320040"/>
          </a:xfrm>
          <a:prstGeom prst="rect">
            <a:avLst/>
          </a:prstGeom>
          <a:noFill/>
          <a:ln/>
        </p:spPr>
        <p:txBody>
          <a:bodyPr wrap="square" lIns="25400" tIns="25400" rIns="25400" bIns="25400" rtlCol="0" anchor="ctr"/>
          <a:lstStyle/>
          <a:p>
            <a:pPr algn="l" indent="0" marL="0">
              <a:buNone/>
            </a:pPr>
            <a:r>
              <a:rPr lang="en-US" sz="1000" dirty="0">
                <a:solidFill>
                  <a:srgbClr val="1A202C"/>
                </a:solidFill>
                <a:latin typeface="Calibri" pitchFamily="34" charset="0"/>
                <a:ea typeface="Calibri" pitchFamily="34" charset="-122"/>
                <a:cs typeface="Calibri" pitchFamily="34" charset="-120"/>
              </a:rPr>
              <a:t>CRUD · A01 findByIdAndUserId</a:t>
            </a:r>
            <a:endParaRPr lang="en-US" sz="1000" dirty="0"/>
          </a:p>
        </p:txBody>
      </p:sp>
      <p:sp>
        <p:nvSpPr>
          <p:cNvPr id="56" name="Shape 54"/>
          <p:cNvSpPr/>
          <p:nvPr/>
        </p:nvSpPr>
        <p:spPr>
          <a:xfrm>
            <a:off x="6492240" y="3246120"/>
            <a:ext cx="1463040" cy="384048"/>
          </a:xfrm>
          <a:prstGeom prst="rect">
            <a:avLst/>
          </a:prstGeom>
          <a:solidFill>
            <a:srgbClr val="0D6B72"/>
          </a:solidFill>
          <a:ln w="12700">
            <a:solidFill>
              <a:srgbClr val="0D6B72"/>
            </a:solidFill>
            <a:prstDash val="solid"/>
          </a:ln>
        </p:spPr>
        <p:txBody>
          <a:bodyPr/>
          <a:p/>
        </p:txBody>
      </p:sp>
      <p:sp>
        <p:nvSpPr>
          <p:cNvPr id="57" name="Text 55"/>
          <p:cNvSpPr txBox="1"/>
          <p:nvPr/>
        </p:nvSpPr>
        <p:spPr>
          <a:xfrm>
            <a:off x="6537960" y="3282696"/>
            <a:ext cx="1389888" cy="320040"/>
          </a:xfrm>
          <a:prstGeom prst="rect">
            <a:avLst/>
          </a:prstGeom>
          <a:noFill/>
          <a:ln/>
        </p:spPr>
        <p:txBody>
          <a:bodyPr wrap="square" lIns="25400" tIns="25400" rIns="25400" bIns="2540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Growing Units</a:t>
            </a:r>
            <a:endParaRPr lang="en-US" sz="1000" dirty="0"/>
          </a:p>
        </p:txBody>
      </p:sp>
      <p:sp>
        <p:nvSpPr>
          <p:cNvPr id="58" name="Shape 56"/>
          <p:cNvSpPr/>
          <p:nvPr/>
        </p:nvSpPr>
        <p:spPr>
          <a:xfrm>
            <a:off x="8001000" y="3246120"/>
            <a:ext cx="777240" cy="384048"/>
          </a:xfrm>
          <a:prstGeom prst="rect">
            <a:avLst/>
          </a:prstGeom>
          <a:solidFill>
            <a:srgbClr val="E6F4F5"/>
          </a:solidFill>
          <a:ln w="12700">
            <a:solidFill>
              <a:srgbClr val="E6F4F5"/>
            </a:solidFill>
            <a:prstDash val="solid"/>
          </a:ln>
        </p:spPr>
        <p:txBody>
          <a:bodyPr/>
          <a:p/>
        </p:txBody>
      </p:sp>
      <p:sp>
        <p:nvSpPr>
          <p:cNvPr id="59" name="Text 57"/>
          <p:cNvSpPr txBox="1"/>
          <p:nvPr/>
        </p:nvSpPr>
        <p:spPr>
          <a:xfrm>
            <a:off x="8046720" y="3282696"/>
            <a:ext cx="713232" cy="320040"/>
          </a:xfrm>
          <a:prstGeom prst="rect">
            <a:avLst/>
          </a:prstGeom>
          <a:noFill/>
          <a:ln/>
        </p:spPr>
        <p:txBody>
          <a:bodyPr wrap="square" lIns="25400" tIns="25400" rIns="25400" bIns="25400" rtlCol="0" anchor="ctr"/>
          <a:lstStyle/>
          <a:p>
            <a:pPr algn="l" indent="0" marL="0">
              <a:buNone/>
            </a:pPr>
            <a:r>
              <a:rPr lang="en-US" sz="900" b="1" dirty="0">
                <a:solidFill>
                  <a:srgbClr val="0D6B72"/>
                </a:solidFill>
                <a:latin typeface="Calibri" pitchFamily="34" charset="0"/>
                <a:ea typeface="Calibri" pitchFamily="34" charset="-122"/>
                <a:cs typeface="Calibri" pitchFamily="34" charset="-120"/>
              </a:rPr>
              <a:t>FR9</a:t>
            </a:r>
            <a:endParaRPr lang="en-US" sz="900" dirty="0"/>
          </a:p>
        </p:txBody>
      </p:sp>
      <p:sp>
        <p:nvSpPr>
          <p:cNvPr id="60" name="Shape 58"/>
          <p:cNvSpPr/>
          <p:nvPr/>
        </p:nvSpPr>
        <p:spPr>
          <a:xfrm>
            <a:off x="8823960" y="3246120"/>
            <a:ext cx="3337560" cy="384048"/>
          </a:xfrm>
          <a:prstGeom prst="rect">
            <a:avLst/>
          </a:prstGeom>
          <a:solidFill>
            <a:srgbClr val="EBF0F7"/>
          </a:solidFill>
          <a:ln w="12700">
            <a:solidFill>
              <a:srgbClr val="EBF0F7"/>
            </a:solidFill>
            <a:prstDash val="solid"/>
          </a:ln>
        </p:spPr>
        <p:txBody>
          <a:bodyPr/>
          <a:p/>
        </p:txBody>
      </p:sp>
      <p:sp>
        <p:nvSpPr>
          <p:cNvPr id="61" name="Text 59"/>
          <p:cNvSpPr txBox="1"/>
          <p:nvPr/>
        </p:nvSpPr>
        <p:spPr>
          <a:xfrm>
            <a:off x="8887968" y="3282696"/>
            <a:ext cx="3246120" cy="320040"/>
          </a:xfrm>
          <a:prstGeom prst="rect">
            <a:avLst/>
          </a:prstGeom>
          <a:noFill/>
          <a:ln/>
        </p:spPr>
        <p:txBody>
          <a:bodyPr wrap="square" lIns="25400" tIns="25400" rIns="25400" bIns="25400" rtlCol="0" anchor="ctr"/>
          <a:lstStyle/>
          <a:p>
            <a:pPr algn="l" indent="0" marL="0">
              <a:buNone/>
            </a:pPr>
            <a:r>
              <a:rPr lang="en-US" sz="1000" dirty="0">
                <a:solidFill>
                  <a:srgbClr val="1A202C"/>
                </a:solidFill>
                <a:latin typeface="Calibri" pitchFamily="34" charset="0"/>
                <a:ea typeface="Calibri" pitchFamily="34" charset="-122"/>
                <a:cs typeface="Calibri" pitchFamily="34" charset="-120"/>
              </a:rPr>
              <a:t>ENUM method · farm-scoped</a:t>
            </a:r>
            <a:endParaRPr lang="en-US" sz="1000" dirty="0"/>
          </a:p>
        </p:txBody>
      </p:sp>
      <p:sp>
        <p:nvSpPr>
          <p:cNvPr id="62" name="Shape 60"/>
          <p:cNvSpPr/>
          <p:nvPr/>
        </p:nvSpPr>
        <p:spPr>
          <a:xfrm>
            <a:off x="6492240" y="3685032"/>
            <a:ext cx="1463040" cy="384048"/>
          </a:xfrm>
          <a:prstGeom prst="rect">
            <a:avLst/>
          </a:prstGeom>
          <a:solidFill>
            <a:srgbClr val="0D6B72"/>
          </a:solidFill>
          <a:ln w="12700">
            <a:solidFill>
              <a:srgbClr val="0D6B72"/>
            </a:solidFill>
            <a:prstDash val="solid"/>
          </a:ln>
        </p:spPr>
        <p:txBody>
          <a:bodyPr/>
          <a:p/>
        </p:txBody>
      </p:sp>
      <p:sp>
        <p:nvSpPr>
          <p:cNvPr id="63" name="Text 61"/>
          <p:cNvSpPr txBox="1"/>
          <p:nvPr/>
        </p:nvSpPr>
        <p:spPr>
          <a:xfrm>
            <a:off x="6537960" y="3721608"/>
            <a:ext cx="1389888" cy="320040"/>
          </a:xfrm>
          <a:prstGeom prst="rect">
            <a:avLst/>
          </a:prstGeom>
          <a:noFill/>
          <a:ln/>
        </p:spPr>
        <p:txBody>
          <a:bodyPr wrap="square" lIns="25400" tIns="25400" rIns="25400" bIns="2540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Crops</a:t>
            </a:r>
            <a:endParaRPr lang="en-US" sz="1000" dirty="0"/>
          </a:p>
        </p:txBody>
      </p:sp>
      <p:sp>
        <p:nvSpPr>
          <p:cNvPr id="64" name="Shape 62"/>
          <p:cNvSpPr/>
          <p:nvPr/>
        </p:nvSpPr>
        <p:spPr>
          <a:xfrm>
            <a:off x="8001000" y="3685032"/>
            <a:ext cx="777240" cy="384048"/>
          </a:xfrm>
          <a:prstGeom prst="rect">
            <a:avLst/>
          </a:prstGeom>
          <a:solidFill>
            <a:srgbClr val="E6F4F5"/>
          </a:solidFill>
          <a:ln w="12700">
            <a:solidFill>
              <a:srgbClr val="E6F4F5"/>
            </a:solidFill>
            <a:prstDash val="solid"/>
          </a:ln>
        </p:spPr>
        <p:txBody>
          <a:bodyPr/>
          <a:p/>
        </p:txBody>
      </p:sp>
      <p:sp>
        <p:nvSpPr>
          <p:cNvPr id="65" name="Text 63"/>
          <p:cNvSpPr txBox="1"/>
          <p:nvPr/>
        </p:nvSpPr>
        <p:spPr>
          <a:xfrm>
            <a:off x="8046720" y="3721608"/>
            <a:ext cx="713232" cy="320040"/>
          </a:xfrm>
          <a:prstGeom prst="rect">
            <a:avLst/>
          </a:prstGeom>
          <a:noFill/>
          <a:ln/>
        </p:spPr>
        <p:txBody>
          <a:bodyPr wrap="square" lIns="25400" tIns="25400" rIns="25400" bIns="25400" rtlCol="0" anchor="ctr"/>
          <a:lstStyle/>
          <a:p>
            <a:pPr algn="l" indent="0" marL="0">
              <a:buNone/>
            </a:pPr>
            <a:r>
              <a:rPr lang="en-US" sz="900" b="1" dirty="0">
                <a:solidFill>
                  <a:srgbClr val="0D6B72"/>
                </a:solidFill>
                <a:latin typeface="Calibri" pitchFamily="34" charset="0"/>
                <a:ea typeface="Calibri" pitchFamily="34" charset="-122"/>
                <a:cs typeface="Calibri" pitchFamily="34" charset="-120"/>
              </a:rPr>
              <a:t>FR12</a:t>
            </a:r>
            <a:endParaRPr lang="en-US" sz="900" dirty="0"/>
          </a:p>
        </p:txBody>
      </p:sp>
      <p:sp>
        <p:nvSpPr>
          <p:cNvPr id="66" name="Shape 64"/>
          <p:cNvSpPr/>
          <p:nvPr/>
        </p:nvSpPr>
        <p:spPr>
          <a:xfrm>
            <a:off x="8823960" y="3685032"/>
            <a:ext cx="3337560" cy="384048"/>
          </a:xfrm>
          <a:prstGeom prst="rect">
            <a:avLst/>
          </a:prstGeom>
          <a:solidFill>
            <a:srgbClr val="F5F7FA"/>
          </a:solidFill>
          <a:ln w="12700">
            <a:solidFill>
              <a:srgbClr val="F5F7FA"/>
            </a:solidFill>
            <a:prstDash val="solid"/>
          </a:ln>
        </p:spPr>
        <p:txBody>
          <a:bodyPr/>
          <a:p/>
        </p:txBody>
      </p:sp>
      <p:sp>
        <p:nvSpPr>
          <p:cNvPr id="67" name="Text 65"/>
          <p:cNvSpPr txBox="1"/>
          <p:nvPr/>
        </p:nvSpPr>
        <p:spPr>
          <a:xfrm>
            <a:off x="8887968" y="3721608"/>
            <a:ext cx="3246120" cy="320040"/>
          </a:xfrm>
          <a:prstGeom prst="rect">
            <a:avLst/>
          </a:prstGeom>
          <a:noFill/>
          <a:ln/>
        </p:spPr>
        <p:txBody>
          <a:bodyPr wrap="square" lIns="25400" tIns="25400" rIns="25400" bIns="25400" rtlCol="0" anchor="ctr"/>
          <a:lstStyle/>
          <a:p>
            <a:pPr algn="l" indent="0" marL="0">
              <a:buNone/>
            </a:pPr>
            <a:r>
              <a:rPr lang="en-US" sz="1000" dirty="0">
                <a:solidFill>
                  <a:srgbClr val="1A202C"/>
                </a:solidFill>
                <a:latin typeface="Calibri" pitchFamily="34" charset="0"/>
                <a:ea typeface="Calibri" pitchFamily="34" charset="-122"/>
                <a:cs typeface="Calibri" pitchFamily="34" charset="-120"/>
              </a:rPr>
              <a:t>Planting date · actual yield</a:t>
            </a:r>
            <a:endParaRPr lang="en-US" sz="1000" dirty="0"/>
          </a:p>
        </p:txBody>
      </p:sp>
      <p:sp>
        <p:nvSpPr>
          <p:cNvPr id="68" name="Shape 66"/>
          <p:cNvSpPr/>
          <p:nvPr/>
        </p:nvSpPr>
        <p:spPr>
          <a:xfrm>
            <a:off x="6492240" y="4123944"/>
            <a:ext cx="1463040" cy="384048"/>
          </a:xfrm>
          <a:prstGeom prst="rect">
            <a:avLst/>
          </a:prstGeom>
          <a:solidFill>
            <a:srgbClr val="0D6B72"/>
          </a:solidFill>
          <a:ln w="12700">
            <a:solidFill>
              <a:srgbClr val="0D6B72"/>
            </a:solidFill>
            <a:prstDash val="solid"/>
          </a:ln>
        </p:spPr>
        <p:txBody>
          <a:bodyPr/>
          <a:p/>
        </p:txBody>
      </p:sp>
      <p:sp>
        <p:nvSpPr>
          <p:cNvPr id="69" name="Text 67"/>
          <p:cNvSpPr txBox="1"/>
          <p:nvPr/>
        </p:nvSpPr>
        <p:spPr>
          <a:xfrm>
            <a:off x="6537960" y="4160520"/>
            <a:ext cx="1389888" cy="320040"/>
          </a:xfrm>
          <a:prstGeom prst="rect">
            <a:avLst/>
          </a:prstGeom>
          <a:noFill/>
          <a:ln/>
        </p:spPr>
        <p:txBody>
          <a:bodyPr wrap="square" lIns="25400" tIns="25400" rIns="25400" bIns="2540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Activities</a:t>
            </a:r>
            <a:endParaRPr lang="en-US" sz="1000" dirty="0"/>
          </a:p>
        </p:txBody>
      </p:sp>
      <p:sp>
        <p:nvSpPr>
          <p:cNvPr id="70" name="Shape 68"/>
          <p:cNvSpPr/>
          <p:nvPr/>
        </p:nvSpPr>
        <p:spPr>
          <a:xfrm>
            <a:off x="8001000" y="4123944"/>
            <a:ext cx="777240" cy="384048"/>
          </a:xfrm>
          <a:prstGeom prst="rect">
            <a:avLst/>
          </a:prstGeom>
          <a:solidFill>
            <a:srgbClr val="E6F4F5"/>
          </a:solidFill>
          <a:ln w="12700">
            <a:solidFill>
              <a:srgbClr val="E6F4F5"/>
            </a:solidFill>
            <a:prstDash val="solid"/>
          </a:ln>
        </p:spPr>
        <p:txBody>
          <a:bodyPr/>
          <a:p/>
        </p:txBody>
      </p:sp>
      <p:sp>
        <p:nvSpPr>
          <p:cNvPr id="71" name="Text 69"/>
          <p:cNvSpPr txBox="1"/>
          <p:nvPr/>
        </p:nvSpPr>
        <p:spPr>
          <a:xfrm>
            <a:off x="8046720" y="4160520"/>
            <a:ext cx="713232" cy="320040"/>
          </a:xfrm>
          <a:prstGeom prst="rect">
            <a:avLst/>
          </a:prstGeom>
          <a:noFill/>
          <a:ln/>
        </p:spPr>
        <p:txBody>
          <a:bodyPr wrap="square" lIns="25400" tIns="25400" rIns="25400" bIns="25400" rtlCol="0" anchor="ctr"/>
          <a:lstStyle/>
          <a:p>
            <a:pPr algn="l" indent="0" marL="0">
              <a:buNone/>
            </a:pPr>
            <a:r>
              <a:rPr lang="en-US" sz="900" b="1" dirty="0">
                <a:solidFill>
                  <a:srgbClr val="0D6B72"/>
                </a:solidFill>
                <a:latin typeface="Calibri" pitchFamily="34" charset="0"/>
                <a:ea typeface="Calibri" pitchFamily="34" charset="-122"/>
                <a:cs typeface="Calibri" pitchFamily="34" charset="-120"/>
              </a:rPr>
              <a:t>FR15</a:t>
            </a:r>
            <a:endParaRPr lang="en-US" sz="900" dirty="0"/>
          </a:p>
        </p:txBody>
      </p:sp>
      <p:sp>
        <p:nvSpPr>
          <p:cNvPr id="72" name="Shape 70"/>
          <p:cNvSpPr/>
          <p:nvPr/>
        </p:nvSpPr>
        <p:spPr>
          <a:xfrm>
            <a:off x="8823960" y="4123944"/>
            <a:ext cx="3337560" cy="384048"/>
          </a:xfrm>
          <a:prstGeom prst="rect">
            <a:avLst/>
          </a:prstGeom>
          <a:solidFill>
            <a:srgbClr val="EBF0F7"/>
          </a:solidFill>
          <a:ln w="12700">
            <a:solidFill>
              <a:srgbClr val="EBF0F7"/>
            </a:solidFill>
            <a:prstDash val="solid"/>
          </a:ln>
        </p:spPr>
        <p:txBody>
          <a:bodyPr/>
          <a:p/>
        </p:txBody>
      </p:sp>
      <p:sp>
        <p:nvSpPr>
          <p:cNvPr id="73" name="Text 71"/>
          <p:cNvSpPr txBox="1"/>
          <p:nvPr/>
        </p:nvSpPr>
        <p:spPr>
          <a:xfrm>
            <a:off x="8887968" y="4160520"/>
            <a:ext cx="3246120" cy="320040"/>
          </a:xfrm>
          <a:prstGeom prst="rect">
            <a:avLst/>
          </a:prstGeom>
          <a:noFill/>
          <a:ln/>
        </p:spPr>
        <p:txBody>
          <a:bodyPr wrap="square" lIns="25400" tIns="25400" rIns="25400" bIns="25400" rtlCol="0" anchor="ctr"/>
          <a:lstStyle/>
          <a:p>
            <a:pPr algn="l" indent="0" marL="0">
              <a:buNone/>
            </a:pPr>
            <a:r>
              <a:rPr lang="en-US" sz="1000" dirty="0">
                <a:solidFill>
                  <a:srgbClr val="1A202C"/>
                </a:solidFill>
                <a:latin typeface="Calibri" pitchFamily="34" charset="0"/>
                <a:ea typeface="Calibri" pitchFamily="34" charset="-122"/>
                <a:cs typeface="Calibri" pitchFamily="34" charset="-120"/>
              </a:rPr>
              <a:t>5 ENUM types · timestamp</a:t>
            </a:r>
            <a:endParaRPr lang="en-US" sz="1000" dirty="0"/>
          </a:p>
        </p:txBody>
      </p:sp>
      <p:sp>
        <p:nvSpPr>
          <p:cNvPr id="74" name="Shape 72"/>
          <p:cNvSpPr/>
          <p:nvPr/>
        </p:nvSpPr>
        <p:spPr>
          <a:xfrm>
            <a:off x="6492240" y="4562856"/>
            <a:ext cx="1463040" cy="384048"/>
          </a:xfrm>
          <a:prstGeom prst="rect">
            <a:avLst/>
          </a:prstGeom>
          <a:solidFill>
            <a:srgbClr val="0D6B72"/>
          </a:solidFill>
          <a:ln w="12700">
            <a:solidFill>
              <a:srgbClr val="0D6B72"/>
            </a:solidFill>
            <a:prstDash val="solid"/>
          </a:ln>
        </p:spPr>
        <p:txBody>
          <a:bodyPr/>
          <a:p/>
        </p:txBody>
      </p:sp>
      <p:sp>
        <p:nvSpPr>
          <p:cNvPr id="75" name="Text 73"/>
          <p:cNvSpPr txBox="1"/>
          <p:nvPr/>
        </p:nvSpPr>
        <p:spPr>
          <a:xfrm>
            <a:off x="6537960" y="4599432"/>
            <a:ext cx="1389888" cy="320040"/>
          </a:xfrm>
          <a:prstGeom prst="rect">
            <a:avLst/>
          </a:prstGeom>
          <a:noFill/>
          <a:ln/>
        </p:spPr>
        <p:txBody>
          <a:bodyPr wrap="square" lIns="25400" tIns="25400" rIns="25400" bIns="2540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AI Insights</a:t>
            </a:r>
            <a:endParaRPr lang="en-US" sz="1000" dirty="0"/>
          </a:p>
        </p:txBody>
      </p:sp>
      <p:sp>
        <p:nvSpPr>
          <p:cNvPr id="76" name="Shape 74"/>
          <p:cNvSpPr/>
          <p:nvPr/>
        </p:nvSpPr>
        <p:spPr>
          <a:xfrm>
            <a:off x="8001000" y="4562856"/>
            <a:ext cx="777240" cy="384048"/>
          </a:xfrm>
          <a:prstGeom prst="rect">
            <a:avLst/>
          </a:prstGeom>
          <a:solidFill>
            <a:srgbClr val="E6F4F5"/>
          </a:solidFill>
          <a:ln w="12700">
            <a:solidFill>
              <a:srgbClr val="E6F4F5"/>
            </a:solidFill>
            <a:prstDash val="solid"/>
          </a:ln>
        </p:spPr>
        <p:txBody>
          <a:bodyPr/>
          <a:p/>
        </p:txBody>
      </p:sp>
      <p:sp>
        <p:nvSpPr>
          <p:cNvPr id="77" name="Text 75"/>
          <p:cNvSpPr txBox="1"/>
          <p:nvPr/>
        </p:nvSpPr>
        <p:spPr>
          <a:xfrm>
            <a:off x="8046720" y="4599432"/>
            <a:ext cx="713232" cy="320040"/>
          </a:xfrm>
          <a:prstGeom prst="rect">
            <a:avLst/>
          </a:prstGeom>
          <a:noFill/>
          <a:ln/>
        </p:spPr>
        <p:txBody>
          <a:bodyPr wrap="square" lIns="25400" tIns="25400" rIns="25400" bIns="25400" rtlCol="0" anchor="ctr"/>
          <a:lstStyle/>
          <a:p>
            <a:pPr algn="l" indent="0" marL="0">
              <a:buNone/>
            </a:pPr>
            <a:r>
              <a:rPr lang="en-US" sz="900" b="1" dirty="0">
                <a:solidFill>
                  <a:srgbClr val="0D6B72"/>
                </a:solidFill>
                <a:latin typeface="Calibri" pitchFamily="34" charset="0"/>
                <a:ea typeface="Calibri" pitchFamily="34" charset="-122"/>
                <a:cs typeface="Calibri" pitchFamily="34" charset="-120"/>
              </a:rPr>
              <a:t>FR21,22</a:t>
            </a:r>
            <a:endParaRPr lang="en-US" sz="900" dirty="0"/>
          </a:p>
        </p:txBody>
      </p:sp>
      <p:sp>
        <p:nvSpPr>
          <p:cNvPr id="78" name="Shape 76"/>
          <p:cNvSpPr/>
          <p:nvPr/>
        </p:nvSpPr>
        <p:spPr>
          <a:xfrm>
            <a:off x="8823960" y="4562856"/>
            <a:ext cx="3337560" cy="384048"/>
          </a:xfrm>
          <a:prstGeom prst="rect">
            <a:avLst/>
          </a:prstGeom>
          <a:solidFill>
            <a:srgbClr val="F5F7FA"/>
          </a:solidFill>
          <a:ln w="12700">
            <a:solidFill>
              <a:srgbClr val="F5F7FA"/>
            </a:solidFill>
            <a:prstDash val="solid"/>
          </a:ln>
        </p:spPr>
        <p:txBody>
          <a:bodyPr/>
          <a:p/>
        </p:txBody>
      </p:sp>
      <p:sp>
        <p:nvSpPr>
          <p:cNvPr id="79" name="Text 77"/>
          <p:cNvSpPr txBox="1"/>
          <p:nvPr/>
        </p:nvSpPr>
        <p:spPr>
          <a:xfrm>
            <a:off x="8887968" y="4599432"/>
            <a:ext cx="3246120" cy="320040"/>
          </a:xfrm>
          <a:prstGeom prst="rect">
            <a:avLst/>
          </a:prstGeom>
          <a:noFill/>
          <a:ln/>
        </p:spPr>
        <p:txBody>
          <a:bodyPr wrap="square" lIns="25400" tIns="25400" rIns="25400" bIns="25400" rtlCol="0" anchor="ctr"/>
          <a:lstStyle/>
          <a:p>
            <a:pPr algn="l" indent="0" marL="0">
              <a:buNone/>
            </a:pPr>
            <a:r>
              <a:rPr lang="en-US" sz="1000" dirty="0">
                <a:solidFill>
                  <a:srgbClr val="1A202C"/>
                </a:solidFill>
                <a:latin typeface="Calibri" pitchFamily="34" charset="0"/>
                <a:ea typeface="Calibri" pitchFamily="34" charset="-122"/>
                <a:cs typeface="Calibri" pitchFamily="34" charset="-120"/>
              </a:rPr>
              <a:t>Predict tab · Compare tab</a:t>
            </a:r>
            <a:endParaRPr lang="en-US" sz="1000" dirty="0"/>
          </a:p>
        </p:txBody>
      </p:sp>
      <p:sp>
        <p:nvSpPr>
          <p:cNvPr id="80" name="Shape 78"/>
          <p:cNvSpPr/>
          <p:nvPr/>
        </p:nvSpPr>
        <p:spPr>
          <a:xfrm>
            <a:off x="6492240" y="5001768"/>
            <a:ext cx="1463040" cy="384048"/>
          </a:xfrm>
          <a:prstGeom prst="rect">
            <a:avLst/>
          </a:prstGeom>
          <a:solidFill>
            <a:srgbClr val="0D6B72"/>
          </a:solidFill>
          <a:ln w="12700">
            <a:solidFill>
              <a:srgbClr val="0D6B72"/>
            </a:solidFill>
            <a:prstDash val="solid"/>
          </a:ln>
        </p:spPr>
        <p:txBody>
          <a:bodyPr/>
          <a:p/>
        </p:txBody>
      </p:sp>
      <p:sp>
        <p:nvSpPr>
          <p:cNvPr id="81" name="Text 79"/>
          <p:cNvSpPr txBox="1"/>
          <p:nvPr/>
        </p:nvSpPr>
        <p:spPr>
          <a:xfrm>
            <a:off x="6537960" y="5038344"/>
            <a:ext cx="1389888" cy="320040"/>
          </a:xfrm>
          <a:prstGeom prst="rect">
            <a:avLst/>
          </a:prstGeom>
          <a:noFill/>
          <a:ln/>
        </p:spPr>
        <p:txBody>
          <a:bodyPr wrap="square" lIns="25400" tIns="25400" rIns="25400" bIns="2540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Admin</a:t>
            </a:r>
            <a:endParaRPr lang="en-US" sz="1000" dirty="0"/>
          </a:p>
        </p:txBody>
      </p:sp>
      <p:sp>
        <p:nvSpPr>
          <p:cNvPr id="82" name="Shape 80"/>
          <p:cNvSpPr/>
          <p:nvPr/>
        </p:nvSpPr>
        <p:spPr>
          <a:xfrm>
            <a:off x="8001000" y="5001768"/>
            <a:ext cx="777240" cy="384048"/>
          </a:xfrm>
          <a:prstGeom prst="rect">
            <a:avLst/>
          </a:prstGeom>
          <a:solidFill>
            <a:srgbClr val="E6F4F5"/>
          </a:solidFill>
          <a:ln w="12700">
            <a:solidFill>
              <a:srgbClr val="E6F4F5"/>
            </a:solidFill>
            <a:prstDash val="solid"/>
          </a:ln>
        </p:spPr>
        <p:txBody>
          <a:bodyPr/>
          <a:p/>
        </p:txBody>
      </p:sp>
      <p:sp>
        <p:nvSpPr>
          <p:cNvPr id="83" name="Text 81"/>
          <p:cNvSpPr txBox="1"/>
          <p:nvPr/>
        </p:nvSpPr>
        <p:spPr>
          <a:xfrm>
            <a:off x="8046720" y="5038344"/>
            <a:ext cx="713232" cy="320040"/>
          </a:xfrm>
          <a:prstGeom prst="rect">
            <a:avLst/>
          </a:prstGeom>
          <a:noFill/>
          <a:ln/>
        </p:spPr>
        <p:txBody>
          <a:bodyPr wrap="square" lIns="25400" tIns="25400" rIns="25400" bIns="25400" rtlCol="0" anchor="ctr"/>
          <a:lstStyle/>
          <a:p>
            <a:pPr algn="l" indent="0" marL="0">
              <a:buNone/>
            </a:pPr>
            <a:r>
              <a:rPr lang="en-US" sz="900" b="1" dirty="0">
                <a:solidFill>
                  <a:srgbClr val="0D6B72"/>
                </a:solidFill>
                <a:latin typeface="Calibri" pitchFamily="34" charset="0"/>
                <a:ea typeface="Calibri" pitchFamily="34" charset="-122"/>
                <a:cs typeface="Calibri" pitchFamily="34" charset="-120"/>
              </a:rPr>
              <a:t>ROLE</a:t>
            </a:r>
            <a:endParaRPr lang="en-US" sz="900" dirty="0"/>
          </a:p>
        </p:txBody>
      </p:sp>
      <p:sp>
        <p:nvSpPr>
          <p:cNvPr id="84" name="Shape 82"/>
          <p:cNvSpPr/>
          <p:nvPr/>
        </p:nvSpPr>
        <p:spPr>
          <a:xfrm>
            <a:off x="8823960" y="5001768"/>
            <a:ext cx="3337560" cy="384048"/>
          </a:xfrm>
          <a:prstGeom prst="rect">
            <a:avLst/>
          </a:prstGeom>
          <a:solidFill>
            <a:srgbClr val="EBF0F7"/>
          </a:solidFill>
          <a:ln w="12700">
            <a:solidFill>
              <a:srgbClr val="EBF0F7"/>
            </a:solidFill>
            <a:prstDash val="solid"/>
          </a:ln>
        </p:spPr>
        <p:txBody>
          <a:bodyPr/>
          <a:p/>
        </p:txBody>
      </p:sp>
      <p:sp>
        <p:nvSpPr>
          <p:cNvPr id="85" name="Text 83"/>
          <p:cNvSpPr txBox="1"/>
          <p:nvPr/>
        </p:nvSpPr>
        <p:spPr>
          <a:xfrm>
            <a:off x="8887968" y="5038344"/>
            <a:ext cx="3246120" cy="320040"/>
          </a:xfrm>
          <a:prstGeom prst="rect">
            <a:avLst/>
          </a:prstGeom>
          <a:noFill/>
          <a:ln/>
        </p:spPr>
        <p:txBody>
          <a:bodyPr wrap="square" lIns="25400" tIns="25400" rIns="25400" bIns="25400" rtlCol="0" anchor="ctr"/>
          <a:lstStyle/>
          <a:p>
            <a:pPr algn="l" indent="0" marL="0">
              <a:buNone/>
            </a:pPr>
            <a:r>
              <a:rPr lang="en-US" sz="1000" dirty="0">
                <a:solidFill>
                  <a:srgbClr val="1A202C"/>
                </a:solidFill>
                <a:latin typeface="Calibri" pitchFamily="34" charset="0"/>
                <a:ea typeface="Calibri" pitchFamily="34" charset="-122"/>
                <a:cs typeface="Calibri" pitchFamily="34" charset="-120"/>
              </a:rPr>
              <a:t>@PreAuthorize ADMIN only</a:t>
            </a:r>
            <a:endParaRPr lang="en-US" sz="1000" dirty="0"/>
          </a:p>
        </p:txBody>
      </p:sp>
      <p:sp>
        <p:nvSpPr>
          <p:cNvPr id="86" name="Shape 84"/>
          <p:cNvSpPr/>
          <p:nvPr/>
        </p:nvSpPr>
        <p:spPr>
          <a:xfrm>
            <a:off x="274320" y="4553712"/>
            <a:ext cx="11612880" cy="384048"/>
          </a:xfrm>
          <a:prstGeom prst="rect">
            <a:avLst/>
          </a:prstGeom>
          <a:solidFill>
            <a:srgbClr val="E8EDF3"/>
          </a:solidFill>
          <a:ln w="12700">
            <a:solidFill>
              <a:srgbClr val="E8EDF3"/>
            </a:solidFill>
            <a:prstDash val="solid"/>
          </a:ln>
        </p:spPr>
        <p:txBody>
          <a:bodyPr/>
          <a:p/>
        </p:txBody>
      </p:sp>
      <p:sp>
        <p:nvSpPr>
          <p:cNvPr id="87" name="Text 85"/>
          <p:cNvSpPr txBox="1"/>
          <p:nvPr/>
        </p:nvSpPr>
        <p:spPr>
          <a:xfrm>
            <a:off x="457200" y="4590288"/>
            <a:ext cx="11247120" cy="320040"/>
          </a:xfrm>
          <a:prstGeom prst="rect">
            <a:avLst/>
          </a:prstGeom>
          <a:noFill/>
          <a:ln/>
        </p:spPr>
        <p:txBody>
          <a:bodyPr wrap="square" lIns="25400" tIns="25400" rIns="25400" bIns="25400" rtlCol="0" anchor="ctr"/>
          <a:lstStyle/>
          <a:p>
            <a:pPr algn="l" indent="0" marL="0">
              <a:buNone/>
            </a:pPr>
            <a:r>
              <a:rPr lang="en-US" sz="1050" i="1" dirty="0">
                <a:solidFill>
                  <a:srgbClr val="4A5568"/>
                </a:solidFill>
                <a:latin typeface="Calibri" pitchFamily="34" charset="0"/>
                <a:ea typeface="Calibri" pitchFamily="34" charset="-122"/>
                <a:cs typeface="Calibri" pitchFamily="34" charset="-120"/>
              </a:rPr>
              <a:t>10 of 25 functional requirements implemented · 15 deferred FRs (filters, forgot password, account lockout, metrics dashboard) identified as future work</a:t>
            </a:r>
            <a:endParaRPr lang="en-US" sz="1050" dirty="0"/>
          </a:p>
        </p:txBody>
      </p:sp>
      <p:sp>
        <p:nvSpPr>
          <p:cNvPr id="88" name="Shape 86"/>
          <p:cNvSpPr/>
          <p:nvPr/>
        </p:nvSpPr>
        <p:spPr>
          <a:xfrm>
            <a:off x="0" y="6510528"/>
            <a:ext cx="12161520" cy="347472"/>
          </a:xfrm>
          <a:prstGeom prst="rect">
            <a:avLst/>
          </a:prstGeom>
          <a:solidFill>
            <a:srgbClr val="E8EDF3"/>
          </a:solidFill>
          <a:ln w="12700">
            <a:solidFill>
              <a:srgbClr val="E8EDF3"/>
            </a:solidFill>
            <a:prstDash val="solid"/>
          </a:ln>
        </p:spPr>
        <p:txBody>
          <a:bodyPr/>
          <a:p/>
        </p:txBody>
      </p:sp>
      <p:sp>
        <p:nvSpPr>
          <p:cNvPr id="90" name="Text 88"/>
          <p:cNvSpPr txBox="1"/>
          <p:nvPr/>
        </p:nvSpPr>
        <p:spPr>
          <a:xfrm>
            <a:off x="9784080" y="6510528"/>
            <a:ext cx="2194560" cy="347472"/>
          </a:xfrm>
          <a:prstGeom prst="rect">
            <a:avLst/>
          </a:prstGeom>
          <a:noFill/>
          <a:ln/>
        </p:spPr>
        <p:txBody>
          <a:bodyPr wrap="square" lIns="25400" tIns="25400" rIns="25400" bIns="25400" rtlCol="0" anchor="ctr"/>
          <a:lstStyle/>
          <a:p>
            <a:pPr algn="r" indent="0" marL="0">
              <a:buNone/>
            </a:pPr>
            <a:r>
              <a:rPr lang="en-US" sz="1000" dirty="0">
                <a:solidFill>
                  <a:srgbClr val="718096"/>
                </a:solidFill>
                <a:latin typeface="Calibri" pitchFamily="34" charset="0"/>
                <a:ea typeface="Calibri" pitchFamily="34" charset="-122"/>
                <a:cs typeface="Calibri" pitchFamily="34" charset="-120"/>
              </a:rPr>
              <a:t>5:45 – 6:15</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E3A5F"/>
          </a:solidFill>
          <a:ln w="12700">
            <a:solidFill>
              <a:srgbClr val="1E3A5F"/>
            </a:solidFill>
            <a:prstDash val="solid"/>
          </a:ln>
        </p:spPr>
        <p:txBody>
          <a:bodyPr/>
          <a:p/>
        </p:txBody>
      </p:sp>
      <p:sp>
        <p:nvSpPr>
          <p:cNvPr id="3" name="Text 1"/>
          <p:cNvSpPr txBox="1"/>
          <p:nvPr/>
        </p:nvSpPr>
        <p:spPr>
          <a:xfrm>
            <a:off x="365760" y="45720"/>
            <a:ext cx="10058400" cy="566928"/>
          </a:xfrm>
          <a:prstGeom prst="rect">
            <a:avLst/>
          </a:prstGeom>
          <a:noFill/>
          <a:ln/>
        </p:spPr>
        <p:txBody>
          <a:bodyPr wrap="square" lIns="25400" tIns="25400" rIns="25400" bIns="2540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Dimension 1: AI Performance — DNN vs Random Forest</a:t>
            </a:r>
            <a:endParaRPr lang="en-US" sz="2200" dirty="0"/>
          </a:p>
        </p:txBody>
      </p:sp>
      <p:sp>
        <p:nvSpPr>
          <p:cNvPr id="4" name="Text 2"/>
          <p:cNvSpPr txBox="1"/>
          <p:nvPr/>
        </p:nvSpPr>
        <p:spPr>
          <a:xfrm>
            <a:off x="365760" y="585216"/>
            <a:ext cx="10972800" cy="329184"/>
          </a:xfrm>
          <a:prstGeom prst="rect">
            <a:avLst/>
          </a:prstGeom>
          <a:noFill/>
          <a:ln/>
        </p:spPr>
        <p:txBody>
          <a:bodyPr wrap="square" lIns="25400" tIns="25400" rIns="25400" bIns="25400" rtlCol="0" anchor="ctr"/>
          <a:lstStyle/>
          <a:p>
            <a:pPr algn="l" indent="0" marL="0">
              <a:buNone/>
            </a:pPr>
            <a:r>
              <a:rPr lang="en-US" sz="1100" dirty="0">
                <a:solidFill>
                  <a:srgbClr val="B8CDE0"/>
                </a:solidFill>
                <a:latin typeface="Calibri" pitchFamily="34" charset="0"/>
                <a:ea typeface="Calibri" pitchFamily="34" charset="-122"/>
                <a:cs typeface="Calibri" pitchFamily="34" charset="-120"/>
              </a:rPr>
              <a:t>Dr. Kesavan requirement: AI performance is Evaluation Dimension 1 of 3</a:t>
            </a:r>
            <a:endParaRPr lang="en-US" sz="1100" dirty="0"/>
          </a:p>
        </p:txBody>
      </p:sp>
      <p:sp>
        <p:nvSpPr>
          <p:cNvPr id="5" name="Shape 3"/>
          <p:cNvSpPr/>
          <p:nvPr/>
        </p:nvSpPr>
        <p:spPr>
          <a:xfrm>
            <a:off x="0" y="960120"/>
            <a:ext cx="12161520" cy="45720"/>
          </a:xfrm>
          <a:prstGeom prst="rect">
            <a:avLst/>
          </a:prstGeom>
          <a:solidFill>
            <a:srgbClr val="0D6B72"/>
          </a:solidFill>
          <a:ln w="12700">
            <a:solidFill>
              <a:srgbClr val="0D6B72"/>
            </a:solidFill>
            <a:prstDash val="solid"/>
          </a:ln>
        </p:spPr>
        <p:txBody>
          <a:bodyPr/>
          <a:p/>
        </p:txBody>
      </p:sp>
      <p:sp>
        <p:nvSpPr>
          <p:cNvPr id="6" name="Shape 4"/>
          <p:cNvSpPr/>
          <p:nvPr/>
        </p:nvSpPr>
        <p:spPr>
          <a:xfrm>
            <a:off x="274320" y="1097280"/>
            <a:ext cx="1280160" cy="384048"/>
          </a:xfrm>
          <a:prstGeom prst="rect">
            <a:avLst/>
          </a:prstGeom>
          <a:solidFill>
            <a:srgbClr val="1E3A5F"/>
          </a:solidFill>
          <a:ln w="12700">
            <a:solidFill>
              <a:srgbClr val="1E3A5F"/>
            </a:solidFill>
            <a:prstDash val="solid"/>
          </a:ln>
        </p:spPr>
        <p:txBody>
          <a:bodyPr/>
          <a:p/>
        </p:txBody>
      </p:sp>
      <p:sp>
        <p:nvSpPr>
          <p:cNvPr id="7" name="Text 5"/>
          <p:cNvSpPr txBox="1"/>
          <p:nvPr/>
        </p:nvSpPr>
        <p:spPr>
          <a:xfrm>
            <a:off x="320040" y="1115568"/>
            <a:ext cx="1188720" cy="347472"/>
          </a:xfrm>
          <a:prstGeom prst="rect">
            <a:avLst/>
          </a:prstGeom>
          <a:no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p>
        </p:txBody>
      </p:sp>
      <p:sp>
        <p:nvSpPr>
          <p:cNvPr id="8" name="Shape 6"/>
          <p:cNvSpPr/>
          <p:nvPr/>
        </p:nvSpPr>
        <p:spPr>
          <a:xfrm>
            <a:off x="1554480" y="1097280"/>
            <a:ext cx="1463040" cy="384048"/>
          </a:xfrm>
          <a:prstGeom prst="rect">
            <a:avLst/>
          </a:prstGeom>
          <a:solidFill>
            <a:srgbClr val="1E3A5F"/>
          </a:solidFill>
          <a:ln w="12700">
            <a:solidFill>
              <a:srgbClr val="1E3A5F"/>
            </a:solidFill>
            <a:prstDash val="solid"/>
          </a:ln>
        </p:spPr>
        <p:txBody>
          <a:bodyPr/>
          <a:p/>
        </p:txBody>
      </p:sp>
      <p:sp>
        <p:nvSpPr>
          <p:cNvPr id="9" name="Text 7"/>
          <p:cNvSpPr txBox="1"/>
          <p:nvPr/>
        </p:nvSpPr>
        <p:spPr>
          <a:xfrm>
            <a:off x="1600200" y="1115568"/>
            <a:ext cx="1371600" cy="347472"/>
          </a:xfrm>
          <a:prstGeom prst="rect">
            <a:avLst/>
          </a:prstGeom>
          <a:no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Model</a:t>
            </a:r>
            <a:endParaRPr lang="en-US" sz="1100" dirty="0"/>
          </a:p>
        </p:txBody>
      </p:sp>
      <p:sp>
        <p:nvSpPr>
          <p:cNvPr id="10" name="Shape 8"/>
          <p:cNvSpPr/>
          <p:nvPr/>
        </p:nvSpPr>
        <p:spPr>
          <a:xfrm>
            <a:off x="3017520" y="1097280"/>
            <a:ext cx="1508760" cy="384048"/>
          </a:xfrm>
          <a:prstGeom prst="rect">
            <a:avLst/>
          </a:prstGeom>
          <a:solidFill>
            <a:srgbClr val="1E3A5F"/>
          </a:solidFill>
          <a:ln w="12700">
            <a:solidFill>
              <a:srgbClr val="1E3A5F"/>
            </a:solidFill>
            <a:prstDash val="solid"/>
          </a:ln>
        </p:spPr>
        <p:txBody>
          <a:bodyPr/>
          <a:p/>
        </p:txBody>
      </p:sp>
      <p:sp>
        <p:nvSpPr>
          <p:cNvPr id="11" name="Text 9"/>
          <p:cNvSpPr txBox="1"/>
          <p:nvPr/>
        </p:nvSpPr>
        <p:spPr>
          <a:xfrm>
            <a:off x="3063240" y="1115568"/>
            <a:ext cx="1417320" cy="347472"/>
          </a:xfrm>
          <a:prstGeom prst="rect">
            <a:avLst/>
          </a:prstGeom>
          <a:no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Training (70%)</a:t>
            </a:r>
            <a:endParaRPr lang="en-US" sz="1100" dirty="0"/>
          </a:p>
        </p:txBody>
      </p:sp>
      <p:sp>
        <p:nvSpPr>
          <p:cNvPr id="12" name="Shape 10"/>
          <p:cNvSpPr/>
          <p:nvPr/>
        </p:nvSpPr>
        <p:spPr>
          <a:xfrm>
            <a:off x="4526280" y="1097280"/>
            <a:ext cx="1600200" cy="384048"/>
          </a:xfrm>
          <a:prstGeom prst="rect">
            <a:avLst/>
          </a:prstGeom>
          <a:solidFill>
            <a:srgbClr val="1E3A5F"/>
          </a:solidFill>
          <a:ln w="12700">
            <a:solidFill>
              <a:srgbClr val="1E3A5F"/>
            </a:solidFill>
            <a:prstDash val="solid"/>
          </a:ln>
        </p:spPr>
        <p:txBody>
          <a:bodyPr/>
          <a:p/>
        </p:txBody>
      </p:sp>
      <p:sp>
        <p:nvSpPr>
          <p:cNvPr id="13" name="Text 11"/>
          <p:cNvSpPr txBox="1"/>
          <p:nvPr/>
        </p:nvSpPr>
        <p:spPr>
          <a:xfrm>
            <a:off x="4572000" y="1115568"/>
            <a:ext cx="1508760" cy="347472"/>
          </a:xfrm>
          <a:prstGeom prst="rect">
            <a:avLst/>
          </a:prstGeom>
          <a:no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Validation (15%)</a:t>
            </a:r>
            <a:endParaRPr lang="en-US" sz="1100" dirty="0"/>
          </a:p>
        </p:txBody>
      </p:sp>
      <p:sp>
        <p:nvSpPr>
          <p:cNvPr id="14" name="Shape 12"/>
          <p:cNvSpPr/>
          <p:nvPr/>
        </p:nvSpPr>
        <p:spPr>
          <a:xfrm>
            <a:off x="6126480" y="1097280"/>
            <a:ext cx="1371600" cy="384048"/>
          </a:xfrm>
          <a:prstGeom prst="rect">
            <a:avLst/>
          </a:prstGeom>
          <a:solidFill>
            <a:srgbClr val="1E3A5F"/>
          </a:solidFill>
          <a:ln w="12700">
            <a:solidFill>
              <a:srgbClr val="1E3A5F"/>
            </a:solidFill>
            <a:prstDash val="solid"/>
          </a:ln>
        </p:spPr>
        <p:txBody>
          <a:bodyPr/>
          <a:p/>
        </p:txBody>
      </p:sp>
      <p:sp>
        <p:nvSpPr>
          <p:cNvPr id="15" name="Text 13"/>
          <p:cNvSpPr txBox="1"/>
          <p:nvPr/>
        </p:nvSpPr>
        <p:spPr>
          <a:xfrm>
            <a:off x="6172200" y="1115568"/>
            <a:ext cx="1280160" cy="347472"/>
          </a:xfrm>
          <a:prstGeom prst="rect">
            <a:avLst/>
          </a:prstGeom>
          <a:no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Test (15%)</a:t>
            </a:r>
            <a:endParaRPr lang="en-US" sz="1100" dirty="0"/>
          </a:p>
        </p:txBody>
      </p:sp>
      <p:sp>
        <p:nvSpPr>
          <p:cNvPr id="16" name="Shape 14"/>
          <p:cNvSpPr/>
          <p:nvPr/>
        </p:nvSpPr>
        <p:spPr>
          <a:xfrm>
            <a:off x="7498080" y="1097280"/>
            <a:ext cx="1920240" cy="384048"/>
          </a:xfrm>
          <a:prstGeom prst="rect">
            <a:avLst/>
          </a:prstGeom>
          <a:solidFill>
            <a:srgbClr val="1E3A5F"/>
          </a:solidFill>
          <a:ln w="12700">
            <a:solidFill>
              <a:srgbClr val="1E3A5F"/>
            </a:solidFill>
            <a:prstDash val="solid"/>
          </a:ln>
        </p:spPr>
        <p:txBody>
          <a:bodyPr/>
          <a:p/>
        </p:txBody>
      </p:sp>
      <p:sp>
        <p:nvSpPr>
          <p:cNvPr id="17" name="Text 15"/>
          <p:cNvSpPr txBox="1"/>
          <p:nvPr/>
        </p:nvSpPr>
        <p:spPr>
          <a:xfrm>
            <a:off x="7543800" y="1115568"/>
            <a:ext cx="1828800" cy="347472"/>
          </a:xfrm>
          <a:prstGeom prst="rect">
            <a:avLst/>
          </a:prstGeom>
          <a:no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Overfitting Gap</a:t>
            </a:r>
            <a:endParaRPr lang="en-US" sz="1100" dirty="0"/>
          </a:p>
        </p:txBody>
      </p:sp>
      <p:sp>
        <p:nvSpPr>
          <p:cNvPr id="18" name="Shape 16"/>
          <p:cNvSpPr/>
          <p:nvPr/>
        </p:nvSpPr>
        <p:spPr>
          <a:xfrm>
            <a:off x="274320" y="1481328"/>
            <a:ext cx="1280160" cy="402336"/>
          </a:xfrm>
          <a:prstGeom prst="rect">
            <a:avLst/>
          </a:prstGeom>
          <a:solidFill>
            <a:srgbClr val="E6F4F5"/>
          </a:solidFill>
          <a:ln w="12700">
            <a:solidFill>
              <a:srgbClr val="E6F4F5"/>
            </a:solidFill>
            <a:prstDash val="solid"/>
          </a:ln>
        </p:spPr>
        <p:txBody>
          <a:bodyPr/>
          <a:p/>
        </p:txBody>
      </p:sp>
      <p:sp>
        <p:nvSpPr>
          <p:cNvPr id="19" name="Text 17"/>
          <p:cNvSpPr txBox="1"/>
          <p:nvPr/>
        </p:nvSpPr>
        <p:spPr>
          <a:xfrm>
            <a:off x="320040" y="1499616"/>
            <a:ext cx="1188720" cy="347472"/>
          </a:xfrm>
          <a:prstGeom prst="rect">
            <a:avLst/>
          </a:prstGeom>
          <a:noFill/>
          <a:ln/>
        </p:spPr>
        <p:txBody>
          <a:bodyPr wrap="square" lIns="25400" tIns="25400" rIns="25400" bIns="25400" rtlCol="0" anchor="ctr"/>
          <a:lstStyle/>
          <a:p>
            <a:pPr algn="ctr" indent="0" marL="0">
              <a:buNone/>
            </a:pPr>
            <a:r>
              <a:rPr lang="en-US" sz="1100" b="1" dirty="0">
                <a:solidFill>
                  <a:srgbClr val="0A5C36"/>
                </a:solidFill>
                <a:latin typeface="Calibri" pitchFamily="34" charset="0"/>
                <a:ea typeface="Calibri" pitchFamily="34" charset="-122"/>
                <a:cs typeface="Calibri" pitchFamily="34" charset="-120"/>
              </a:rPr>
              <a:t>R²</a:t>
            </a:r>
            <a:endParaRPr lang="en-US" sz="1100" dirty="0"/>
          </a:p>
        </p:txBody>
      </p:sp>
      <p:sp>
        <p:nvSpPr>
          <p:cNvPr id="20" name="Shape 18"/>
          <p:cNvSpPr/>
          <p:nvPr/>
        </p:nvSpPr>
        <p:spPr>
          <a:xfrm>
            <a:off x="1554480" y="1481328"/>
            <a:ext cx="1463040" cy="402336"/>
          </a:xfrm>
          <a:prstGeom prst="rect">
            <a:avLst/>
          </a:prstGeom>
          <a:solidFill>
            <a:srgbClr val="E6F4F5"/>
          </a:solidFill>
          <a:ln w="12700">
            <a:solidFill>
              <a:srgbClr val="E6F4F5"/>
            </a:solidFill>
            <a:prstDash val="solid"/>
          </a:ln>
        </p:spPr>
        <p:txBody>
          <a:bodyPr/>
          <a:p/>
        </p:txBody>
      </p:sp>
      <p:sp>
        <p:nvSpPr>
          <p:cNvPr id="21" name="Text 19"/>
          <p:cNvSpPr txBox="1"/>
          <p:nvPr/>
        </p:nvSpPr>
        <p:spPr>
          <a:xfrm>
            <a:off x="1600200" y="1499616"/>
            <a:ext cx="1371600" cy="347472"/>
          </a:xfrm>
          <a:prstGeom prst="rect">
            <a:avLst/>
          </a:prstGeom>
          <a:noFill/>
          <a:ln/>
        </p:spPr>
        <p:txBody>
          <a:bodyPr wrap="square" lIns="25400" tIns="25400" rIns="25400" bIns="25400" rtlCol="0" anchor="ctr"/>
          <a:lstStyle/>
          <a:p>
            <a:pPr algn="ctr" indent="0" marL="0">
              <a:buNone/>
            </a:pPr>
            <a:r>
              <a:rPr lang="en-US" sz="1100" dirty="0">
                <a:solidFill>
                  <a:srgbClr val="0A5C36"/>
                </a:solidFill>
                <a:latin typeface="Calibri" pitchFamily="34" charset="0"/>
                <a:ea typeface="Calibri" pitchFamily="34" charset="-122"/>
                <a:cs typeface="Calibri" pitchFamily="34" charset="-120"/>
              </a:rPr>
              <a:t>DNN ✅</a:t>
            </a:r>
            <a:endParaRPr lang="en-US" sz="1100" dirty="0"/>
          </a:p>
        </p:txBody>
      </p:sp>
      <p:sp>
        <p:nvSpPr>
          <p:cNvPr id="22" name="Shape 20"/>
          <p:cNvSpPr/>
          <p:nvPr/>
        </p:nvSpPr>
        <p:spPr>
          <a:xfrm>
            <a:off x="3017520" y="1481328"/>
            <a:ext cx="1508760" cy="402336"/>
          </a:xfrm>
          <a:prstGeom prst="rect">
            <a:avLst/>
          </a:prstGeom>
          <a:solidFill>
            <a:srgbClr val="E6F4F5"/>
          </a:solidFill>
          <a:ln w="12700">
            <a:solidFill>
              <a:srgbClr val="E6F4F5"/>
            </a:solidFill>
            <a:prstDash val="solid"/>
          </a:ln>
        </p:spPr>
        <p:txBody>
          <a:bodyPr/>
          <a:p/>
        </p:txBody>
      </p:sp>
      <p:sp>
        <p:nvSpPr>
          <p:cNvPr id="23" name="Text 21"/>
          <p:cNvSpPr txBox="1"/>
          <p:nvPr/>
        </p:nvSpPr>
        <p:spPr>
          <a:xfrm>
            <a:off x="3063240" y="1499616"/>
            <a:ext cx="1417320" cy="347472"/>
          </a:xfrm>
          <a:prstGeom prst="rect">
            <a:avLst/>
          </a:prstGeom>
          <a:noFill/>
          <a:ln/>
        </p:spPr>
        <p:txBody>
          <a:bodyPr wrap="square" lIns="25400" tIns="25400" rIns="25400" bIns="25400" rtlCol="0" anchor="ctr"/>
          <a:lstStyle/>
          <a:p>
            <a:pPr algn="ctr" indent="0" marL="0">
              <a:buNone/>
            </a:pPr>
            <a:r>
              <a:rPr lang="en-US" sz="1100" dirty="0">
                <a:solidFill>
                  <a:srgbClr val="0A5C36"/>
                </a:solidFill>
                <a:latin typeface="Calibri" pitchFamily="34" charset="0"/>
                <a:ea typeface="Calibri" pitchFamily="34" charset="-122"/>
                <a:cs typeface="Calibri" pitchFamily="34" charset="-120"/>
              </a:rPr>
              <a:t>0.9405</a:t>
            </a:r>
            <a:endParaRPr lang="en-US" sz="1100" dirty="0"/>
          </a:p>
        </p:txBody>
      </p:sp>
      <p:sp>
        <p:nvSpPr>
          <p:cNvPr id="24" name="Shape 22"/>
          <p:cNvSpPr/>
          <p:nvPr/>
        </p:nvSpPr>
        <p:spPr>
          <a:xfrm>
            <a:off x="4526280" y="1481328"/>
            <a:ext cx="1600200" cy="402336"/>
          </a:xfrm>
          <a:prstGeom prst="rect">
            <a:avLst/>
          </a:prstGeom>
          <a:solidFill>
            <a:srgbClr val="E6F4F5"/>
          </a:solidFill>
          <a:ln w="12700">
            <a:solidFill>
              <a:srgbClr val="E6F4F5"/>
            </a:solidFill>
            <a:prstDash val="solid"/>
          </a:ln>
        </p:spPr>
        <p:txBody>
          <a:bodyPr/>
          <a:p/>
        </p:txBody>
      </p:sp>
      <p:sp>
        <p:nvSpPr>
          <p:cNvPr id="25" name="Text 23"/>
          <p:cNvSpPr txBox="1"/>
          <p:nvPr/>
        </p:nvSpPr>
        <p:spPr>
          <a:xfrm>
            <a:off x="4572000" y="1499616"/>
            <a:ext cx="1508760" cy="347472"/>
          </a:xfrm>
          <a:prstGeom prst="rect">
            <a:avLst/>
          </a:prstGeom>
          <a:noFill/>
          <a:ln/>
        </p:spPr>
        <p:txBody>
          <a:bodyPr wrap="square" lIns="25400" tIns="25400" rIns="25400" bIns="25400" rtlCol="0" anchor="ctr"/>
          <a:lstStyle/>
          <a:p>
            <a:pPr algn="ctr" indent="0" marL="0">
              <a:buNone/>
            </a:pPr>
            <a:r>
              <a:rPr lang="en-US" sz="1100" dirty="0">
                <a:solidFill>
                  <a:srgbClr val="0A5C36"/>
                </a:solidFill>
                <a:latin typeface="Calibri" pitchFamily="34" charset="0"/>
                <a:ea typeface="Calibri" pitchFamily="34" charset="-122"/>
                <a:cs typeface="Calibri" pitchFamily="34" charset="-120"/>
              </a:rPr>
              <a:t>0.9416</a:t>
            </a:r>
            <a:endParaRPr lang="en-US" sz="1100" dirty="0"/>
          </a:p>
        </p:txBody>
      </p:sp>
      <p:sp>
        <p:nvSpPr>
          <p:cNvPr id="26" name="Shape 24"/>
          <p:cNvSpPr/>
          <p:nvPr/>
        </p:nvSpPr>
        <p:spPr>
          <a:xfrm>
            <a:off x="6126480" y="1481328"/>
            <a:ext cx="1371600" cy="402336"/>
          </a:xfrm>
          <a:prstGeom prst="rect">
            <a:avLst/>
          </a:prstGeom>
          <a:solidFill>
            <a:srgbClr val="E6F4F5"/>
          </a:solidFill>
          <a:ln w="12700">
            <a:solidFill>
              <a:srgbClr val="E6F4F5"/>
            </a:solidFill>
            <a:prstDash val="solid"/>
          </a:ln>
        </p:spPr>
        <p:txBody>
          <a:bodyPr/>
          <a:p/>
        </p:txBody>
      </p:sp>
      <p:sp>
        <p:nvSpPr>
          <p:cNvPr id="27" name="Text 25"/>
          <p:cNvSpPr txBox="1"/>
          <p:nvPr/>
        </p:nvSpPr>
        <p:spPr>
          <a:xfrm>
            <a:off x="6172200" y="1499616"/>
            <a:ext cx="1280160" cy="347472"/>
          </a:xfrm>
          <a:prstGeom prst="rect">
            <a:avLst/>
          </a:prstGeom>
          <a:noFill/>
          <a:ln/>
        </p:spPr>
        <p:txBody>
          <a:bodyPr wrap="square" lIns="25400" tIns="25400" rIns="25400" bIns="25400" rtlCol="0" anchor="ctr"/>
          <a:lstStyle/>
          <a:p>
            <a:pPr algn="ctr" indent="0" marL="0">
              <a:buNone/>
            </a:pPr>
            <a:r>
              <a:rPr lang="en-US" sz="1100" dirty="0">
                <a:solidFill>
                  <a:srgbClr val="0A5C36"/>
                </a:solidFill>
                <a:latin typeface="Calibri" pitchFamily="34" charset="0"/>
                <a:ea typeface="Calibri" pitchFamily="34" charset="-122"/>
                <a:cs typeface="Calibri" pitchFamily="34" charset="-120"/>
              </a:rPr>
              <a:t>0.9389</a:t>
            </a:r>
            <a:endParaRPr lang="en-US" sz="1100" dirty="0"/>
          </a:p>
        </p:txBody>
      </p:sp>
      <p:sp>
        <p:nvSpPr>
          <p:cNvPr id="28" name="Shape 26"/>
          <p:cNvSpPr/>
          <p:nvPr/>
        </p:nvSpPr>
        <p:spPr>
          <a:xfrm>
            <a:off x="7498080" y="1481328"/>
            <a:ext cx="1920240" cy="402336"/>
          </a:xfrm>
          <a:prstGeom prst="rect">
            <a:avLst/>
          </a:prstGeom>
          <a:solidFill>
            <a:srgbClr val="E6F4F5"/>
          </a:solidFill>
          <a:ln w="12700">
            <a:solidFill>
              <a:srgbClr val="E6F4F5"/>
            </a:solidFill>
            <a:prstDash val="solid"/>
          </a:ln>
        </p:spPr>
        <p:txBody>
          <a:bodyPr/>
          <a:p/>
        </p:txBody>
      </p:sp>
      <p:sp>
        <p:nvSpPr>
          <p:cNvPr id="29" name="Text 27"/>
          <p:cNvSpPr txBox="1"/>
          <p:nvPr/>
        </p:nvSpPr>
        <p:spPr>
          <a:xfrm>
            <a:off x="7543800" y="1499616"/>
            <a:ext cx="1828800" cy="347472"/>
          </a:xfrm>
          <a:prstGeom prst="rect">
            <a:avLst/>
          </a:prstGeom>
          <a:noFill/>
          <a:ln/>
        </p:spPr>
        <p:txBody>
          <a:bodyPr wrap="square" lIns="25400" tIns="25400" rIns="25400" bIns="25400" rtlCol="0" anchor="ctr"/>
          <a:lstStyle/>
          <a:p>
            <a:pPr algn="ctr" indent="0" marL="0">
              <a:buNone/>
            </a:pPr>
            <a:r>
              <a:rPr lang="en-US" sz="1100" b="1" dirty="0">
                <a:solidFill>
                  <a:srgbClr val="0A5C36"/>
                </a:solidFill>
                <a:latin typeface="Calibri" pitchFamily="34" charset="0"/>
                <a:ea typeface="Calibri" pitchFamily="34" charset="-122"/>
                <a:cs typeface="Calibri" pitchFamily="34" charset="-120"/>
              </a:rPr>
              <a:t>0.0016 ← Excellent</a:t>
            </a:r>
            <a:endParaRPr lang="en-US" sz="1100" dirty="0"/>
          </a:p>
        </p:txBody>
      </p:sp>
      <p:sp>
        <p:nvSpPr>
          <p:cNvPr id="30" name="Shape 28"/>
          <p:cNvSpPr/>
          <p:nvPr/>
        </p:nvSpPr>
        <p:spPr>
          <a:xfrm>
            <a:off x="274320" y="1883664"/>
            <a:ext cx="1280160" cy="402336"/>
          </a:xfrm>
          <a:prstGeom prst="rect">
            <a:avLst/>
          </a:prstGeom>
          <a:solidFill>
            <a:srgbClr val="FEE2E2"/>
          </a:solidFill>
          <a:ln w="12700">
            <a:solidFill>
              <a:srgbClr val="FEE2E2"/>
            </a:solidFill>
            <a:prstDash val="solid"/>
          </a:ln>
        </p:spPr>
        <p:txBody>
          <a:bodyPr/>
          <a:p/>
        </p:txBody>
      </p:sp>
      <p:sp>
        <p:nvSpPr>
          <p:cNvPr id="31" name="Text 29"/>
          <p:cNvSpPr txBox="1"/>
          <p:nvPr/>
        </p:nvSpPr>
        <p:spPr>
          <a:xfrm>
            <a:off x="320040" y="1901952"/>
            <a:ext cx="1188720" cy="347472"/>
          </a:xfrm>
          <a:prstGeom prst="rect">
            <a:avLst/>
          </a:prstGeom>
          <a:noFill/>
          <a:ln/>
        </p:spPr>
        <p:txBody>
          <a:bodyPr wrap="square" lIns="25400" tIns="25400" rIns="25400" bIns="25400" rtlCol="0" anchor="ctr"/>
          <a:lstStyle/>
          <a:p>
            <a:pPr algn="ctr" indent="0" marL="0">
              <a:buNone/>
            </a:pPr>
            <a:r>
              <a:rPr lang="en-US" sz="1100" b="1" dirty="0">
                <a:solidFill>
                  <a:srgbClr val="DC2626"/>
                </a:solidFill>
                <a:latin typeface="Calibri" pitchFamily="34" charset="0"/>
                <a:ea typeface="Calibri" pitchFamily="34" charset="-122"/>
                <a:cs typeface="Calibri" pitchFamily="34" charset="-120"/>
              </a:rPr>
              <a:t>R²</a:t>
            </a:r>
            <a:endParaRPr lang="en-US" sz="1100" dirty="0"/>
          </a:p>
        </p:txBody>
      </p:sp>
      <p:sp>
        <p:nvSpPr>
          <p:cNvPr id="32" name="Shape 30"/>
          <p:cNvSpPr/>
          <p:nvPr/>
        </p:nvSpPr>
        <p:spPr>
          <a:xfrm>
            <a:off x="1554480" y="1883664"/>
            <a:ext cx="1463040" cy="402336"/>
          </a:xfrm>
          <a:prstGeom prst="rect">
            <a:avLst/>
          </a:prstGeom>
          <a:solidFill>
            <a:srgbClr val="FEE2E2"/>
          </a:solidFill>
          <a:ln w="12700">
            <a:solidFill>
              <a:srgbClr val="FEE2E2"/>
            </a:solidFill>
            <a:prstDash val="solid"/>
          </a:ln>
        </p:spPr>
        <p:txBody>
          <a:bodyPr/>
          <a:p/>
        </p:txBody>
      </p:sp>
      <p:sp>
        <p:nvSpPr>
          <p:cNvPr id="33" name="Text 31"/>
          <p:cNvSpPr txBox="1"/>
          <p:nvPr/>
        </p:nvSpPr>
        <p:spPr>
          <a:xfrm>
            <a:off x="1600200" y="1901952"/>
            <a:ext cx="1371600" cy="347472"/>
          </a:xfrm>
          <a:prstGeom prst="rect">
            <a:avLst/>
          </a:prstGeom>
          <a:noFill/>
          <a:ln/>
        </p:spPr>
        <p:txBody>
          <a:bodyPr wrap="square" lIns="25400" tIns="25400" rIns="25400" bIns="25400" rtlCol="0" anchor="ctr"/>
          <a:lstStyle/>
          <a:p>
            <a:pPr algn="ctr" indent="0" marL="0">
              <a:buNone/>
            </a:pPr>
            <a:r>
              <a:rPr lang="en-US" sz="1100" dirty="0">
                <a:solidFill>
                  <a:srgbClr val="DC2626"/>
                </a:solidFill>
                <a:latin typeface="Calibri" pitchFamily="34" charset="0"/>
                <a:ea typeface="Calibri" pitchFamily="34" charset="-122"/>
                <a:cs typeface="Calibri" pitchFamily="34" charset="-120"/>
              </a:rPr>
              <a:t>Random Forest</a:t>
            </a:r>
            <a:endParaRPr lang="en-US" sz="1100" dirty="0"/>
          </a:p>
        </p:txBody>
      </p:sp>
      <p:sp>
        <p:nvSpPr>
          <p:cNvPr id="34" name="Shape 32"/>
          <p:cNvSpPr/>
          <p:nvPr/>
        </p:nvSpPr>
        <p:spPr>
          <a:xfrm>
            <a:off x="3017520" y="1883664"/>
            <a:ext cx="1508760" cy="402336"/>
          </a:xfrm>
          <a:prstGeom prst="rect">
            <a:avLst/>
          </a:prstGeom>
          <a:solidFill>
            <a:srgbClr val="FEE2E2"/>
          </a:solidFill>
          <a:ln w="12700">
            <a:solidFill>
              <a:srgbClr val="FEE2E2"/>
            </a:solidFill>
            <a:prstDash val="solid"/>
          </a:ln>
        </p:spPr>
        <p:txBody>
          <a:bodyPr/>
          <a:p/>
        </p:txBody>
      </p:sp>
      <p:sp>
        <p:nvSpPr>
          <p:cNvPr id="35" name="Text 33"/>
          <p:cNvSpPr txBox="1"/>
          <p:nvPr/>
        </p:nvSpPr>
        <p:spPr>
          <a:xfrm>
            <a:off x="3063240" y="1901952"/>
            <a:ext cx="1417320" cy="347472"/>
          </a:xfrm>
          <a:prstGeom prst="rect">
            <a:avLst/>
          </a:prstGeom>
          <a:noFill/>
          <a:ln/>
        </p:spPr>
        <p:txBody>
          <a:bodyPr wrap="square" lIns="25400" tIns="25400" rIns="25400" bIns="25400" rtlCol="0" anchor="ctr"/>
          <a:lstStyle/>
          <a:p>
            <a:pPr algn="ctr" indent="0" marL="0">
              <a:buNone/>
            </a:pPr>
            <a:r>
              <a:rPr lang="en-US" sz="1100" dirty="0">
                <a:solidFill>
                  <a:srgbClr val="DC2626"/>
                </a:solidFill>
                <a:latin typeface="Calibri" pitchFamily="34" charset="0"/>
                <a:ea typeface="Calibri" pitchFamily="34" charset="-122"/>
                <a:cs typeface="Calibri" pitchFamily="34" charset="-120"/>
              </a:rPr>
              <a:t>0.9724</a:t>
            </a:r>
            <a:endParaRPr lang="en-US" sz="1100" dirty="0"/>
          </a:p>
        </p:txBody>
      </p:sp>
      <p:sp>
        <p:nvSpPr>
          <p:cNvPr id="36" name="Shape 34"/>
          <p:cNvSpPr/>
          <p:nvPr/>
        </p:nvSpPr>
        <p:spPr>
          <a:xfrm>
            <a:off x="4526280" y="1883664"/>
            <a:ext cx="1600200" cy="402336"/>
          </a:xfrm>
          <a:prstGeom prst="rect">
            <a:avLst/>
          </a:prstGeom>
          <a:solidFill>
            <a:srgbClr val="FEE2E2"/>
          </a:solidFill>
          <a:ln w="12700">
            <a:solidFill>
              <a:srgbClr val="FEE2E2"/>
            </a:solidFill>
            <a:prstDash val="solid"/>
          </a:ln>
        </p:spPr>
        <p:txBody>
          <a:bodyPr/>
          <a:p/>
        </p:txBody>
      </p:sp>
      <p:sp>
        <p:nvSpPr>
          <p:cNvPr id="37" name="Text 35"/>
          <p:cNvSpPr txBox="1"/>
          <p:nvPr/>
        </p:nvSpPr>
        <p:spPr>
          <a:xfrm>
            <a:off x="4572000" y="1901952"/>
            <a:ext cx="1508760" cy="347472"/>
          </a:xfrm>
          <a:prstGeom prst="rect">
            <a:avLst/>
          </a:prstGeom>
          <a:noFill/>
          <a:ln/>
        </p:spPr>
        <p:txBody>
          <a:bodyPr wrap="square" lIns="25400" tIns="25400" rIns="25400" bIns="25400" rtlCol="0" anchor="ctr"/>
          <a:lstStyle/>
          <a:p>
            <a:pPr algn="ctr" indent="0" marL="0">
              <a:buNone/>
            </a:pPr>
            <a:r>
              <a:rPr lang="en-US" sz="1100" dirty="0">
                <a:solidFill>
                  <a:srgbClr val="DC2626"/>
                </a:solidFill>
                <a:latin typeface="Calibri" pitchFamily="34" charset="0"/>
                <a:ea typeface="Calibri" pitchFamily="34" charset="-122"/>
                <a:cs typeface="Calibri" pitchFamily="34" charset="-120"/>
              </a:rPr>
              <a:t>0.9392</a:t>
            </a:r>
            <a:endParaRPr lang="en-US" sz="1100" dirty="0"/>
          </a:p>
        </p:txBody>
      </p:sp>
      <p:sp>
        <p:nvSpPr>
          <p:cNvPr id="38" name="Shape 36"/>
          <p:cNvSpPr/>
          <p:nvPr/>
        </p:nvSpPr>
        <p:spPr>
          <a:xfrm>
            <a:off x="6126480" y="1883664"/>
            <a:ext cx="1371600" cy="402336"/>
          </a:xfrm>
          <a:prstGeom prst="rect">
            <a:avLst/>
          </a:prstGeom>
          <a:solidFill>
            <a:srgbClr val="FEE2E2"/>
          </a:solidFill>
          <a:ln w="12700">
            <a:solidFill>
              <a:srgbClr val="FEE2E2"/>
            </a:solidFill>
            <a:prstDash val="solid"/>
          </a:ln>
        </p:spPr>
        <p:txBody>
          <a:bodyPr/>
          <a:p/>
        </p:txBody>
      </p:sp>
      <p:sp>
        <p:nvSpPr>
          <p:cNvPr id="39" name="Text 37"/>
          <p:cNvSpPr txBox="1"/>
          <p:nvPr/>
        </p:nvSpPr>
        <p:spPr>
          <a:xfrm>
            <a:off x="6172200" y="1901952"/>
            <a:ext cx="1280160" cy="347472"/>
          </a:xfrm>
          <a:prstGeom prst="rect">
            <a:avLst/>
          </a:prstGeom>
          <a:noFill/>
          <a:ln/>
        </p:spPr>
        <p:txBody>
          <a:bodyPr wrap="square" lIns="25400" tIns="25400" rIns="25400" bIns="25400" rtlCol="0" anchor="ctr"/>
          <a:lstStyle/>
          <a:p>
            <a:pPr algn="ctr" indent="0" marL="0">
              <a:buNone/>
            </a:pPr>
            <a:r>
              <a:rPr lang="en-US" sz="1100" dirty="0">
                <a:solidFill>
                  <a:srgbClr val="DC2626"/>
                </a:solidFill>
                <a:latin typeface="Calibri" pitchFamily="34" charset="0"/>
                <a:ea typeface="Calibri" pitchFamily="34" charset="-122"/>
                <a:cs typeface="Calibri" pitchFamily="34" charset="-120"/>
              </a:rPr>
              <a:t>0.9368</a:t>
            </a:r>
            <a:endParaRPr lang="en-US" sz="1100" dirty="0"/>
          </a:p>
        </p:txBody>
      </p:sp>
      <p:sp>
        <p:nvSpPr>
          <p:cNvPr id="40" name="Shape 38"/>
          <p:cNvSpPr/>
          <p:nvPr/>
        </p:nvSpPr>
        <p:spPr>
          <a:xfrm>
            <a:off x="7498080" y="1883664"/>
            <a:ext cx="1920240" cy="402336"/>
          </a:xfrm>
          <a:prstGeom prst="rect">
            <a:avLst/>
          </a:prstGeom>
          <a:solidFill>
            <a:srgbClr val="FEE2E2"/>
          </a:solidFill>
          <a:ln w="12700">
            <a:solidFill>
              <a:srgbClr val="FEE2E2"/>
            </a:solidFill>
            <a:prstDash val="solid"/>
          </a:ln>
        </p:spPr>
        <p:txBody>
          <a:bodyPr/>
          <a:p/>
        </p:txBody>
      </p:sp>
      <p:sp>
        <p:nvSpPr>
          <p:cNvPr id="41" name="Text 39"/>
          <p:cNvSpPr txBox="1"/>
          <p:nvPr/>
        </p:nvSpPr>
        <p:spPr>
          <a:xfrm>
            <a:off x="7543800" y="1901952"/>
            <a:ext cx="1828800" cy="347472"/>
          </a:xfrm>
          <a:prstGeom prst="rect">
            <a:avLst/>
          </a:prstGeom>
          <a:noFill/>
          <a:ln/>
        </p:spPr>
        <p:txBody>
          <a:bodyPr wrap="square" lIns="25400" tIns="25400" rIns="25400" bIns="25400" rtlCol="0" anchor="ctr"/>
          <a:lstStyle/>
          <a:p>
            <a:pPr algn="ctr" indent="0" marL="0">
              <a:buNone/>
            </a:pPr>
            <a:r>
              <a:rPr lang="en-US" sz="1100" b="1" dirty="0">
                <a:solidFill>
                  <a:srgbClr val="DC2626"/>
                </a:solidFill>
                <a:latin typeface="Calibri" pitchFamily="34" charset="0"/>
                <a:ea typeface="Calibri" pitchFamily="34" charset="-122"/>
                <a:cs typeface="Calibri" pitchFamily="34" charset="-120"/>
              </a:rPr>
              <a:t>0.0356 ← Concerning</a:t>
            </a:r>
            <a:endParaRPr lang="en-US" sz="1100" dirty="0"/>
          </a:p>
        </p:txBody>
      </p:sp>
      <p:sp>
        <p:nvSpPr>
          <p:cNvPr id="42" name="Shape 40"/>
          <p:cNvSpPr/>
          <p:nvPr/>
        </p:nvSpPr>
        <p:spPr>
          <a:xfrm>
            <a:off x="274320" y="2286000"/>
            <a:ext cx="1280160" cy="402336"/>
          </a:xfrm>
          <a:prstGeom prst="rect">
            <a:avLst/>
          </a:prstGeom>
          <a:solidFill>
            <a:srgbClr val="F5F7FA"/>
          </a:solidFill>
          <a:ln w="12700">
            <a:solidFill>
              <a:srgbClr val="F5F7FA"/>
            </a:solidFill>
            <a:prstDash val="solid"/>
          </a:ln>
        </p:spPr>
        <p:txBody>
          <a:bodyPr/>
          <a:p/>
        </p:txBody>
      </p:sp>
      <p:sp>
        <p:nvSpPr>
          <p:cNvPr id="43" name="Text 41"/>
          <p:cNvSpPr txBox="1"/>
          <p:nvPr/>
        </p:nvSpPr>
        <p:spPr>
          <a:xfrm>
            <a:off x="320040" y="2304288"/>
            <a:ext cx="1188720" cy="347472"/>
          </a:xfrm>
          <a:prstGeom prst="rect">
            <a:avLst/>
          </a:prstGeom>
          <a:noFill/>
          <a:ln/>
        </p:spPr>
        <p:txBody>
          <a:bodyPr wrap="square" lIns="25400" tIns="25400" rIns="25400" bIns="25400" rtlCol="0" anchor="ctr"/>
          <a:lstStyle/>
          <a:p>
            <a:pPr algn="ctr" indent="0" marL="0">
              <a:buNone/>
            </a:pPr>
            <a:r>
              <a:rPr lang="en-US" sz="1100" b="1" dirty="0">
                <a:solidFill>
                  <a:srgbClr val="1A202C"/>
                </a:solidFill>
                <a:latin typeface="Calibri" pitchFamily="34" charset="0"/>
                <a:ea typeface="Calibri" pitchFamily="34" charset="-122"/>
                <a:cs typeface="Calibri" pitchFamily="34" charset="-120"/>
              </a:rPr>
              <a:t>MAE (kg/m²)</a:t>
            </a:r>
            <a:endParaRPr lang="en-US" sz="1100" dirty="0"/>
          </a:p>
        </p:txBody>
      </p:sp>
      <p:sp>
        <p:nvSpPr>
          <p:cNvPr id="44" name="Shape 42"/>
          <p:cNvSpPr/>
          <p:nvPr/>
        </p:nvSpPr>
        <p:spPr>
          <a:xfrm>
            <a:off x="1554480" y="2286000"/>
            <a:ext cx="1463040" cy="402336"/>
          </a:xfrm>
          <a:prstGeom prst="rect">
            <a:avLst/>
          </a:prstGeom>
          <a:solidFill>
            <a:srgbClr val="F5F7FA"/>
          </a:solidFill>
          <a:ln w="12700">
            <a:solidFill>
              <a:srgbClr val="F5F7FA"/>
            </a:solidFill>
            <a:prstDash val="solid"/>
          </a:ln>
        </p:spPr>
        <p:txBody>
          <a:bodyPr/>
          <a:p/>
        </p:txBody>
      </p:sp>
      <p:sp>
        <p:nvSpPr>
          <p:cNvPr id="45" name="Text 43"/>
          <p:cNvSpPr txBox="1"/>
          <p:nvPr/>
        </p:nvSpPr>
        <p:spPr>
          <a:xfrm>
            <a:off x="1600200" y="2304288"/>
            <a:ext cx="1371600" cy="347472"/>
          </a:xfrm>
          <a:prstGeom prst="rect">
            <a:avLst/>
          </a:prstGeom>
          <a:noFill/>
          <a:ln/>
        </p:spPr>
        <p:txBody>
          <a:bodyPr wrap="square" lIns="25400" tIns="25400" rIns="25400" bIns="25400" rtlCol="0" anchor="ctr"/>
          <a:lstStyle/>
          <a:p>
            <a:pPr algn="ctr" indent="0" marL="0">
              <a:buNone/>
            </a:pPr>
            <a:r>
              <a:rPr lang="en-US" sz="1100" dirty="0">
                <a:solidFill>
                  <a:srgbClr val="1A202C"/>
                </a:solidFill>
                <a:latin typeface="Calibri" pitchFamily="34" charset="0"/>
                <a:ea typeface="Calibri" pitchFamily="34" charset="-122"/>
                <a:cs typeface="Calibri" pitchFamily="34" charset="-120"/>
              </a:rPr>
              <a:t>DNN</a:t>
            </a:r>
            <a:endParaRPr lang="en-US" sz="1100" dirty="0"/>
          </a:p>
        </p:txBody>
      </p:sp>
      <p:sp>
        <p:nvSpPr>
          <p:cNvPr id="46" name="Shape 44"/>
          <p:cNvSpPr/>
          <p:nvPr/>
        </p:nvSpPr>
        <p:spPr>
          <a:xfrm>
            <a:off x="3017520" y="2286000"/>
            <a:ext cx="1508760" cy="402336"/>
          </a:xfrm>
          <a:prstGeom prst="rect">
            <a:avLst/>
          </a:prstGeom>
          <a:solidFill>
            <a:srgbClr val="F5F7FA"/>
          </a:solidFill>
          <a:ln w="12700">
            <a:solidFill>
              <a:srgbClr val="F5F7FA"/>
            </a:solidFill>
            <a:prstDash val="solid"/>
          </a:ln>
        </p:spPr>
        <p:txBody>
          <a:bodyPr/>
          <a:p/>
        </p:txBody>
      </p:sp>
      <p:sp>
        <p:nvSpPr>
          <p:cNvPr id="47" name="Text 45"/>
          <p:cNvSpPr txBox="1"/>
          <p:nvPr/>
        </p:nvSpPr>
        <p:spPr>
          <a:xfrm>
            <a:off x="3063240" y="2304288"/>
            <a:ext cx="1417320" cy="347472"/>
          </a:xfrm>
          <a:prstGeom prst="rect">
            <a:avLst/>
          </a:prstGeom>
          <a:noFill/>
          <a:ln/>
        </p:spPr>
        <p:txBody>
          <a:bodyPr wrap="square" lIns="25400" tIns="25400" rIns="25400" bIns="25400" rtlCol="0" anchor="ctr"/>
          <a:lstStyle/>
          <a:p>
            <a:pPr algn="ctr" indent="0" marL="0">
              <a:buNone/>
            </a:pPr>
            <a:r>
              <a:rPr lang="en-US" sz="1100" dirty="0">
                <a:solidFill>
                  <a:srgbClr val="1A202C"/>
                </a:solidFill>
                <a:latin typeface="Calibri" pitchFamily="34" charset="0"/>
                <a:ea typeface="Calibri" pitchFamily="34" charset="-122"/>
                <a:cs typeface="Calibri" pitchFamily="34" charset="-120"/>
              </a:rPr>
              <a:t>0.1624</a:t>
            </a:r>
            <a:endParaRPr lang="en-US" sz="1100" dirty="0"/>
          </a:p>
        </p:txBody>
      </p:sp>
      <p:sp>
        <p:nvSpPr>
          <p:cNvPr id="48" name="Shape 46"/>
          <p:cNvSpPr/>
          <p:nvPr/>
        </p:nvSpPr>
        <p:spPr>
          <a:xfrm>
            <a:off x="4526280" y="2286000"/>
            <a:ext cx="1600200" cy="402336"/>
          </a:xfrm>
          <a:prstGeom prst="rect">
            <a:avLst/>
          </a:prstGeom>
          <a:solidFill>
            <a:srgbClr val="F5F7FA"/>
          </a:solidFill>
          <a:ln w="12700">
            <a:solidFill>
              <a:srgbClr val="F5F7FA"/>
            </a:solidFill>
            <a:prstDash val="solid"/>
          </a:ln>
        </p:spPr>
        <p:txBody>
          <a:bodyPr/>
          <a:p/>
        </p:txBody>
      </p:sp>
      <p:sp>
        <p:nvSpPr>
          <p:cNvPr id="49" name="Text 47"/>
          <p:cNvSpPr txBox="1"/>
          <p:nvPr/>
        </p:nvSpPr>
        <p:spPr>
          <a:xfrm>
            <a:off x="4572000" y="2304288"/>
            <a:ext cx="1508760" cy="347472"/>
          </a:xfrm>
          <a:prstGeom prst="rect">
            <a:avLst/>
          </a:prstGeom>
          <a:noFill/>
          <a:ln/>
        </p:spPr>
        <p:txBody>
          <a:bodyPr wrap="square" lIns="25400" tIns="25400" rIns="25400" bIns="25400" rtlCol="0" anchor="ctr"/>
          <a:lstStyle/>
          <a:p>
            <a:pPr algn="ctr" indent="0" marL="0">
              <a:buNone/>
            </a:pPr>
            <a:r>
              <a:rPr lang="en-US" sz="1100" dirty="0">
                <a:solidFill>
                  <a:srgbClr val="1A202C"/>
                </a:solidFill>
                <a:latin typeface="Calibri" pitchFamily="34" charset="0"/>
                <a:ea typeface="Calibri" pitchFamily="34" charset="-122"/>
                <a:cs typeface="Calibri" pitchFamily="34" charset="-120"/>
              </a:rPr>
              <a:t>0.1634</a:t>
            </a:r>
            <a:endParaRPr lang="en-US" sz="1100" dirty="0"/>
          </a:p>
        </p:txBody>
      </p:sp>
      <p:sp>
        <p:nvSpPr>
          <p:cNvPr id="50" name="Shape 48"/>
          <p:cNvSpPr/>
          <p:nvPr/>
        </p:nvSpPr>
        <p:spPr>
          <a:xfrm>
            <a:off x="6126480" y="2286000"/>
            <a:ext cx="1371600" cy="402336"/>
          </a:xfrm>
          <a:prstGeom prst="rect">
            <a:avLst/>
          </a:prstGeom>
          <a:solidFill>
            <a:srgbClr val="F5F7FA"/>
          </a:solidFill>
          <a:ln w="12700">
            <a:solidFill>
              <a:srgbClr val="F5F7FA"/>
            </a:solidFill>
            <a:prstDash val="solid"/>
          </a:ln>
        </p:spPr>
        <p:txBody>
          <a:bodyPr/>
          <a:p/>
        </p:txBody>
      </p:sp>
      <p:sp>
        <p:nvSpPr>
          <p:cNvPr id="51" name="Text 49"/>
          <p:cNvSpPr txBox="1"/>
          <p:nvPr/>
        </p:nvSpPr>
        <p:spPr>
          <a:xfrm>
            <a:off x="6172200" y="2304288"/>
            <a:ext cx="1280160" cy="347472"/>
          </a:xfrm>
          <a:prstGeom prst="rect">
            <a:avLst/>
          </a:prstGeom>
          <a:noFill/>
          <a:ln/>
        </p:spPr>
        <p:txBody>
          <a:bodyPr wrap="square" lIns="25400" tIns="25400" rIns="25400" bIns="25400" rtlCol="0" anchor="ctr"/>
          <a:lstStyle/>
          <a:p>
            <a:pPr algn="ctr" indent="0" marL="0">
              <a:buNone/>
            </a:pPr>
            <a:r>
              <a:rPr lang="en-US" sz="1100" dirty="0">
                <a:solidFill>
                  <a:srgbClr val="1A202C"/>
                </a:solidFill>
                <a:latin typeface="Calibri" pitchFamily="34" charset="0"/>
                <a:ea typeface="Calibri" pitchFamily="34" charset="-122"/>
                <a:cs typeface="Calibri" pitchFamily="34" charset="-120"/>
              </a:rPr>
              <a:t>0.1648</a:t>
            </a:r>
            <a:endParaRPr lang="en-US" sz="1100" dirty="0"/>
          </a:p>
        </p:txBody>
      </p:sp>
      <p:sp>
        <p:nvSpPr>
          <p:cNvPr id="52" name="Shape 50"/>
          <p:cNvSpPr/>
          <p:nvPr/>
        </p:nvSpPr>
        <p:spPr>
          <a:xfrm>
            <a:off x="7498080" y="2286000"/>
            <a:ext cx="1920240" cy="402336"/>
          </a:xfrm>
          <a:prstGeom prst="rect">
            <a:avLst/>
          </a:prstGeom>
          <a:solidFill>
            <a:srgbClr val="F5F7FA"/>
          </a:solidFill>
          <a:ln w="12700">
            <a:solidFill>
              <a:srgbClr val="F5F7FA"/>
            </a:solidFill>
            <a:prstDash val="solid"/>
          </a:ln>
        </p:spPr>
        <p:txBody>
          <a:bodyPr/>
          <a:p/>
        </p:txBody>
      </p:sp>
      <p:sp>
        <p:nvSpPr>
          <p:cNvPr id="53" name="Text 51"/>
          <p:cNvSpPr txBox="1"/>
          <p:nvPr/>
        </p:nvSpPr>
        <p:spPr>
          <a:xfrm>
            <a:off x="7543800" y="2304288"/>
            <a:ext cx="1828800" cy="347472"/>
          </a:xfrm>
          <a:prstGeom prst="rect">
            <a:avLst/>
          </a:prstGeom>
          <a:noFill/>
          <a:ln/>
        </p:spPr>
        <p:txBody>
          <a:bodyPr wrap="square" lIns="25400" tIns="25400" rIns="25400" bIns="25400" rtlCol="0" anchor="ctr"/>
          <a:lstStyle/>
          <a:p>
            <a:pPr algn="ctr" indent="0" marL="0">
              <a:buNone/>
            </a:pPr>
            <a:r>
              <a:rPr lang="en-US" sz="1100" dirty="0">
                <a:solidFill>
                  <a:srgbClr val="1A202C"/>
                </a:solidFill>
                <a:latin typeface="Calibri" pitchFamily="34" charset="0"/>
                <a:ea typeface="Calibri" pitchFamily="34" charset="-122"/>
                <a:cs typeface="Calibri" pitchFamily="34" charset="-120"/>
              </a:rPr>
              <a:t>—</a:t>
            </a:r>
            <a:endParaRPr lang="en-US" sz="1100" dirty="0"/>
          </a:p>
        </p:txBody>
      </p:sp>
      <p:sp>
        <p:nvSpPr>
          <p:cNvPr id="54" name="Shape 52"/>
          <p:cNvSpPr/>
          <p:nvPr/>
        </p:nvSpPr>
        <p:spPr>
          <a:xfrm>
            <a:off x="274320" y="2688336"/>
            <a:ext cx="1280160" cy="402336"/>
          </a:xfrm>
          <a:prstGeom prst="rect">
            <a:avLst/>
          </a:prstGeom>
          <a:solidFill>
            <a:srgbClr val="F5F7FA"/>
          </a:solidFill>
          <a:ln w="12700">
            <a:solidFill>
              <a:srgbClr val="F5F7FA"/>
            </a:solidFill>
            <a:prstDash val="solid"/>
          </a:ln>
        </p:spPr>
        <p:txBody>
          <a:bodyPr/>
          <a:p/>
        </p:txBody>
      </p:sp>
      <p:sp>
        <p:nvSpPr>
          <p:cNvPr id="55" name="Text 53"/>
          <p:cNvSpPr txBox="1"/>
          <p:nvPr/>
        </p:nvSpPr>
        <p:spPr>
          <a:xfrm>
            <a:off x="320040" y="2706624"/>
            <a:ext cx="1188720" cy="347472"/>
          </a:xfrm>
          <a:prstGeom prst="rect">
            <a:avLst/>
          </a:prstGeom>
          <a:noFill/>
          <a:ln/>
        </p:spPr>
        <p:txBody>
          <a:bodyPr wrap="square" lIns="25400" tIns="25400" rIns="25400" bIns="25400" rtlCol="0" anchor="ctr"/>
          <a:lstStyle/>
          <a:p>
            <a:pPr algn="ctr" indent="0" marL="0">
              <a:buNone/>
            </a:pPr>
            <a:r>
              <a:rPr lang="en-US" sz="1100" b="1" dirty="0">
                <a:solidFill>
                  <a:srgbClr val="1A202C"/>
                </a:solidFill>
                <a:latin typeface="Calibri" pitchFamily="34" charset="0"/>
                <a:ea typeface="Calibri" pitchFamily="34" charset="-122"/>
                <a:cs typeface="Calibri" pitchFamily="34" charset="-120"/>
              </a:rPr>
              <a:t>RMSE (kg/m²)</a:t>
            </a:r>
            <a:endParaRPr lang="en-US" sz="1100" dirty="0"/>
          </a:p>
        </p:txBody>
      </p:sp>
      <p:sp>
        <p:nvSpPr>
          <p:cNvPr id="56" name="Shape 54"/>
          <p:cNvSpPr/>
          <p:nvPr/>
        </p:nvSpPr>
        <p:spPr>
          <a:xfrm>
            <a:off x="1554480" y="2688336"/>
            <a:ext cx="1463040" cy="402336"/>
          </a:xfrm>
          <a:prstGeom prst="rect">
            <a:avLst/>
          </a:prstGeom>
          <a:solidFill>
            <a:srgbClr val="F5F7FA"/>
          </a:solidFill>
          <a:ln w="12700">
            <a:solidFill>
              <a:srgbClr val="F5F7FA"/>
            </a:solidFill>
            <a:prstDash val="solid"/>
          </a:ln>
        </p:spPr>
        <p:txBody>
          <a:bodyPr/>
          <a:p/>
        </p:txBody>
      </p:sp>
      <p:sp>
        <p:nvSpPr>
          <p:cNvPr id="57" name="Text 55"/>
          <p:cNvSpPr txBox="1"/>
          <p:nvPr/>
        </p:nvSpPr>
        <p:spPr>
          <a:xfrm>
            <a:off x="1600200" y="2706624"/>
            <a:ext cx="1371600" cy="347472"/>
          </a:xfrm>
          <a:prstGeom prst="rect">
            <a:avLst/>
          </a:prstGeom>
          <a:noFill/>
          <a:ln/>
        </p:spPr>
        <p:txBody>
          <a:bodyPr wrap="square" lIns="25400" tIns="25400" rIns="25400" bIns="25400" rtlCol="0" anchor="ctr"/>
          <a:lstStyle/>
          <a:p>
            <a:pPr algn="ctr" indent="0" marL="0">
              <a:buNone/>
            </a:pPr>
            <a:r>
              <a:rPr lang="en-US" sz="1100" dirty="0">
                <a:solidFill>
                  <a:srgbClr val="1A202C"/>
                </a:solidFill>
                <a:latin typeface="Calibri" pitchFamily="34" charset="0"/>
                <a:ea typeface="Calibri" pitchFamily="34" charset="-122"/>
                <a:cs typeface="Calibri" pitchFamily="34" charset="-120"/>
              </a:rPr>
              <a:t>DNN</a:t>
            </a:r>
            <a:endParaRPr lang="en-US" sz="1100" dirty="0"/>
          </a:p>
        </p:txBody>
      </p:sp>
      <p:sp>
        <p:nvSpPr>
          <p:cNvPr id="58" name="Shape 56"/>
          <p:cNvSpPr/>
          <p:nvPr/>
        </p:nvSpPr>
        <p:spPr>
          <a:xfrm>
            <a:off x="3017520" y="2688336"/>
            <a:ext cx="1508760" cy="402336"/>
          </a:xfrm>
          <a:prstGeom prst="rect">
            <a:avLst/>
          </a:prstGeom>
          <a:solidFill>
            <a:srgbClr val="F5F7FA"/>
          </a:solidFill>
          <a:ln w="12700">
            <a:solidFill>
              <a:srgbClr val="F5F7FA"/>
            </a:solidFill>
            <a:prstDash val="solid"/>
          </a:ln>
        </p:spPr>
        <p:txBody>
          <a:bodyPr/>
          <a:p/>
        </p:txBody>
      </p:sp>
      <p:sp>
        <p:nvSpPr>
          <p:cNvPr id="59" name="Text 57"/>
          <p:cNvSpPr txBox="1"/>
          <p:nvPr/>
        </p:nvSpPr>
        <p:spPr>
          <a:xfrm>
            <a:off x="3063240" y="2706624"/>
            <a:ext cx="1417320" cy="347472"/>
          </a:xfrm>
          <a:prstGeom prst="rect">
            <a:avLst/>
          </a:prstGeom>
          <a:noFill/>
          <a:ln/>
        </p:spPr>
        <p:txBody>
          <a:bodyPr wrap="square" lIns="25400" tIns="25400" rIns="25400" bIns="25400" rtlCol="0" anchor="ctr"/>
          <a:lstStyle/>
          <a:p>
            <a:pPr algn="ctr" indent="0" marL="0">
              <a:buNone/>
            </a:pPr>
            <a:r>
              <a:rPr lang="en-US" sz="1100" dirty="0">
                <a:solidFill>
                  <a:srgbClr val="1A202C"/>
                </a:solidFill>
                <a:latin typeface="Calibri" pitchFamily="34" charset="0"/>
                <a:ea typeface="Calibri" pitchFamily="34" charset="-122"/>
                <a:cs typeface="Calibri" pitchFamily="34" charset="-120"/>
              </a:rPr>
              <a:t>0.2032</a:t>
            </a:r>
            <a:endParaRPr lang="en-US" sz="1100" dirty="0"/>
          </a:p>
        </p:txBody>
      </p:sp>
      <p:sp>
        <p:nvSpPr>
          <p:cNvPr id="60" name="Shape 58"/>
          <p:cNvSpPr/>
          <p:nvPr/>
        </p:nvSpPr>
        <p:spPr>
          <a:xfrm>
            <a:off x="4526280" y="2688336"/>
            <a:ext cx="1600200" cy="402336"/>
          </a:xfrm>
          <a:prstGeom prst="rect">
            <a:avLst/>
          </a:prstGeom>
          <a:solidFill>
            <a:srgbClr val="F5F7FA"/>
          </a:solidFill>
          <a:ln w="12700">
            <a:solidFill>
              <a:srgbClr val="F5F7FA"/>
            </a:solidFill>
            <a:prstDash val="solid"/>
          </a:ln>
        </p:spPr>
        <p:txBody>
          <a:bodyPr/>
          <a:p/>
        </p:txBody>
      </p:sp>
      <p:sp>
        <p:nvSpPr>
          <p:cNvPr id="61" name="Text 59"/>
          <p:cNvSpPr txBox="1"/>
          <p:nvPr/>
        </p:nvSpPr>
        <p:spPr>
          <a:xfrm>
            <a:off x="4572000" y="2706624"/>
            <a:ext cx="1508760" cy="347472"/>
          </a:xfrm>
          <a:prstGeom prst="rect">
            <a:avLst/>
          </a:prstGeom>
          <a:noFill/>
          <a:ln/>
        </p:spPr>
        <p:txBody>
          <a:bodyPr wrap="square" lIns="25400" tIns="25400" rIns="25400" bIns="25400" rtlCol="0" anchor="ctr"/>
          <a:lstStyle/>
          <a:p>
            <a:pPr algn="ctr" indent="0" marL="0">
              <a:buNone/>
            </a:pPr>
            <a:r>
              <a:rPr lang="en-US" sz="1100" dirty="0">
                <a:solidFill>
                  <a:srgbClr val="1A202C"/>
                </a:solidFill>
                <a:latin typeface="Calibri" pitchFamily="34" charset="0"/>
                <a:ea typeface="Calibri" pitchFamily="34" charset="-122"/>
                <a:cs typeface="Calibri" pitchFamily="34" charset="-120"/>
              </a:rPr>
              <a:t>0.2056</a:t>
            </a:r>
            <a:endParaRPr lang="en-US" sz="1100" dirty="0"/>
          </a:p>
        </p:txBody>
      </p:sp>
      <p:sp>
        <p:nvSpPr>
          <p:cNvPr id="62" name="Shape 60"/>
          <p:cNvSpPr/>
          <p:nvPr/>
        </p:nvSpPr>
        <p:spPr>
          <a:xfrm>
            <a:off x="6126480" y="2688336"/>
            <a:ext cx="1371600" cy="402336"/>
          </a:xfrm>
          <a:prstGeom prst="rect">
            <a:avLst/>
          </a:prstGeom>
          <a:solidFill>
            <a:srgbClr val="F5F7FA"/>
          </a:solidFill>
          <a:ln w="12700">
            <a:solidFill>
              <a:srgbClr val="F5F7FA"/>
            </a:solidFill>
            <a:prstDash val="solid"/>
          </a:ln>
        </p:spPr>
        <p:txBody>
          <a:bodyPr/>
          <a:p/>
        </p:txBody>
      </p:sp>
      <p:sp>
        <p:nvSpPr>
          <p:cNvPr id="63" name="Text 61"/>
          <p:cNvSpPr txBox="1"/>
          <p:nvPr/>
        </p:nvSpPr>
        <p:spPr>
          <a:xfrm>
            <a:off x="6172200" y="2706624"/>
            <a:ext cx="1280160" cy="347472"/>
          </a:xfrm>
          <a:prstGeom prst="rect">
            <a:avLst/>
          </a:prstGeom>
          <a:noFill/>
          <a:ln/>
        </p:spPr>
        <p:txBody>
          <a:bodyPr wrap="square" lIns="25400" tIns="25400" rIns="25400" bIns="25400" rtlCol="0" anchor="ctr"/>
          <a:lstStyle/>
          <a:p>
            <a:pPr algn="ctr" indent="0" marL="0">
              <a:buNone/>
            </a:pPr>
            <a:r>
              <a:rPr lang="en-US" sz="1100" dirty="0">
                <a:solidFill>
                  <a:srgbClr val="1A202C"/>
                </a:solidFill>
                <a:latin typeface="Calibri" pitchFamily="34" charset="0"/>
                <a:ea typeface="Calibri" pitchFamily="34" charset="-122"/>
                <a:cs typeface="Calibri" pitchFamily="34" charset="-120"/>
              </a:rPr>
              <a:t>0.2057</a:t>
            </a:r>
            <a:endParaRPr lang="en-US" sz="1100" dirty="0"/>
          </a:p>
        </p:txBody>
      </p:sp>
      <p:sp>
        <p:nvSpPr>
          <p:cNvPr id="64" name="Shape 62"/>
          <p:cNvSpPr/>
          <p:nvPr/>
        </p:nvSpPr>
        <p:spPr>
          <a:xfrm>
            <a:off x="7498080" y="2688336"/>
            <a:ext cx="1920240" cy="402336"/>
          </a:xfrm>
          <a:prstGeom prst="rect">
            <a:avLst/>
          </a:prstGeom>
          <a:solidFill>
            <a:srgbClr val="F5F7FA"/>
          </a:solidFill>
          <a:ln w="12700">
            <a:solidFill>
              <a:srgbClr val="F5F7FA"/>
            </a:solidFill>
            <a:prstDash val="solid"/>
          </a:ln>
        </p:spPr>
        <p:txBody>
          <a:bodyPr/>
          <a:p/>
        </p:txBody>
      </p:sp>
      <p:sp>
        <p:nvSpPr>
          <p:cNvPr id="65" name="Text 63"/>
          <p:cNvSpPr txBox="1"/>
          <p:nvPr/>
        </p:nvSpPr>
        <p:spPr>
          <a:xfrm>
            <a:off x="7543800" y="2706624"/>
            <a:ext cx="1828800" cy="347472"/>
          </a:xfrm>
          <a:prstGeom prst="rect">
            <a:avLst/>
          </a:prstGeom>
          <a:noFill/>
          <a:ln/>
        </p:spPr>
        <p:txBody>
          <a:bodyPr wrap="square" lIns="25400" tIns="25400" rIns="25400" bIns="25400" rtlCol="0" anchor="ctr"/>
          <a:lstStyle/>
          <a:p>
            <a:pPr algn="ctr" indent="0" marL="0">
              <a:buNone/>
            </a:pPr>
            <a:r>
              <a:rPr lang="en-US" sz="1100" dirty="0">
                <a:solidFill>
                  <a:srgbClr val="1A202C"/>
                </a:solidFill>
                <a:latin typeface="Calibri" pitchFamily="34" charset="0"/>
                <a:ea typeface="Calibri" pitchFamily="34" charset="-122"/>
                <a:cs typeface="Calibri" pitchFamily="34" charset="-120"/>
              </a:rPr>
              <a:t>—</a:t>
            </a:r>
            <a:endParaRPr lang="en-US" sz="1100" dirty="0"/>
          </a:p>
        </p:txBody>
      </p:sp>
      <p:sp>
        <p:nvSpPr>
          <p:cNvPr id="66" name="Text 64"/>
          <p:cNvSpPr txBox="1"/>
          <p:nvPr/>
        </p:nvSpPr>
        <p:spPr>
          <a:xfrm>
            <a:off x="274320" y="3364992"/>
            <a:ext cx="11612880" cy="320040"/>
          </a:xfrm>
          <a:prstGeom prst="rect">
            <a:avLst/>
          </a:prstGeom>
          <a:noFill/>
          <a:ln/>
        </p:spPr>
        <p:txBody>
          <a:bodyPr wrap="square" lIns="25400" tIns="25400" rIns="25400" bIns="25400" rtlCol="0" anchor="ctr"/>
          <a:lstStyle/>
          <a:p>
            <a:pPr algn="l" indent="0" marL="0">
              <a:buNone/>
            </a:pPr>
            <a:r>
              <a:rPr lang="en-US" sz="1150" b="1" dirty="0">
                <a:solidFill>
                  <a:srgbClr val="1E3A5F"/>
                </a:solidFill>
                <a:latin typeface="Calibri" pitchFamily="34" charset="0"/>
                <a:ea typeface="Calibri" pitchFamily="34" charset="-122"/>
                <a:cs typeface="Calibri" pitchFamily="34" charset="-120"/>
              </a:rPr>
              <a:t>Overfitting Gap = Training R² − Test R²  (Van Klompenburg 2020: gap &gt; 0.03 is concerning for CEA datasets)</a:t>
            </a:r>
            <a:endParaRPr lang="en-US" sz="1150" dirty="0"/>
          </a:p>
        </p:txBody>
      </p:sp>
      <p:sp>
        <p:nvSpPr>
          <p:cNvPr id="67" name="Shape 65"/>
          <p:cNvSpPr/>
          <p:nvPr/>
        </p:nvSpPr>
        <p:spPr>
          <a:xfrm>
            <a:off x="274320" y="3749040"/>
            <a:ext cx="5486400" cy="475488"/>
          </a:xfrm>
          <a:prstGeom prst="rect">
            <a:avLst/>
          </a:prstGeom>
          <a:solidFill>
            <a:srgbClr val="E6F4F5"/>
          </a:solidFill>
          <a:ln w="12700">
            <a:solidFill>
              <a:srgbClr val="E6F4F5"/>
            </a:solidFill>
            <a:prstDash val="solid"/>
          </a:ln>
        </p:spPr>
        <p:txBody>
          <a:bodyPr/>
          <a:p/>
        </p:txBody>
      </p:sp>
      <p:sp>
        <p:nvSpPr>
          <p:cNvPr id="68" name="Shape 66"/>
          <p:cNvSpPr/>
          <p:nvPr/>
        </p:nvSpPr>
        <p:spPr>
          <a:xfrm>
            <a:off x="274320" y="3749040"/>
            <a:ext cx="219456" cy="475488"/>
          </a:xfrm>
          <a:prstGeom prst="rect">
            <a:avLst/>
          </a:prstGeom>
          <a:solidFill>
            <a:srgbClr val="0A5C36"/>
          </a:solidFill>
          <a:ln w="12700">
            <a:solidFill>
              <a:srgbClr val="0A5C36"/>
            </a:solidFill>
            <a:prstDash val="solid"/>
          </a:ln>
        </p:spPr>
        <p:txBody>
          <a:bodyPr/>
          <a:p/>
        </p:txBody>
      </p:sp>
      <p:sp>
        <p:nvSpPr>
          <p:cNvPr id="69" name="Text 67"/>
          <p:cNvSpPr txBox="1"/>
          <p:nvPr/>
        </p:nvSpPr>
        <p:spPr>
          <a:xfrm>
            <a:off x="384048" y="3803904"/>
            <a:ext cx="5303520" cy="365760"/>
          </a:xfrm>
          <a:prstGeom prst="rect">
            <a:avLst/>
          </a:prstGeom>
          <a:noFill/>
          <a:ln/>
        </p:spPr>
        <p:txBody>
          <a:bodyPr wrap="square" lIns="25400" tIns="25400" rIns="25400" bIns="25400" rtlCol="0" anchor="ctr"/>
          <a:lstStyle/>
          <a:p>
            <a:pPr algn="l" indent="0" marL="0">
              <a:buNone/>
            </a:pPr>
            <a:r>
              <a:rPr lang="en-US" sz="1150" b="1" dirty="0">
                <a:solidFill>
                  <a:srgbClr val="0A5C36"/>
                </a:solidFill>
                <a:latin typeface="Calibri" pitchFamily="34" charset="0"/>
                <a:ea typeface="Calibri" pitchFamily="34" charset="-122"/>
                <a:cs typeface="Calibri" pitchFamily="34" charset="-120"/>
              </a:rPr>
              <a:t>DNN: gap = 0.0016  ✅  Dropout regularisation working — model GENERALISES</a:t>
            </a:r>
            <a:endParaRPr lang="en-US" sz="1150" dirty="0"/>
          </a:p>
        </p:txBody>
      </p:sp>
      <p:sp>
        <p:nvSpPr>
          <p:cNvPr id="70" name="Shape 68"/>
          <p:cNvSpPr/>
          <p:nvPr/>
        </p:nvSpPr>
        <p:spPr>
          <a:xfrm>
            <a:off x="274320" y="4297680"/>
            <a:ext cx="5486400" cy="475488"/>
          </a:xfrm>
          <a:prstGeom prst="rect">
            <a:avLst/>
          </a:prstGeom>
          <a:solidFill>
            <a:srgbClr val="FEE2E2"/>
          </a:solidFill>
          <a:ln w="12700">
            <a:solidFill>
              <a:srgbClr val="FEE2E2"/>
            </a:solidFill>
            <a:prstDash val="solid"/>
          </a:ln>
        </p:spPr>
        <p:txBody>
          <a:bodyPr/>
          <a:p/>
        </p:txBody>
      </p:sp>
      <p:sp>
        <p:nvSpPr>
          <p:cNvPr id="71" name="Shape 69"/>
          <p:cNvSpPr/>
          <p:nvPr/>
        </p:nvSpPr>
        <p:spPr>
          <a:xfrm>
            <a:off x="274320" y="4297680"/>
            <a:ext cx="4882896" cy="475488"/>
          </a:xfrm>
          <a:prstGeom prst="rect">
            <a:avLst/>
          </a:prstGeom>
          <a:solidFill>
            <a:srgbClr val="DC2626"/>
          </a:solidFill>
          <a:ln w="12700">
            <a:solidFill>
              <a:srgbClr val="DC2626"/>
            </a:solidFill>
            <a:prstDash val="solid"/>
          </a:ln>
        </p:spPr>
        <p:txBody>
          <a:bodyPr/>
          <a:p/>
        </p:txBody>
      </p:sp>
      <p:sp>
        <p:nvSpPr>
          <p:cNvPr id="72" name="Text 70"/>
          <p:cNvSpPr txBox="1"/>
          <p:nvPr/>
        </p:nvSpPr>
        <p:spPr>
          <a:xfrm>
            <a:off x="384048" y="4352544"/>
            <a:ext cx="5303520" cy="365760"/>
          </a:xfrm>
          <a:prstGeom prst="rect">
            <a:avLst/>
          </a:prstGeom>
          <a:noFill/>
          <a:ln/>
        </p:spPr>
        <p:txBody>
          <a:bodyPr wrap="square" lIns="25400" tIns="25400" rIns="25400" bIns="25400" rtlCol="0" anchor="ctr"/>
          <a:lstStyle/>
          <a:p>
            <a:pPr algn="l" indent="0" marL="0">
              <a:buNone/>
            </a:pPr>
            <a:r>
              <a:rPr lang="en-US" sz="1150" b="1" dirty="0">
                <a:solidFill>
                  <a:srgbClr val="DC2626"/>
                </a:solidFill>
                <a:latin typeface="Calibri" pitchFamily="34" charset="0"/>
                <a:ea typeface="Calibri" pitchFamily="34" charset="-122"/>
                <a:cs typeface="Calibri" pitchFamily="34" charset="-120"/>
              </a:rPr>
              <a:t>RF:  gap = 0.0356  ⚠️  22× larger — RF memorises training data</a:t>
            </a:r>
            <a:endParaRPr lang="en-US" sz="1150" dirty="0"/>
          </a:p>
        </p:txBody>
      </p:sp>
      <p:sp>
        <p:nvSpPr>
          <p:cNvPr id="73" name="Shape 71"/>
          <p:cNvSpPr/>
          <p:nvPr/>
        </p:nvSpPr>
        <p:spPr>
          <a:xfrm>
            <a:off x="6035040" y="3657600"/>
            <a:ext cx="5943600" cy="1234440"/>
          </a:xfrm>
          <a:prstGeom prst="rect">
            <a:avLst/>
          </a:prstGeom>
          <a:solidFill>
            <a:srgbClr val="EBF0F7"/>
          </a:solidFill>
          <a:ln w="12700">
            <a:solidFill>
              <a:srgbClr val="EBF0F7"/>
            </a:solidFill>
            <a:prstDash val="solid"/>
          </a:ln>
        </p:spPr>
        <p:txBody>
          <a:bodyPr/>
          <a:p/>
        </p:txBody>
      </p:sp>
      <p:sp>
        <p:nvSpPr>
          <p:cNvPr id="74" name="Text 72"/>
          <p:cNvSpPr txBox="1"/>
          <p:nvPr/>
        </p:nvSpPr>
        <p:spPr>
          <a:xfrm>
            <a:off x="6172200" y="3712464"/>
            <a:ext cx="5669280" cy="329184"/>
          </a:xfrm>
          <a:prstGeom prst="rect">
            <a:avLst/>
          </a:prstGeom>
          <a:noFill/>
          <a:ln/>
        </p:spPr>
        <p:txBody>
          <a:bodyPr wrap="square" lIns="25400" tIns="25400" rIns="25400" bIns="25400" rtlCol="0" anchor="ctr"/>
          <a:lstStyle/>
          <a:p>
            <a:pPr algn="l" indent="0" marL="0">
              <a:buNone/>
            </a:pPr>
            <a:r>
              <a:rPr lang="en-US" sz="1200" b="1" dirty="0">
                <a:solidFill>
                  <a:srgbClr val="1E3A5F"/>
                </a:solidFill>
                <a:latin typeface="Calibri" pitchFamily="34" charset="0"/>
                <a:ea typeface="Calibri" pitchFamily="34" charset="-122"/>
                <a:cs typeface="Calibri" pitchFamily="34" charset="-120"/>
              </a:rPr>
              <a:t>Key Findings:</a:t>
            </a:r>
            <a:endParaRPr lang="en-US" sz="1200" dirty="0"/>
          </a:p>
        </p:txBody>
      </p:sp>
      <p:sp>
        <p:nvSpPr>
          <p:cNvPr id="75" name="Shape 73"/>
          <p:cNvSpPr/>
          <p:nvPr/>
        </p:nvSpPr>
        <p:spPr>
          <a:xfrm>
            <a:off x="6172200" y="4142232"/>
            <a:ext cx="54864" cy="54864"/>
          </a:xfrm>
          <a:prstGeom prst="rect">
            <a:avLst/>
          </a:prstGeom>
          <a:solidFill>
            <a:srgbClr val="0D6B72"/>
          </a:solidFill>
          <a:ln w="12700">
            <a:solidFill>
              <a:srgbClr val="0D6B72"/>
            </a:solidFill>
            <a:prstDash val="solid"/>
          </a:ln>
        </p:spPr>
        <p:txBody>
          <a:bodyPr/>
          <a:p/>
        </p:txBody>
      </p:sp>
      <p:sp>
        <p:nvSpPr>
          <p:cNvPr id="76" name="Text 74"/>
          <p:cNvSpPr txBox="1"/>
          <p:nvPr/>
        </p:nvSpPr>
        <p:spPr>
          <a:xfrm>
            <a:off x="6355080" y="4069080"/>
            <a:ext cx="5577840" cy="274320"/>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DNN Test R²=0.9389 EXCEEDS Van Klompenburg (2020) upper bound of 0.92</a:t>
            </a:r>
            <a:endParaRPr lang="en-US" sz="1100" dirty="0"/>
          </a:p>
        </p:txBody>
      </p:sp>
      <p:sp>
        <p:nvSpPr>
          <p:cNvPr id="77" name="Shape 75"/>
          <p:cNvSpPr/>
          <p:nvPr/>
        </p:nvSpPr>
        <p:spPr>
          <a:xfrm>
            <a:off x="6172200" y="4416552"/>
            <a:ext cx="54864" cy="54864"/>
          </a:xfrm>
          <a:prstGeom prst="rect">
            <a:avLst/>
          </a:prstGeom>
          <a:solidFill>
            <a:srgbClr val="0D6B72"/>
          </a:solidFill>
          <a:ln w="12700">
            <a:solidFill>
              <a:srgbClr val="0D6B72"/>
            </a:solidFill>
            <a:prstDash val="solid"/>
          </a:ln>
        </p:spPr>
        <p:txBody>
          <a:bodyPr/>
          <a:p/>
        </p:txBody>
      </p:sp>
      <p:sp>
        <p:nvSpPr>
          <p:cNvPr id="78" name="Text 76"/>
          <p:cNvSpPr txBox="1"/>
          <p:nvPr/>
        </p:nvSpPr>
        <p:spPr>
          <a:xfrm>
            <a:off x="6355080" y="4343400"/>
            <a:ext cx="5577840" cy="274320"/>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DNN gap 0.0016 vs RF gap 0.0356 — 22× better generalisation</a:t>
            </a:r>
            <a:endParaRPr lang="en-US" sz="1100" dirty="0"/>
          </a:p>
        </p:txBody>
      </p:sp>
      <p:sp>
        <p:nvSpPr>
          <p:cNvPr id="79" name="Shape 77"/>
          <p:cNvSpPr/>
          <p:nvPr/>
        </p:nvSpPr>
        <p:spPr>
          <a:xfrm>
            <a:off x="6172200" y="4690872"/>
            <a:ext cx="54864" cy="54864"/>
          </a:xfrm>
          <a:prstGeom prst="rect">
            <a:avLst/>
          </a:prstGeom>
          <a:solidFill>
            <a:srgbClr val="0D6B72"/>
          </a:solidFill>
          <a:ln w="12700">
            <a:solidFill>
              <a:srgbClr val="0D6B72"/>
            </a:solidFill>
            <a:prstDash val="solid"/>
          </a:ln>
        </p:spPr>
        <p:txBody>
          <a:bodyPr/>
          <a:p/>
        </p:txBody>
      </p:sp>
      <p:sp>
        <p:nvSpPr>
          <p:cNvPr id="80" name="Text 78"/>
          <p:cNvSpPr txBox="1"/>
          <p:nvPr/>
        </p:nvSpPr>
        <p:spPr>
          <a:xfrm>
            <a:off x="6355080" y="4617720"/>
            <a:ext cx="5577840" cy="274320"/>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Practical: MAE=0.165 kg/m² → accurate to 165g/m² per square metre</a:t>
            </a:r>
            <a:endParaRPr lang="en-US" sz="1100" dirty="0"/>
          </a:p>
        </p:txBody>
      </p:sp>
      <p:sp>
        <p:nvSpPr>
          <p:cNvPr id="81" name="Shape 79"/>
          <p:cNvSpPr/>
          <p:nvPr/>
        </p:nvSpPr>
        <p:spPr>
          <a:xfrm>
            <a:off x="6172200" y="4965192"/>
            <a:ext cx="54864" cy="54864"/>
          </a:xfrm>
          <a:prstGeom prst="rect">
            <a:avLst/>
          </a:prstGeom>
          <a:solidFill>
            <a:srgbClr val="0D6B72"/>
          </a:solidFill>
          <a:ln w="12700">
            <a:solidFill>
              <a:srgbClr val="0D6B72"/>
            </a:solidFill>
            <a:prstDash val="solid"/>
          </a:ln>
        </p:spPr>
        <p:txBody>
          <a:bodyPr/>
          <a:p/>
        </p:txBody>
      </p:sp>
      <p:sp>
        <p:nvSpPr>
          <p:cNvPr id="82" name="Text 80"/>
          <p:cNvSpPr txBox="1"/>
          <p:nvPr/>
        </p:nvSpPr>
        <p:spPr>
          <a:xfrm>
            <a:off x="6355080" y="4892040"/>
            <a:ext cx="5577840" cy="274320"/>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Feature importance externally validates agronomy literature</a:t>
            </a:r>
            <a:endParaRPr lang="en-US" sz="1100" dirty="0"/>
          </a:p>
        </p:txBody>
      </p:sp>
      <p:sp>
        <p:nvSpPr>
          <p:cNvPr id="83" name="Shape 81"/>
          <p:cNvSpPr/>
          <p:nvPr/>
        </p:nvSpPr>
        <p:spPr>
          <a:xfrm>
            <a:off x="0" y="6510528"/>
            <a:ext cx="12161520" cy="347472"/>
          </a:xfrm>
          <a:prstGeom prst="rect">
            <a:avLst/>
          </a:prstGeom>
          <a:solidFill>
            <a:srgbClr val="E8EDF3"/>
          </a:solidFill>
          <a:ln w="12700">
            <a:solidFill>
              <a:srgbClr val="E8EDF3"/>
            </a:solidFill>
            <a:prstDash val="solid"/>
          </a:ln>
        </p:spPr>
        <p:txBody>
          <a:body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E3A5F"/>
          </a:solidFill>
          <a:ln w="12700">
            <a:solidFill>
              <a:srgbClr val="1E3A5F"/>
            </a:solidFill>
            <a:prstDash val="solid"/>
          </a:ln>
        </p:spPr>
        <p:txBody>
          <a:bodyPr/>
          <a:p/>
        </p:txBody>
      </p:sp>
      <p:sp>
        <p:nvSpPr>
          <p:cNvPr id="3" name="Text 1"/>
          <p:cNvSpPr txBox="1"/>
          <p:nvPr/>
        </p:nvSpPr>
        <p:spPr>
          <a:xfrm>
            <a:off x="365760" y="45720"/>
            <a:ext cx="10058400" cy="566928"/>
          </a:xfrm>
          <a:prstGeom prst="rect">
            <a:avLst/>
          </a:prstGeom>
          <a:noFill/>
          <a:ln/>
        </p:spPr>
        <p:txBody>
          <a:bodyPr wrap="square" lIns="25400" tIns="25400" rIns="25400" bIns="2540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Dimension 1: Feature Importance — External Validity Confirmed</a:t>
            </a:r>
            <a:endParaRPr lang="en-US" sz="2200" dirty="0"/>
          </a:p>
        </p:txBody>
      </p:sp>
      <p:sp>
        <p:nvSpPr>
          <p:cNvPr id="4" name="Text 2"/>
          <p:cNvSpPr txBox="1"/>
          <p:nvPr/>
        </p:nvSpPr>
        <p:spPr>
          <a:xfrm>
            <a:off x="365760" y="585216"/>
            <a:ext cx="10972800" cy="329184"/>
          </a:xfrm>
          <a:prstGeom prst="rect">
            <a:avLst/>
          </a:prstGeom>
          <a:noFill/>
          <a:ln/>
        </p:spPr>
        <p:txBody>
          <a:bodyPr wrap="square" lIns="25400" tIns="25400" rIns="25400" bIns="25400" rtlCol="0" anchor="ctr"/>
          <a:lstStyle/>
          <a:p>
            <a:pPr algn="l" indent="0" marL="0">
              <a:buNone/>
            </a:pPr>
            <a:r>
              <a:rPr lang="en-US" sz="1100" dirty="0">
                <a:solidFill>
                  <a:srgbClr val="B8CDE0"/>
                </a:solidFill>
                <a:latin typeface="Calibri" pitchFamily="34" charset="0"/>
                <a:ea typeface="Calibri" pitchFamily="34" charset="-122"/>
                <a:cs typeface="Calibri" pitchFamily="34" charset="-120"/>
              </a:rPr>
              <a:t>Gradient sensitivity analysis: 20 perturbation passes measuring impact of each feature</a:t>
            </a:r>
            <a:endParaRPr lang="en-US" sz="1100" dirty="0"/>
          </a:p>
        </p:txBody>
      </p:sp>
      <p:sp>
        <p:nvSpPr>
          <p:cNvPr id="5" name="Shape 3"/>
          <p:cNvSpPr/>
          <p:nvPr/>
        </p:nvSpPr>
        <p:spPr>
          <a:xfrm>
            <a:off x="0" y="960120"/>
            <a:ext cx="12161520" cy="45720"/>
          </a:xfrm>
          <a:prstGeom prst="rect">
            <a:avLst/>
          </a:prstGeom>
          <a:solidFill>
            <a:srgbClr val="0D6B72"/>
          </a:solidFill>
          <a:ln w="12700">
            <a:solidFill>
              <a:srgbClr val="0D6B72"/>
            </a:solidFill>
            <a:prstDash val="solid"/>
          </a:ln>
        </p:spPr>
        <p:txBody>
          <a:bodyPr/>
          <a:p/>
        </p:txBody>
      </p:sp>
      <p:sp>
        <p:nvSpPr>
          <p:cNvPr id="6" name="Text 4"/>
          <p:cNvSpPr txBox="1"/>
          <p:nvPr/>
        </p:nvSpPr>
        <p:spPr>
          <a:xfrm>
            <a:off x="274320" y="1078992"/>
            <a:ext cx="2560320" cy="347472"/>
          </a:xfrm>
          <a:prstGeom prst="rect">
            <a:avLst/>
          </a:prstGeom>
          <a:noFill/>
          <a:ln/>
        </p:spPr>
        <p:txBody>
          <a:bodyPr wrap="square" lIns="25400" tIns="25400" rIns="25400" bIns="25400" rtlCol="0" anchor="ctr"/>
          <a:lstStyle/>
          <a:p>
            <a:pPr algn="l" indent="0" marL="0">
              <a:buNone/>
            </a:pPr>
            <a:r>
              <a:rPr lang="en-US" sz="1200" b="1" dirty="0">
                <a:solidFill>
                  <a:srgbClr val="1E3A5F"/>
                </a:solidFill>
                <a:latin typeface="Calibri" pitchFamily="34" charset="0"/>
                <a:ea typeface="Calibri" pitchFamily="34" charset="-122"/>
                <a:cs typeface="Calibri" pitchFamily="34" charset="-120"/>
              </a:rPr>
              <a:t>Feature</a:t>
            </a:r>
            <a:endParaRPr lang="en-US" sz="1200" dirty="0"/>
          </a:p>
        </p:txBody>
      </p:sp>
      <p:sp>
        <p:nvSpPr>
          <p:cNvPr id="7" name="Text 5"/>
          <p:cNvSpPr txBox="1"/>
          <p:nvPr/>
        </p:nvSpPr>
        <p:spPr>
          <a:xfrm>
            <a:off x="2880360" y="1078992"/>
            <a:ext cx="1463040" cy="347472"/>
          </a:xfrm>
          <a:prstGeom prst="rect">
            <a:avLst/>
          </a:prstGeom>
          <a:noFill/>
          <a:ln/>
        </p:spPr>
        <p:txBody>
          <a:bodyPr wrap="square" lIns="25400" tIns="25400" rIns="25400" bIns="25400" rtlCol="0" anchor="ctr"/>
          <a:lstStyle/>
          <a:p>
            <a:pPr algn="ctr" indent="0" marL="0">
              <a:buNone/>
            </a:pPr>
            <a:r>
              <a:rPr lang="en-US" sz="1200" b="1" dirty="0">
                <a:solidFill>
                  <a:srgbClr val="1E3A5F"/>
                </a:solidFill>
                <a:latin typeface="Calibri" pitchFamily="34" charset="0"/>
                <a:ea typeface="Calibri" pitchFamily="34" charset="-122"/>
                <a:cs typeface="Calibri" pitchFamily="34" charset="-120"/>
              </a:rPr>
              <a:t>DNN %</a:t>
            </a:r>
            <a:endParaRPr lang="en-US" sz="1200" dirty="0"/>
          </a:p>
        </p:txBody>
      </p:sp>
      <p:sp>
        <p:nvSpPr>
          <p:cNvPr id="8" name="Text 6"/>
          <p:cNvSpPr txBox="1"/>
          <p:nvPr/>
        </p:nvSpPr>
        <p:spPr>
          <a:xfrm>
            <a:off x="4389120" y="1078992"/>
            <a:ext cx="1463040" cy="347472"/>
          </a:xfrm>
          <a:prstGeom prst="rect">
            <a:avLst/>
          </a:prstGeom>
          <a:noFill/>
          <a:ln/>
        </p:spPr>
        <p:txBody>
          <a:bodyPr wrap="square" lIns="25400" tIns="25400" rIns="25400" bIns="25400" rtlCol="0" anchor="ctr"/>
          <a:lstStyle/>
          <a:p>
            <a:pPr algn="ctr" indent="0" marL="0">
              <a:buNone/>
            </a:pPr>
            <a:r>
              <a:rPr lang="en-US" sz="1200" b="1" dirty="0">
                <a:solidFill>
                  <a:srgbClr val="1E3A5F"/>
                </a:solidFill>
                <a:latin typeface="Calibri" pitchFamily="34" charset="0"/>
                <a:ea typeface="Calibri" pitchFamily="34" charset="-122"/>
                <a:cs typeface="Calibri" pitchFamily="34" charset="-120"/>
              </a:rPr>
              <a:t>RF %</a:t>
            </a:r>
            <a:endParaRPr lang="en-US" sz="1200" dirty="0"/>
          </a:p>
        </p:txBody>
      </p:sp>
      <p:sp>
        <p:nvSpPr>
          <p:cNvPr id="9" name="Text 7"/>
          <p:cNvSpPr txBox="1"/>
          <p:nvPr/>
        </p:nvSpPr>
        <p:spPr>
          <a:xfrm>
            <a:off x="5897880" y="1078992"/>
            <a:ext cx="3291840" cy="347472"/>
          </a:xfrm>
          <a:prstGeom prst="rect">
            <a:avLst/>
          </a:prstGeom>
          <a:noFill/>
          <a:ln/>
        </p:spPr>
        <p:txBody>
          <a:bodyPr wrap="square" lIns="25400" tIns="25400" rIns="25400" bIns="25400" rtlCol="0" anchor="ctr"/>
          <a:lstStyle/>
          <a:p>
            <a:pPr algn="l" indent="0" marL="0">
              <a:buNone/>
            </a:pPr>
            <a:r>
              <a:rPr lang="en-US" sz="1200" b="1" dirty="0">
                <a:solidFill>
                  <a:srgbClr val="1E3A5F"/>
                </a:solidFill>
                <a:latin typeface="Calibri" pitchFamily="34" charset="0"/>
                <a:ea typeface="Calibri" pitchFamily="34" charset="-122"/>
                <a:cs typeface="Calibri" pitchFamily="34" charset="-120"/>
              </a:rPr>
              <a:t>DNN Bar (0–40%)</a:t>
            </a:r>
            <a:endParaRPr lang="en-US" sz="1200" dirty="0"/>
          </a:p>
        </p:txBody>
      </p:sp>
      <p:sp>
        <p:nvSpPr>
          <p:cNvPr id="10" name="Text 8"/>
          <p:cNvSpPr txBox="1"/>
          <p:nvPr/>
        </p:nvSpPr>
        <p:spPr>
          <a:xfrm>
            <a:off x="9235440" y="1078992"/>
            <a:ext cx="2743200" cy="347472"/>
          </a:xfrm>
          <a:prstGeom prst="rect">
            <a:avLst/>
          </a:prstGeom>
          <a:noFill/>
          <a:ln/>
        </p:spPr>
        <p:txBody>
          <a:bodyPr wrap="square" lIns="25400" tIns="25400" rIns="25400" bIns="25400" rtlCol="0" anchor="ctr"/>
          <a:lstStyle/>
          <a:p>
            <a:pPr algn="l" indent="0" marL="0">
              <a:buNone/>
            </a:pPr>
            <a:r>
              <a:rPr lang="en-US" sz="1200" b="1" dirty="0">
                <a:solidFill>
                  <a:srgbClr val="1E3A5F"/>
                </a:solidFill>
                <a:latin typeface="Calibri" pitchFamily="34" charset="0"/>
                <a:ea typeface="Calibri" pitchFamily="34" charset="-122"/>
                <a:cs typeface="Calibri" pitchFamily="34" charset="-120"/>
              </a:rPr>
              <a:t>Literature Support</a:t>
            </a:r>
            <a:endParaRPr lang="en-US" sz="1200" dirty="0"/>
          </a:p>
        </p:txBody>
      </p:sp>
      <p:sp>
        <p:nvSpPr>
          <p:cNvPr id="11" name="Shape 9"/>
          <p:cNvSpPr/>
          <p:nvPr/>
        </p:nvSpPr>
        <p:spPr>
          <a:xfrm>
            <a:off x="274320" y="1508760"/>
            <a:ext cx="11704320" cy="804672"/>
          </a:xfrm>
          <a:prstGeom prst="rect">
            <a:avLst/>
          </a:prstGeom>
          <a:solidFill>
            <a:srgbClr val="EBF0F7"/>
          </a:solidFill>
          <a:ln w="12700">
            <a:solidFill>
              <a:srgbClr val="EBF0F7"/>
            </a:solidFill>
            <a:prstDash val="solid"/>
          </a:ln>
        </p:spPr>
        <p:txBody>
          <a:bodyPr/>
          <a:p/>
        </p:txBody>
      </p:sp>
      <p:sp>
        <p:nvSpPr>
          <p:cNvPr id="12" name="Text 10"/>
          <p:cNvSpPr txBox="1"/>
          <p:nvPr/>
        </p:nvSpPr>
        <p:spPr>
          <a:xfrm>
            <a:off x="365760" y="1581912"/>
            <a:ext cx="2468880" cy="658368"/>
          </a:xfrm>
          <a:prstGeom prst="rect">
            <a:avLst/>
          </a:prstGeom>
          <a:noFill/>
          <a:ln/>
        </p:spPr>
        <p:txBody>
          <a:bodyPr wrap="square" lIns="25400" tIns="25400" rIns="25400" bIns="25400" rtlCol="0" anchor="ctr"/>
          <a:lstStyle/>
          <a:p>
            <a:pPr algn="l" indent="0" marL="0">
              <a:buNone/>
            </a:pPr>
            <a:r>
              <a:rPr lang="en-US" sz="1200" b="1" dirty="0">
                <a:solidFill>
                  <a:srgbClr val="1E3A5F"/>
                </a:solidFill>
                <a:latin typeface="Calibri" pitchFamily="34" charset="0"/>
                <a:ea typeface="Calibri" pitchFamily="34" charset="-122"/>
                <a:cs typeface="Calibri" pitchFamily="34" charset="-120"/>
              </a:rPr>
              <a:t>Nutrient TDS Concentration</a:t>
            </a:r>
            <a:endParaRPr lang="en-US" sz="1200" dirty="0"/>
          </a:p>
        </p:txBody>
      </p:sp>
      <p:sp>
        <p:nvSpPr>
          <p:cNvPr id="13" name="Shape 11"/>
          <p:cNvSpPr/>
          <p:nvPr/>
        </p:nvSpPr>
        <p:spPr>
          <a:xfrm>
            <a:off x="2880360" y="1673352"/>
            <a:ext cx="1463040" cy="475488"/>
          </a:xfrm>
          <a:prstGeom prst="rect">
            <a:avLst/>
          </a:prstGeom>
          <a:solidFill>
            <a:srgbClr val="E6F4F5"/>
          </a:solidFill>
          <a:ln w="12700">
            <a:solidFill>
              <a:srgbClr val="E6F4F5"/>
            </a:solidFill>
            <a:prstDash val="solid"/>
          </a:ln>
        </p:spPr>
        <p:txBody>
          <a:bodyPr/>
          <a:p/>
        </p:txBody>
      </p:sp>
      <p:sp>
        <p:nvSpPr>
          <p:cNvPr id="14" name="Text 12"/>
          <p:cNvSpPr txBox="1"/>
          <p:nvPr/>
        </p:nvSpPr>
        <p:spPr>
          <a:xfrm>
            <a:off x="2880360" y="1673352"/>
            <a:ext cx="1463040" cy="475488"/>
          </a:xfrm>
          <a:prstGeom prst="rect">
            <a:avLst/>
          </a:prstGeom>
          <a:noFill/>
          <a:ln/>
        </p:spPr>
        <p:txBody>
          <a:bodyPr wrap="square" lIns="25400" tIns="25400" rIns="25400" bIns="25400" rtlCol="0" anchor="ctr"/>
          <a:lstStyle/>
          <a:p>
            <a:pPr algn="ctr" indent="0" marL="0">
              <a:buNone/>
            </a:pPr>
            <a:r>
              <a:rPr lang="en-US" sz="1800" b="1" dirty="0">
                <a:solidFill>
                  <a:srgbClr val="1E3A5F"/>
                </a:solidFill>
                <a:latin typeface="Calibri" pitchFamily="34" charset="0"/>
                <a:ea typeface="Calibri" pitchFamily="34" charset="-122"/>
                <a:cs typeface="Calibri" pitchFamily="34" charset="-120"/>
              </a:rPr>
              <a:t>40%</a:t>
            </a:r>
            <a:endParaRPr lang="en-US" sz="1800" dirty="0"/>
          </a:p>
        </p:txBody>
      </p:sp>
      <p:sp>
        <p:nvSpPr>
          <p:cNvPr id="15" name="Shape 13"/>
          <p:cNvSpPr/>
          <p:nvPr/>
        </p:nvSpPr>
        <p:spPr>
          <a:xfrm>
            <a:off x="4389120" y="1673352"/>
            <a:ext cx="1463040" cy="475488"/>
          </a:xfrm>
          <a:prstGeom prst="rect">
            <a:avLst/>
          </a:prstGeom>
          <a:solidFill>
            <a:srgbClr val="E8EDF3"/>
          </a:solidFill>
          <a:ln w="12700">
            <a:solidFill>
              <a:srgbClr val="E8EDF3"/>
            </a:solidFill>
            <a:prstDash val="solid"/>
          </a:ln>
        </p:spPr>
        <p:txBody>
          <a:bodyPr/>
          <a:p/>
        </p:txBody>
      </p:sp>
      <p:sp>
        <p:nvSpPr>
          <p:cNvPr id="16" name="Text 14"/>
          <p:cNvSpPr txBox="1"/>
          <p:nvPr/>
        </p:nvSpPr>
        <p:spPr>
          <a:xfrm>
            <a:off x="4389120" y="1673352"/>
            <a:ext cx="1463040" cy="475488"/>
          </a:xfrm>
          <a:prstGeom prst="rect">
            <a:avLst/>
          </a:prstGeom>
          <a:noFill/>
          <a:ln/>
        </p:spPr>
        <p:txBody>
          <a:bodyPr wrap="square" lIns="25400" tIns="25400" rIns="25400" bIns="25400" rtlCol="0" anchor="ctr"/>
          <a:lstStyle/>
          <a:p>
            <a:pPr algn="ctr" indent="0" marL="0">
              <a:buNone/>
            </a:pPr>
            <a:r>
              <a:rPr lang="en-US" sz="1800" b="1" dirty="0">
                <a:solidFill>
                  <a:srgbClr val="718096"/>
                </a:solidFill>
                <a:latin typeface="Calibri" pitchFamily="34" charset="0"/>
                <a:ea typeface="Calibri" pitchFamily="34" charset="-122"/>
                <a:cs typeface="Calibri" pitchFamily="34" charset="-120"/>
              </a:rPr>
              <a:t>35%</a:t>
            </a:r>
            <a:endParaRPr lang="en-US" sz="1800" dirty="0"/>
          </a:p>
        </p:txBody>
      </p:sp>
      <p:sp>
        <p:nvSpPr>
          <p:cNvPr id="17" name="Shape 15"/>
          <p:cNvSpPr/>
          <p:nvPr/>
        </p:nvSpPr>
        <p:spPr>
          <a:xfrm>
            <a:off x="5897880" y="1764792"/>
            <a:ext cx="3200400" cy="292608"/>
          </a:xfrm>
          <a:prstGeom prst="rect">
            <a:avLst/>
          </a:prstGeom>
          <a:solidFill>
            <a:srgbClr val="E8EDF3"/>
          </a:solidFill>
          <a:ln w="12700">
            <a:solidFill>
              <a:srgbClr val="E8EDF3"/>
            </a:solidFill>
            <a:prstDash val="solid"/>
          </a:ln>
        </p:spPr>
        <p:txBody>
          <a:bodyPr/>
          <a:p/>
        </p:txBody>
      </p:sp>
      <p:sp>
        <p:nvSpPr>
          <p:cNvPr id="18" name="Shape 16"/>
          <p:cNvSpPr/>
          <p:nvPr/>
        </p:nvSpPr>
        <p:spPr>
          <a:xfrm>
            <a:off x="5897880" y="1764792"/>
            <a:ext cx="3200400" cy="292608"/>
          </a:xfrm>
          <a:prstGeom prst="rect">
            <a:avLst/>
          </a:prstGeom>
          <a:solidFill>
            <a:srgbClr val="1E3A5F"/>
          </a:solidFill>
          <a:ln w="12700">
            <a:solidFill>
              <a:srgbClr val="1E3A5F"/>
            </a:solidFill>
            <a:prstDash val="solid"/>
          </a:ln>
        </p:spPr>
        <p:txBody>
          <a:bodyPr/>
          <a:p/>
        </p:txBody>
      </p:sp>
      <p:sp>
        <p:nvSpPr>
          <p:cNvPr id="19" name="Text 17"/>
          <p:cNvSpPr txBox="1"/>
          <p:nvPr/>
        </p:nvSpPr>
        <p:spPr>
          <a:xfrm>
            <a:off x="9235440" y="1581912"/>
            <a:ext cx="2743200" cy="658368"/>
          </a:xfrm>
          <a:prstGeom prst="rect">
            <a:avLst/>
          </a:prstGeom>
          <a:noFill/>
          <a:ln/>
        </p:spPr>
        <p:txBody>
          <a:bodyPr wrap="square" lIns="25400" tIns="25400" rIns="25400" bIns="25400" rtlCol="0" anchor="ctr"/>
          <a:lstStyle/>
          <a:p>
            <a:pPr algn="l" indent="0" marL="0">
              <a:buNone/>
            </a:pPr>
            <a:r>
              <a:rPr lang="en-US" sz="1100" dirty="0">
                <a:solidFill>
                  <a:srgbClr val="0A5C36"/>
                </a:solidFill>
                <a:latin typeface="Calibri" pitchFamily="34" charset="0"/>
                <a:ea typeface="Calibri" pitchFamily="34" charset="-122"/>
                <a:cs typeface="Calibri" pitchFamily="34" charset="-120"/>
              </a:rPr>
              <a:t>✅ Avgoustaki &amp; Xydis (2020)</a:t>
            </a:r>
            <a:endParaRPr lang="en-US" sz="1100" dirty="0"/>
          </a:p>
        </p:txBody>
      </p:sp>
      <p:sp>
        <p:nvSpPr>
          <p:cNvPr id="20" name="Shape 18"/>
          <p:cNvSpPr/>
          <p:nvPr/>
        </p:nvSpPr>
        <p:spPr>
          <a:xfrm>
            <a:off x="274320" y="2377440"/>
            <a:ext cx="11704320" cy="804672"/>
          </a:xfrm>
          <a:prstGeom prst="rect">
            <a:avLst/>
          </a:prstGeom>
          <a:solidFill>
            <a:srgbClr val="F5F7FA"/>
          </a:solidFill>
          <a:ln w="12700">
            <a:solidFill>
              <a:srgbClr val="F5F7FA"/>
            </a:solidFill>
            <a:prstDash val="solid"/>
          </a:ln>
        </p:spPr>
        <p:txBody>
          <a:bodyPr/>
          <a:p/>
        </p:txBody>
      </p:sp>
      <p:sp>
        <p:nvSpPr>
          <p:cNvPr id="21" name="Text 19"/>
          <p:cNvSpPr txBox="1"/>
          <p:nvPr/>
        </p:nvSpPr>
        <p:spPr>
          <a:xfrm>
            <a:off x="365760" y="2450592"/>
            <a:ext cx="2468880" cy="658368"/>
          </a:xfrm>
          <a:prstGeom prst="rect">
            <a:avLst/>
          </a:prstGeom>
          <a:noFill/>
          <a:ln/>
        </p:spPr>
        <p:txBody>
          <a:bodyPr wrap="square" lIns="25400" tIns="25400" rIns="25400" bIns="25400" rtlCol="0" anchor="ctr"/>
          <a:lstStyle/>
          <a:p>
            <a:pPr algn="l" indent="0" marL="0">
              <a:buNone/>
            </a:pPr>
            <a:r>
              <a:rPr lang="en-US" sz="1200" b="1" dirty="0">
                <a:solidFill>
                  <a:srgbClr val="0D6B72"/>
                </a:solidFill>
                <a:latin typeface="Calibri" pitchFamily="34" charset="0"/>
                <a:ea typeface="Calibri" pitchFamily="34" charset="-122"/>
                <a:cs typeface="Calibri" pitchFamily="34" charset="-120"/>
              </a:rPr>
              <a:t>Temperature (°C)</a:t>
            </a:r>
            <a:endParaRPr lang="en-US" sz="1200" dirty="0"/>
          </a:p>
        </p:txBody>
      </p:sp>
      <p:sp>
        <p:nvSpPr>
          <p:cNvPr id="22" name="Shape 20"/>
          <p:cNvSpPr/>
          <p:nvPr/>
        </p:nvSpPr>
        <p:spPr>
          <a:xfrm>
            <a:off x="2880360" y="2542032"/>
            <a:ext cx="1463040" cy="475488"/>
          </a:xfrm>
          <a:prstGeom prst="rect">
            <a:avLst/>
          </a:prstGeom>
          <a:solidFill>
            <a:srgbClr val="E6F4F5"/>
          </a:solidFill>
          <a:ln w="12700">
            <a:solidFill>
              <a:srgbClr val="E6F4F5"/>
            </a:solidFill>
            <a:prstDash val="solid"/>
          </a:ln>
        </p:spPr>
        <p:txBody>
          <a:bodyPr/>
          <a:p/>
        </p:txBody>
      </p:sp>
      <p:sp>
        <p:nvSpPr>
          <p:cNvPr id="23" name="Text 21"/>
          <p:cNvSpPr txBox="1"/>
          <p:nvPr/>
        </p:nvSpPr>
        <p:spPr>
          <a:xfrm>
            <a:off x="2880360" y="2542032"/>
            <a:ext cx="1463040" cy="475488"/>
          </a:xfrm>
          <a:prstGeom prst="rect">
            <a:avLst/>
          </a:prstGeom>
          <a:noFill/>
          <a:ln/>
        </p:spPr>
        <p:txBody>
          <a:bodyPr wrap="square" lIns="25400" tIns="25400" rIns="25400" bIns="25400" rtlCol="0" anchor="ctr"/>
          <a:lstStyle/>
          <a:p>
            <a:pPr algn="ctr" indent="0" marL="0">
              <a:buNone/>
            </a:pPr>
            <a:r>
              <a:rPr lang="en-US" sz="1800" b="1" dirty="0">
                <a:solidFill>
                  <a:srgbClr val="0D6B72"/>
                </a:solidFill>
                <a:latin typeface="Calibri" pitchFamily="34" charset="0"/>
                <a:ea typeface="Calibri" pitchFamily="34" charset="-122"/>
                <a:cs typeface="Calibri" pitchFamily="34" charset="-120"/>
              </a:rPr>
              <a:t>28%</a:t>
            </a:r>
            <a:endParaRPr lang="en-US" sz="1800" dirty="0"/>
          </a:p>
        </p:txBody>
      </p:sp>
      <p:sp>
        <p:nvSpPr>
          <p:cNvPr id="24" name="Shape 22"/>
          <p:cNvSpPr/>
          <p:nvPr/>
        </p:nvSpPr>
        <p:spPr>
          <a:xfrm>
            <a:off x="4389120" y="2542032"/>
            <a:ext cx="1463040" cy="475488"/>
          </a:xfrm>
          <a:prstGeom prst="rect">
            <a:avLst/>
          </a:prstGeom>
          <a:solidFill>
            <a:srgbClr val="E8EDF3"/>
          </a:solidFill>
          <a:ln w="12700">
            <a:solidFill>
              <a:srgbClr val="E8EDF3"/>
            </a:solidFill>
            <a:prstDash val="solid"/>
          </a:ln>
        </p:spPr>
        <p:txBody>
          <a:bodyPr/>
          <a:p/>
        </p:txBody>
      </p:sp>
      <p:sp>
        <p:nvSpPr>
          <p:cNvPr id="25" name="Text 23"/>
          <p:cNvSpPr txBox="1"/>
          <p:nvPr/>
        </p:nvSpPr>
        <p:spPr>
          <a:xfrm>
            <a:off x="4389120" y="2542032"/>
            <a:ext cx="1463040" cy="475488"/>
          </a:xfrm>
          <a:prstGeom prst="rect">
            <a:avLst/>
          </a:prstGeom>
          <a:noFill/>
          <a:ln/>
        </p:spPr>
        <p:txBody>
          <a:bodyPr wrap="square" lIns="25400" tIns="25400" rIns="25400" bIns="25400" rtlCol="0" anchor="ctr"/>
          <a:lstStyle/>
          <a:p>
            <a:pPr algn="ctr" indent="0" marL="0">
              <a:buNone/>
            </a:pPr>
            <a:r>
              <a:rPr lang="en-US" sz="1800" b="1" dirty="0">
                <a:solidFill>
                  <a:srgbClr val="718096"/>
                </a:solidFill>
                <a:latin typeface="Calibri" pitchFamily="34" charset="0"/>
                <a:ea typeface="Calibri" pitchFamily="34" charset="-122"/>
                <a:cs typeface="Calibri" pitchFamily="34" charset="-120"/>
              </a:rPr>
              <a:t>24%</a:t>
            </a:r>
            <a:endParaRPr lang="en-US" sz="1800" dirty="0"/>
          </a:p>
        </p:txBody>
      </p:sp>
      <p:sp>
        <p:nvSpPr>
          <p:cNvPr id="26" name="Shape 24"/>
          <p:cNvSpPr/>
          <p:nvPr/>
        </p:nvSpPr>
        <p:spPr>
          <a:xfrm>
            <a:off x="5897880" y="2633472"/>
            <a:ext cx="3200400" cy="292608"/>
          </a:xfrm>
          <a:prstGeom prst="rect">
            <a:avLst/>
          </a:prstGeom>
          <a:solidFill>
            <a:srgbClr val="E8EDF3"/>
          </a:solidFill>
          <a:ln w="12700">
            <a:solidFill>
              <a:srgbClr val="E8EDF3"/>
            </a:solidFill>
            <a:prstDash val="solid"/>
          </a:ln>
        </p:spPr>
        <p:txBody>
          <a:bodyPr/>
          <a:p/>
        </p:txBody>
      </p:sp>
      <p:sp>
        <p:nvSpPr>
          <p:cNvPr id="27" name="Shape 25"/>
          <p:cNvSpPr/>
          <p:nvPr/>
        </p:nvSpPr>
        <p:spPr>
          <a:xfrm>
            <a:off x="5897880" y="2633472"/>
            <a:ext cx="2240280" cy="292608"/>
          </a:xfrm>
          <a:prstGeom prst="rect">
            <a:avLst/>
          </a:prstGeom>
          <a:solidFill>
            <a:srgbClr val="0D6B72"/>
          </a:solidFill>
          <a:ln w="12700">
            <a:solidFill>
              <a:srgbClr val="0D6B72"/>
            </a:solidFill>
            <a:prstDash val="solid"/>
          </a:ln>
        </p:spPr>
        <p:txBody>
          <a:bodyPr/>
          <a:p/>
        </p:txBody>
      </p:sp>
      <p:sp>
        <p:nvSpPr>
          <p:cNvPr id="28" name="Text 26"/>
          <p:cNvSpPr txBox="1"/>
          <p:nvPr/>
        </p:nvSpPr>
        <p:spPr>
          <a:xfrm>
            <a:off x="9235440" y="2450592"/>
            <a:ext cx="2743200" cy="658368"/>
          </a:xfrm>
          <a:prstGeom prst="rect">
            <a:avLst/>
          </a:prstGeom>
          <a:noFill/>
          <a:ln/>
        </p:spPr>
        <p:txBody>
          <a:bodyPr wrap="square" lIns="25400" tIns="25400" rIns="25400" bIns="25400" rtlCol="0" anchor="ctr"/>
          <a:lstStyle/>
          <a:p>
            <a:pPr algn="l" indent="0" marL="0">
              <a:buNone/>
            </a:pPr>
            <a:r>
              <a:rPr lang="en-US" sz="1100" dirty="0">
                <a:solidFill>
                  <a:srgbClr val="0A5C36"/>
                </a:solidFill>
                <a:latin typeface="Calibri" pitchFamily="34" charset="0"/>
                <a:ea typeface="Calibri" pitchFamily="34" charset="-122"/>
                <a:cs typeface="Calibri" pitchFamily="34" charset="-120"/>
              </a:rPr>
              <a:t>✅ Kozai et al. (2019)</a:t>
            </a:r>
            <a:endParaRPr lang="en-US" sz="1100" dirty="0"/>
          </a:p>
        </p:txBody>
      </p:sp>
      <p:sp>
        <p:nvSpPr>
          <p:cNvPr id="29" name="Shape 27"/>
          <p:cNvSpPr/>
          <p:nvPr/>
        </p:nvSpPr>
        <p:spPr>
          <a:xfrm>
            <a:off x="274320" y="3246120"/>
            <a:ext cx="11704320" cy="804672"/>
          </a:xfrm>
          <a:prstGeom prst="rect">
            <a:avLst/>
          </a:prstGeom>
          <a:solidFill>
            <a:srgbClr val="EBF0F7"/>
          </a:solidFill>
          <a:ln w="12700">
            <a:solidFill>
              <a:srgbClr val="EBF0F7"/>
            </a:solidFill>
            <a:prstDash val="solid"/>
          </a:ln>
        </p:spPr>
        <p:txBody>
          <a:bodyPr/>
          <a:p/>
        </p:txBody>
      </p:sp>
      <p:sp>
        <p:nvSpPr>
          <p:cNvPr id="30" name="Text 28"/>
          <p:cNvSpPr txBox="1"/>
          <p:nvPr/>
        </p:nvSpPr>
        <p:spPr>
          <a:xfrm>
            <a:off x="365760" y="3319272"/>
            <a:ext cx="2468880" cy="658368"/>
          </a:xfrm>
          <a:prstGeom prst="rect">
            <a:avLst/>
          </a:prstGeom>
          <a:noFill/>
          <a:ln/>
        </p:spPr>
        <p:txBody>
          <a:bodyPr wrap="square" lIns="25400" tIns="25400" rIns="25400" bIns="25400" rtlCol="0" anchor="ctr"/>
          <a:lstStyle/>
          <a:p>
            <a:pPr algn="l" indent="0" marL="0">
              <a:buNone/>
            </a:pPr>
            <a:r>
              <a:rPr lang="en-US" sz="1200" b="1" dirty="0">
                <a:solidFill>
                  <a:srgbClr val="0A5C36"/>
                </a:solidFill>
                <a:latin typeface="Calibri" pitchFamily="34" charset="0"/>
                <a:ea typeface="Calibri" pitchFamily="34" charset="-122"/>
                <a:cs typeface="Calibri" pitchFamily="34" charset="-120"/>
              </a:rPr>
              <a:t>Air Moisture / Humidity (%)</a:t>
            </a:r>
            <a:endParaRPr lang="en-US" sz="1200" dirty="0"/>
          </a:p>
        </p:txBody>
      </p:sp>
      <p:sp>
        <p:nvSpPr>
          <p:cNvPr id="31" name="Shape 29"/>
          <p:cNvSpPr/>
          <p:nvPr/>
        </p:nvSpPr>
        <p:spPr>
          <a:xfrm>
            <a:off x="2880360" y="3410712"/>
            <a:ext cx="1463040" cy="475488"/>
          </a:xfrm>
          <a:prstGeom prst="rect">
            <a:avLst/>
          </a:prstGeom>
          <a:solidFill>
            <a:srgbClr val="E6F4F5"/>
          </a:solidFill>
          <a:ln w="12700">
            <a:solidFill>
              <a:srgbClr val="E6F4F5"/>
            </a:solidFill>
            <a:prstDash val="solid"/>
          </a:ln>
        </p:spPr>
        <p:txBody>
          <a:bodyPr/>
          <a:p/>
        </p:txBody>
      </p:sp>
      <p:sp>
        <p:nvSpPr>
          <p:cNvPr id="32" name="Text 30"/>
          <p:cNvSpPr txBox="1"/>
          <p:nvPr/>
        </p:nvSpPr>
        <p:spPr>
          <a:xfrm>
            <a:off x="2880360" y="3410712"/>
            <a:ext cx="1463040" cy="475488"/>
          </a:xfrm>
          <a:prstGeom prst="rect">
            <a:avLst/>
          </a:prstGeom>
          <a:noFill/>
          <a:ln/>
        </p:spPr>
        <p:txBody>
          <a:bodyPr wrap="square" lIns="25400" tIns="25400" rIns="25400" bIns="25400" rtlCol="0" anchor="ctr"/>
          <a:lstStyle/>
          <a:p>
            <a:pPr algn="ctr" indent="0" marL="0">
              <a:buNone/>
            </a:pPr>
            <a:r>
              <a:rPr lang="en-US" sz="1800" b="1" dirty="0">
                <a:solidFill>
                  <a:srgbClr val="0A5C36"/>
                </a:solidFill>
                <a:latin typeface="Calibri" pitchFamily="34" charset="0"/>
                <a:ea typeface="Calibri" pitchFamily="34" charset="-122"/>
                <a:cs typeface="Calibri" pitchFamily="34" charset="-120"/>
              </a:rPr>
              <a:t>18%</a:t>
            </a:r>
            <a:endParaRPr lang="en-US" sz="1800" dirty="0"/>
          </a:p>
        </p:txBody>
      </p:sp>
      <p:sp>
        <p:nvSpPr>
          <p:cNvPr id="33" name="Shape 31"/>
          <p:cNvSpPr/>
          <p:nvPr/>
        </p:nvSpPr>
        <p:spPr>
          <a:xfrm>
            <a:off x="4389120" y="3410712"/>
            <a:ext cx="1463040" cy="475488"/>
          </a:xfrm>
          <a:prstGeom prst="rect">
            <a:avLst/>
          </a:prstGeom>
          <a:solidFill>
            <a:srgbClr val="E8EDF3"/>
          </a:solidFill>
          <a:ln w="12700">
            <a:solidFill>
              <a:srgbClr val="E8EDF3"/>
            </a:solidFill>
            <a:prstDash val="solid"/>
          </a:ln>
        </p:spPr>
        <p:txBody>
          <a:bodyPr/>
          <a:p/>
        </p:txBody>
      </p:sp>
      <p:sp>
        <p:nvSpPr>
          <p:cNvPr id="34" name="Text 32"/>
          <p:cNvSpPr txBox="1"/>
          <p:nvPr/>
        </p:nvSpPr>
        <p:spPr>
          <a:xfrm>
            <a:off x="4389120" y="3410712"/>
            <a:ext cx="1463040" cy="475488"/>
          </a:xfrm>
          <a:prstGeom prst="rect">
            <a:avLst/>
          </a:prstGeom>
          <a:noFill/>
          <a:ln/>
        </p:spPr>
        <p:txBody>
          <a:bodyPr wrap="square" lIns="25400" tIns="25400" rIns="25400" bIns="25400" rtlCol="0" anchor="ctr"/>
          <a:lstStyle/>
          <a:p>
            <a:pPr algn="ctr" indent="0" marL="0">
              <a:buNone/>
            </a:pPr>
            <a:r>
              <a:rPr lang="en-US" sz="1800" b="1" dirty="0">
                <a:solidFill>
                  <a:srgbClr val="718096"/>
                </a:solidFill>
                <a:latin typeface="Calibri" pitchFamily="34" charset="0"/>
                <a:ea typeface="Calibri" pitchFamily="34" charset="-122"/>
                <a:cs typeface="Calibri" pitchFamily="34" charset="-120"/>
              </a:rPr>
              <a:t>20%</a:t>
            </a:r>
            <a:endParaRPr lang="en-US" sz="1800" dirty="0"/>
          </a:p>
        </p:txBody>
      </p:sp>
      <p:sp>
        <p:nvSpPr>
          <p:cNvPr id="35" name="Shape 33"/>
          <p:cNvSpPr/>
          <p:nvPr/>
        </p:nvSpPr>
        <p:spPr>
          <a:xfrm>
            <a:off x="5897880" y="3502152"/>
            <a:ext cx="3200400" cy="292608"/>
          </a:xfrm>
          <a:prstGeom prst="rect">
            <a:avLst/>
          </a:prstGeom>
          <a:solidFill>
            <a:srgbClr val="E8EDF3"/>
          </a:solidFill>
          <a:ln w="12700">
            <a:solidFill>
              <a:srgbClr val="E8EDF3"/>
            </a:solidFill>
            <a:prstDash val="solid"/>
          </a:ln>
        </p:spPr>
        <p:txBody>
          <a:bodyPr/>
          <a:p/>
        </p:txBody>
      </p:sp>
      <p:sp>
        <p:nvSpPr>
          <p:cNvPr id="36" name="Shape 34"/>
          <p:cNvSpPr/>
          <p:nvPr/>
        </p:nvSpPr>
        <p:spPr>
          <a:xfrm>
            <a:off x="5897880" y="3502152"/>
            <a:ext cx="1440180" cy="292608"/>
          </a:xfrm>
          <a:prstGeom prst="rect">
            <a:avLst/>
          </a:prstGeom>
          <a:solidFill>
            <a:srgbClr val="0A5C36"/>
          </a:solidFill>
          <a:ln w="12700">
            <a:solidFill>
              <a:srgbClr val="0A5C36"/>
            </a:solidFill>
            <a:prstDash val="solid"/>
          </a:ln>
        </p:spPr>
        <p:txBody>
          <a:bodyPr/>
          <a:p/>
        </p:txBody>
      </p:sp>
      <p:sp>
        <p:nvSpPr>
          <p:cNvPr id="37" name="Text 35"/>
          <p:cNvSpPr txBox="1"/>
          <p:nvPr/>
        </p:nvSpPr>
        <p:spPr>
          <a:xfrm>
            <a:off x="9235440" y="3319272"/>
            <a:ext cx="2743200" cy="658368"/>
          </a:xfrm>
          <a:prstGeom prst="rect">
            <a:avLst/>
          </a:prstGeom>
          <a:noFill/>
          <a:ln/>
        </p:spPr>
        <p:txBody>
          <a:bodyPr wrap="square" lIns="25400" tIns="25400" rIns="25400" bIns="25400" rtlCol="0" anchor="ctr"/>
          <a:lstStyle/>
          <a:p>
            <a:pPr algn="l" indent="0" marL="0">
              <a:buNone/>
            </a:pPr>
            <a:r>
              <a:rPr lang="en-US" sz="1100" dirty="0">
                <a:solidFill>
                  <a:srgbClr val="0A5C36"/>
                </a:solidFill>
                <a:latin typeface="Calibri" pitchFamily="34" charset="0"/>
                <a:ea typeface="Calibri" pitchFamily="34" charset="-122"/>
                <a:cs typeface="Calibri" pitchFamily="34" charset="-120"/>
              </a:rPr>
              <a:t>✅ Khaki &amp; Wang (2019)</a:t>
            </a:r>
            <a:endParaRPr lang="en-US" sz="1100" dirty="0"/>
          </a:p>
        </p:txBody>
      </p:sp>
      <p:sp>
        <p:nvSpPr>
          <p:cNvPr id="38" name="Shape 36"/>
          <p:cNvSpPr/>
          <p:nvPr/>
        </p:nvSpPr>
        <p:spPr>
          <a:xfrm>
            <a:off x="274320" y="4114800"/>
            <a:ext cx="11704320" cy="804672"/>
          </a:xfrm>
          <a:prstGeom prst="rect">
            <a:avLst/>
          </a:prstGeom>
          <a:solidFill>
            <a:srgbClr val="F5F7FA"/>
          </a:solidFill>
          <a:ln w="12700">
            <a:solidFill>
              <a:srgbClr val="F5F7FA"/>
            </a:solidFill>
            <a:prstDash val="solid"/>
          </a:ln>
        </p:spPr>
        <p:txBody>
          <a:bodyPr/>
          <a:p/>
        </p:txBody>
      </p:sp>
      <p:sp>
        <p:nvSpPr>
          <p:cNvPr id="39" name="Text 37"/>
          <p:cNvSpPr txBox="1"/>
          <p:nvPr/>
        </p:nvSpPr>
        <p:spPr>
          <a:xfrm>
            <a:off x="365760" y="4187952"/>
            <a:ext cx="2468880" cy="658368"/>
          </a:xfrm>
          <a:prstGeom prst="rect">
            <a:avLst/>
          </a:prstGeom>
          <a:noFill/>
          <a:ln/>
        </p:spPr>
        <p:txBody>
          <a:bodyPr wrap="square" lIns="25400" tIns="25400" rIns="25400" bIns="25400" rtlCol="0" anchor="ctr"/>
          <a:lstStyle/>
          <a:p>
            <a:pPr algn="l" indent="0" marL="0">
              <a:buNone/>
            </a:pPr>
            <a:r>
              <a:rPr lang="en-US" sz="1200" b="1" dirty="0">
                <a:solidFill>
                  <a:srgbClr val="2C5F8A"/>
                </a:solidFill>
                <a:latin typeface="Calibri" pitchFamily="34" charset="0"/>
                <a:ea typeface="Calibri" pitchFamily="34" charset="-122"/>
                <a:cs typeface="Calibri" pitchFamily="34" charset="-120"/>
              </a:rPr>
              <a:t>Crop Type (ENUM)</a:t>
            </a:r>
            <a:endParaRPr lang="en-US" sz="1200" dirty="0"/>
          </a:p>
        </p:txBody>
      </p:sp>
      <p:sp>
        <p:nvSpPr>
          <p:cNvPr id="40" name="Shape 38"/>
          <p:cNvSpPr/>
          <p:nvPr/>
        </p:nvSpPr>
        <p:spPr>
          <a:xfrm>
            <a:off x="2880360" y="4279392"/>
            <a:ext cx="1463040" cy="475488"/>
          </a:xfrm>
          <a:prstGeom prst="rect">
            <a:avLst/>
          </a:prstGeom>
          <a:solidFill>
            <a:srgbClr val="E6F4F5"/>
          </a:solidFill>
          <a:ln w="12700">
            <a:solidFill>
              <a:srgbClr val="E6F4F5"/>
            </a:solidFill>
            <a:prstDash val="solid"/>
          </a:ln>
        </p:spPr>
        <p:txBody>
          <a:bodyPr/>
          <a:p/>
        </p:txBody>
      </p:sp>
      <p:sp>
        <p:nvSpPr>
          <p:cNvPr id="41" name="Text 39"/>
          <p:cNvSpPr txBox="1"/>
          <p:nvPr/>
        </p:nvSpPr>
        <p:spPr>
          <a:xfrm>
            <a:off x="2880360" y="4279392"/>
            <a:ext cx="1463040" cy="475488"/>
          </a:xfrm>
          <a:prstGeom prst="rect">
            <a:avLst/>
          </a:prstGeom>
          <a:noFill/>
          <a:ln/>
        </p:spPr>
        <p:txBody>
          <a:bodyPr wrap="square" lIns="25400" tIns="25400" rIns="25400" bIns="25400" rtlCol="0" anchor="ctr"/>
          <a:lstStyle/>
          <a:p>
            <a:pPr algn="ctr" indent="0" marL="0">
              <a:buNone/>
            </a:pPr>
            <a:r>
              <a:rPr lang="en-US" sz="1800" b="1" dirty="0">
                <a:solidFill>
                  <a:srgbClr val="2C5F8A"/>
                </a:solidFill>
                <a:latin typeface="Calibri" pitchFamily="34" charset="0"/>
                <a:ea typeface="Calibri" pitchFamily="34" charset="-122"/>
                <a:cs typeface="Calibri" pitchFamily="34" charset="-120"/>
              </a:rPr>
              <a:t>8%</a:t>
            </a:r>
            <a:endParaRPr lang="en-US" sz="1800" dirty="0"/>
          </a:p>
        </p:txBody>
      </p:sp>
      <p:sp>
        <p:nvSpPr>
          <p:cNvPr id="42" name="Shape 40"/>
          <p:cNvSpPr/>
          <p:nvPr/>
        </p:nvSpPr>
        <p:spPr>
          <a:xfrm>
            <a:off x="4389120" y="4279392"/>
            <a:ext cx="1463040" cy="475488"/>
          </a:xfrm>
          <a:prstGeom prst="rect">
            <a:avLst/>
          </a:prstGeom>
          <a:solidFill>
            <a:srgbClr val="E8EDF3"/>
          </a:solidFill>
          <a:ln w="12700">
            <a:solidFill>
              <a:srgbClr val="E8EDF3"/>
            </a:solidFill>
            <a:prstDash val="solid"/>
          </a:ln>
        </p:spPr>
        <p:txBody>
          <a:bodyPr/>
          <a:p/>
        </p:txBody>
      </p:sp>
      <p:sp>
        <p:nvSpPr>
          <p:cNvPr id="43" name="Text 41"/>
          <p:cNvSpPr txBox="1"/>
          <p:nvPr/>
        </p:nvSpPr>
        <p:spPr>
          <a:xfrm>
            <a:off x="4389120" y="4279392"/>
            <a:ext cx="1463040" cy="475488"/>
          </a:xfrm>
          <a:prstGeom prst="rect">
            <a:avLst/>
          </a:prstGeom>
          <a:noFill/>
          <a:ln/>
        </p:spPr>
        <p:txBody>
          <a:bodyPr wrap="square" lIns="25400" tIns="25400" rIns="25400" bIns="25400" rtlCol="0" anchor="ctr"/>
          <a:lstStyle/>
          <a:p>
            <a:pPr algn="ctr" indent="0" marL="0">
              <a:buNone/>
            </a:pPr>
            <a:r>
              <a:rPr lang="en-US" sz="1800" b="1" dirty="0">
                <a:solidFill>
                  <a:srgbClr val="718096"/>
                </a:solidFill>
                <a:latin typeface="Calibri" pitchFamily="34" charset="0"/>
                <a:ea typeface="Calibri" pitchFamily="34" charset="-122"/>
                <a:cs typeface="Calibri" pitchFamily="34" charset="-120"/>
              </a:rPr>
              <a:t>12%</a:t>
            </a:r>
            <a:endParaRPr lang="en-US" sz="1800" dirty="0"/>
          </a:p>
        </p:txBody>
      </p:sp>
      <p:sp>
        <p:nvSpPr>
          <p:cNvPr id="44" name="Shape 42"/>
          <p:cNvSpPr/>
          <p:nvPr/>
        </p:nvSpPr>
        <p:spPr>
          <a:xfrm>
            <a:off x="5897880" y="4370832"/>
            <a:ext cx="3200400" cy="292608"/>
          </a:xfrm>
          <a:prstGeom prst="rect">
            <a:avLst/>
          </a:prstGeom>
          <a:solidFill>
            <a:srgbClr val="E8EDF3"/>
          </a:solidFill>
          <a:ln w="12700">
            <a:solidFill>
              <a:srgbClr val="E8EDF3"/>
            </a:solidFill>
            <a:prstDash val="solid"/>
          </a:ln>
        </p:spPr>
        <p:txBody>
          <a:bodyPr/>
          <a:p/>
        </p:txBody>
      </p:sp>
      <p:sp>
        <p:nvSpPr>
          <p:cNvPr id="45" name="Shape 43"/>
          <p:cNvSpPr/>
          <p:nvPr/>
        </p:nvSpPr>
        <p:spPr>
          <a:xfrm>
            <a:off x="5897880" y="4370832"/>
            <a:ext cx="640080" cy="292608"/>
          </a:xfrm>
          <a:prstGeom prst="rect">
            <a:avLst/>
          </a:prstGeom>
          <a:solidFill>
            <a:srgbClr val="2C5F8A"/>
          </a:solidFill>
          <a:ln w="12700">
            <a:solidFill>
              <a:srgbClr val="2C5F8A"/>
            </a:solidFill>
            <a:prstDash val="solid"/>
          </a:ln>
        </p:spPr>
        <p:txBody>
          <a:bodyPr/>
          <a:p/>
        </p:txBody>
      </p:sp>
      <p:sp>
        <p:nvSpPr>
          <p:cNvPr id="46" name="Text 44"/>
          <p:cNvSpPr txBox="1"/>
          <p:nvPr/>
        </p:nvSpPr>
        <p:spPr>
          <a:xfrm>
            <a:off x="9235440" y="4187952"/>
            <a:ext cx="2743200" cy="658368"/>
          </a:xfrm>
          <a:prstGeom prst="rect">
            <a:avLst/>
          </a:prstGeom>
          <a:noFill/>
          <a:ln/>
        </p:spPr>
        <p:txBody>
          <a:bodyPr wrap="square" lIns="25400" tIns="25400" rIns="25400" bIns="25400" rtlCol="0" anchor="ctr"/>
          <a:lstStyle/>
          <a:p>
            <a:pPr algn="l" indent="0" marL="0">
              <a:buNone/>
            </a:pPr>
            <a:r>
              <a:rPr lang="en-US" sz="1100" dirty="0">
                <a:solidFill>
                  <a:srgbClr val="0A5C36"/>
                </a:solidFill>
                <a:latin typeface="Calibri" pitchFamily="34" charset="0"/>
                <a:ea typeface="Calibri" pitchFamily="34" charset="-122"/>
                <a:cs typeface="Calibri" pitchFamily="34" charset="-120"/>
              </a:rPr>
              <a:t>✅ Bouzid et al. (2024)</a:t>
            </a:r>
            <a:endParaRPr lang="en-US" sz="1100" dirty="0"/>
          </a:p>
        </p:txBody>
      </p:sp>
      <p:sp>
        <p:nvSpPr>
          <p:cNvPr id="47" name="Shape 45"/>
          <p:cNvSpPr/>
          <p:nvPr/>
        </p:nvSpPr>
        <p:spPr>
          <a:xfrm>
            <a:off x="274320" y="4983480"/>
            <a:ext cx="11704320" cy="804672"/>
          </a:xfrm>
          <a:prstGeom prst="rect">
            <a:avLst/>
          </a:prstGeom>
          <a:solidFill>
            <a:srgbClr val="EBF0F7"/>
          </a:solidFill>
          <a:ln w="12700">
            <a:solidFill>
              <a:srgbClr val="EBF0F7"/>
            </a:solidFill>
            <a:prstDash val="solid"/>
          </a:ln>
        </p:spPr>
        <p:txBody>
          <a:bodyPr/>
          <a:p/>
        </p:txBody>
      </p:sp>
      <p:sp>
        <p:nvSpPr>
          <p:cNvPr id="48" name="Text 46"/>
          <p:cNvSpPr txBox="1"/>
          <p:nvPr/>
        </p:nvSpPr>
        <p:spPr>
          <a:xfrm>
            <a:off x="365760" y="5056632"/>
            <a:ext cx="2468880" cy="658368"/>
          </a:xfrm>
          <a:prstGeom prst="rect">
            <a:avLst/>
          </a:prstGeom>
          <a:noFill/>
          <a:ln/>
        </p:spPr>
        <p:txBody>
          <a:bodyPr wrap="square" lIns="25400" tIns="25400" rIns="25400" bIns="25400" rtlCol="0" anchor="ctr"/>
          <a:lstStyle/>
          <a:p>
            <a:pPr algn="l" indent="0" marL="0">
              <a:buNone/>
            </a:pPr>
            <a:r>
              <a:rPr lang="en-US" sz="1200" b="1" dirty="0">
                <a:solidFill>
                  <a:srgbClr val="B45309"/>
                </a:solidFill>
                <a:latin typeface="Calibri" pitchFamily="34" charset="0"/>
                <a:ea typeface="Calibri" pitchFamily="34" charset="-122"/>
                <a:cs typeface="Calibri" pitchFamily="34" charset="-120"/>
              </a:rPr>
              <a:t>Growing Method (ENUM)</a:t>
            </a:r>
            <a:endParaRPr lang="en-US" sz="1200" dirty="0"/>
          </a:p>
        </p:txBody>
      </p:sp>
      <p:sp>
        <p:nvSpPr>
          <p:cNvPr id="49" name="Shape 47"/>
          <p:cNvSpPr/>
          <p:nvPr/>
        </p:nvSpPr>
        <p:spPr>
          <a:xfrm>
            <a:off x="2880360" y="5148072"/>
            <a:ext cx="1463040" cy="475488"/>
          </a:xfrm>
          <a:prstGeom prst="rect">
            <a:avLst/>
          </a:prstGeom>
          <a:solidFill>
            <a:srgbClr val="E6F4F5"/>
          </a:solidFill>
          <a:ln w="12700">
            <a:solidFill>
              <a:srgbClr val="E6F4F5"/>
            </a:solidFill>
            <a:prstDash val="solid"/>
          </a:ln>
        </p:spPr>
        <p:txBody>
          <a:bodyPr/>
          <a:p/>
        </p:txBody>
      </p:sp>
      <p:sp>
        <p:nvSpPr>
          <p:cNvPr id="50" name="Text 48"/>
          <p:cNvSpPr txBox="1"/>
          <p:nvPr/>
        </p:nvSpPr>
        <p:spPr>
          <a:xfrm>
            <a:off x="2880360" y="5148072"/>
            <a:ext cx="1463040" cy="475488"/>
          </a:xfrm>
          <a:prstGeom prst="rect">
            <a:avLst/>
          </a:prstGeom>
          <a:noFill/>
          <a:ln/>
        </p:spPr>
        <p:txBody>
          <a:bodyPr wrap="square" lIns="25400" tIns="25400" rIns="25400" bIns="25400" rtlCol="0" anchor="ctr"/>
          <a:lstStyle/>
          <a:p>
            <a:pPr algn="ctr" indent="0" marL="0">
              <a:buNone/>
            </a:pPr>
            <a:r>
              <a:rPr lang="en-US" sz="1800" b="1" dirty="0">
                <a:solidFill>
                  <a:srgbClr val="B45309"/>
                </a:solidFill>
                <a:latin typeface="Calibri" pitchFamily="34" charset="0"/>
                <a:ea typeface="Calibri" pitchFamily="34" charset="-122"/>
                <a:cs typeface="Calibri" pitchFamily="34" charset="-120"/>
              </a:rPr>
              <a:t>6%</a:t>
            </a:r>
            <a:endParaRPr lang="en-US" sz="1800" dirty="0"/>
          </a:p>
        </p:txBody>
      </p:sp>
      <p:sp>
        <p:nvSpPr>
          <p:cNvPr id="51" name="Shape 49"/>
          <p:cNvSpPr/>
          <p:nvPr/>
        </p:nvSpPr>
        <p:spPr>
          <a:xfrm>
            <a:off x="4389120" y="5148072"/>
            <a:ext cx="1463040" cy="475488"/>
          </a:xfrm>
          <a:prstGeom prst="rect">
            <a:avLst/>
          </a:prstGeom>
          <a:solidFill>
            <a:srgbClr val="E8EDF3"/>
          </a:solidFill>
          <a:ln w="12700">
            <a:solidFill>
              <a:srgbClr val="E8EDF3"/>
            </a:solidFill>
            <a:prstDash val="solid"/>
          </a:ln>
        </p:spPr>
        <p:txBody>
          <a:bodyPr/>
          <a:p/>
        </p:txBody>
      </p:sp>
      <p:sp>
        <p:nvSpPr>
          <p:cNvPr id="52" name="Text 50"/>
          <p:cNvSpPr txBox="1"/>
          <p:nvPr/>
        </p:nvSpPr>
        <p:spPr>
          <a:xfrm>
            <a:off x="4389120" y="5148072"/>
            <a:ext cx="1463040" cy="475488"/>
          </a:xfrm>
          <a:prstGeom prst="rect">
            <a:avLst/>
          </a:prstGeom>
          <a:noFill/>
          <a:ln/>
        </p:spPr>
        <p:txBody>
          <a:bodyPr wrap="square" lIns="25400" tIns="25400" rIns="25400" bIns="25400" rtlCol="0" anchor="ctr"/>
          <a:lstStyle/>
          <a:p>
            <a:pPr algn="ctr" indent="0" marL="0">
              <a:buNone/>
            </a:pPr>
            <a:r>
              <a:rPr lang="en-US" sz="1800" b="1" dirty="0">
                <a:solidFill>
                  <a:srgbClr val="718096"/>
                </a:solidFill>
                <a:latin typeface="Calibri" pitchFamily="34" charset="0"/>
                <a:ea typeface="Calibri" pitchFamily="34" charset="-122"/>
                <a:cs typeface="Calibri" pitchFamily="34" charset="-120"/>
              </a:rPr>
              <a:t>9%</a:t>
            </a:r>
            <a:endParaRPr lang="en-US" sz="1800" dirty="0"/>
          </a:p>
        </p:txBody>
      </p:sp>
      <p:sp>
        <p:nvSpPr>
          <p:cNvPr id="53" name="Shape 51"/>
          <p:cNvSpPr/>
          <p:nvPr/>
        </p:nvSpPr>
        <p:spPr>
          <a:xfrm>
            <a:off x="5897880" y="5239512"/>
            <a:ext cx="3200400" cy="292608"/>
          </a:xfrm>
          <a:prstGeom prst="rect">
            <a:avLst/>
          </a:prstGeom>
          <a:solidFill>
            <a:srgbClr val="E8EDF3"/>
          </a:solidFill>
          <a:ln w="12700">
            <a:solidFill>
              <a:srgbClr val="E8EDF3"/>
            </a:solidFill>
            <a:prstDash val="solid"/>
          </a:ln>
        </p:spPr>
        <p:txBody>
          <a:bodyPr/>
          <a:p/>
        </p:txBody>
      </p:sp>
      <p:sp>
        <p:nvSpPr>
          <p:cNvPr id="54" name="Shape 52"/>
          <p:cNvSpPr/>
          <p:nvPr/>
        </p:nvSpPr>
        <p:spPr>
          <a:xfrm>
            <a:off x="5897880" y="5239512"/>
            <a:ext cx="480060" cy="292608"/>
          </a:xfrm>
          <a:prstGeom prst="rect">
            <a:avLst/>
          </a:prstGeom>
          <a:solidFill>
            <a:srgbClr val="B45309"/>
          </a:solidFill>
          <a:ln w="12700">
            <a:solidFill>
              <a:srgbClr val="B45309"/>
            </a:solidFill>
            <a:prstDash val="solid"/>
          </a:ln>
        </p:spPr>
        <p:txBody>
          <a:bodyPr/>
          <a:p/>
        </p:txBody>
      </p:sp>
      <p:sp>
        <p:nvSpPr>
          <p:cNvPr id="55" name="Text 53"/>
          <p:cNvSpPr txBox="1"/>
          <p:nvPr/>
        </p:nvSpPr>
        <p:spPr>
          <a:xfrm>
            <a:off x="9235440" y="5056632"/>
            <a:ext cx="2743200" cy="658368"/>
          </a:xfrm>
          <a:prstGeom prst="rect">
            <a:avLst/>
          </a:prstGeom>
          <a:noFill/>
          <a:ln/>
        </p:spPr>
        <p:txBody>
          <a:bodyPr wrap="square" lIns="25400" tIns="25400" rIns="25400" bIns="25400" rtlCol="0" anchor="ctr"/>
          <a:lstStyle/>
          <a:p>
            <a:pPr algn="l" indent="0" marL="0">
              <a:buNone/>
            </a:pPr>
            <a:r>
              <a:rPr lang="en-US" sz="1100" dirty="0">
                <a:solidFill>
                  <a:srgbClr val="0A5C36"/>
                </a:solidFill>
                <a:latin typeface="Calibri" pitchFamily="34" charset="0"/>
                <a:ea typeface="Calibri" pitchFamily="34" charset="-122"/>
                <a:cs typeface="Calibri" pitchFamily="34" charset="-120"/>
              </a:rPr>
              <a:t>✅ Oikonomidis et al. (2023)</a:t>
            </a:r>
            <a:endParaRPr lang="en-US" sz="1100" dirty="0"/>
          </a:p>
        </p:txBody>
      </p:sp>
      <p:sp>
        <p:nvSpPr>
          <p:cNvPr id="56" name="Shape 54"/>
          <p:cNvSpPr/>
          <p:nvPr/>
        </p:nvSpPr>
        <p:spPr>
          <a:xfrm>
            <a:off x="274320" y="5897880"/>
            <a:ext cx="11704320" cy="594360"/>
          </a:xfrm>
          <a:prstGeom prst="rect">
            <a:avLst/>
          </a:prstGeom>
          <a:solidFill>
            <a:srgbClr val="E6F4F5"/>
          </a:solidFill>
          <a:ln w="12700">
            <a:solidFill>
              <a:srgbClr val="E6F4F5"/>
            </a:solidFill>
            <a:prstDash val="solid"/>
          </a:ln>
        </p:spPr>
        <p:txBody>
          <a:bodyPr/>
          <a:p/>
        </p:txBody>
      </p:sp>
      <p:sp>
        <p:nvSpPr>
          <p:cNvPr id="57" name="Text 55"/>
          <p:cNvSpPr txBox="1"/>
          <p:nvPr/>
        </p:nvSpPr>
        <p:spPr>
          <a:xfrm>
            <a:off x="457200" y="5943600"/>
            <a:ext cx="11338560" cy="502920"/>
          </a:xfrm>
          <a:prstGeom prst="rect">
            <a:avLst/>
          </a:prstGeom>
          <a:noFill/>
          <a:ln/>
        </p:spPr>
        <p:txBody>
          <a:bodyPr wrap="square" lIns="25400" tIns="25400" rIns="25400" bIns="25400" rtlCol="0" anchor="ctr"/>
          <a:lstStyle/>
          <a:p>
            <a:pPr algn="l" indent="0" marL="0">
              <a:buNone/>
            </a:pPr>
            <a:r>
              <a:rPr lang="en-US" sz="1150" b="1" dirty="0">
                <a:solidFill>
                  <a:srgbClr val="1E3A5F"/>
                </a:solidFill>
                <a:latin typeface="Calibri" pitchFamily="34" charset="0"/>
                <a:ea typeface="Calibri" pitchFamily="34" charset="-122"/>
                <a:cs typeface="Calibri" pitchFamily="34" charset="-120"/>
              </a:rPr>
              <a:t>External Validity Confirmed: All 5 feature importance rankings exactly match predictions from peer-reviewed agronomy literature. The DNN learned real agronomic patterns — not noise. This is strong evidence of model validity beyond statistical accuracy metrics.</a:t>
            </a:r>
            <a:endParaRPr lang="en-US" sz="1150" dirty="0"/>
          </a:p>
        </p:txBody>
      </p:sp>
      <p:sp>
        <p:nvSpPr>
          <p:cNvPr id="58" name="Shape 56"/>
          <p:cNvSpPr/>
          <p:nvPr/>
        </p:nvSpPr>
        <p:spPr>
          <a:xfrm>
            <a:off x="0" y="6510528"/>
            <a:ext cx="12161520" cy="347472"/>
          </a:xfrm>
          <a:prstGeom prst="rect">
            <a:avLst/>
          </a:prstGeom>
          <a:solidFill>
            <a:srgbClr val="E8EDF3"/>
          </a:solidFill>
          <a:ln w="12700">
            <a:solidFill>
              <a:srgbClr val="E8EDF3"/>
            </a:solidFill>
            <a:prstDash val="solid"/>
          </a:ln>
        </p:spPr>
        <p:txBody>
          <a:body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E3A5F"/>
          </a:solidFill>
          <a:ln w="12700">
            <a:solidFill>
              <a:srgbClr val="1E3A5F"/>
            </a:solidFill>
            <a:prstDash val="solid"/>
          </a:ln>
        </p:spPr>
        <p:txBody>
          <a:bodyPr/>
          <a:p/>
        </p:txBody>
      </p:sp>
      <p:sp>
        <p:nvSpPr>
          <p:cNvPr id="3" name="Text 1"/>
          <p:cNvSpPr txBox="1"/>
          <p:nvPr/>
        </p:nvSpPr>
        <p:spPr>
          <a:xfrm>
            <a:off x="365760" y="45720"/>
            <a:ext cx="10058400" cy="566928"/>
          </a:xfrm>
          <a:prstGeom prst="rect">
            <a:avLst/>
          </a:prstGeom>
          <a:noFill/>
          <a:ln/>
        </p:spPr>
        <p:txBody>
          <a:bodyPr wrap="square" lIns="25400" tIns="25400" rIns="25400" bIns="2540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Dimension 2: System Performance — Functional Testing</a:t>
            </a:r>
            <a:endParaRPr lang="en-US" sz="2200" dirty="0"/>
          </a:p>
        </p:txBody>
      </p:sp>
      <p:sp>
        <p:nvSpPr>
          <p:cNvPr id="4" name="Text 2"/>
          <p:cNvSpPr txBox="1"/>
          <p:nvPr/>
        </p:nvSpPr>
        <p:spPr>
          <a:xfrm>
            <a:off x="365760" y="585216"/>
            <a:ext cx="10972800" cy="329184"/>
          </a:xfrm>
          <a:prstGeom prst="rect">
            <a:avLst/>
          </a:prstGeom>
          <a:noFill/>
          <a:ln/>
        </p:spPr>
        <p:txBody>
          <a:bodyPr wrap="square" lIns="25400" tIns="25400" rIns="25400" bIns="25400" rtlCol="0" anchor="ctr"/>
          <a:lstStyle/>
          <a:p>
            <a:pPr algn="l" indent="0" marL="0">
              <a:buNone/>
            </a:pPr>
            <a:r>
              <a:rPr lang="en-US" sz="1100" dirty="0">
                <a:solidFill>
                  <a:srgbClr val="B8CDE0"/>
                </a:solidFill>
                <a:latin typeface="Calibri" pitchFamily="34" charset="0"/>
                <a:ea typeface="Calibri" pitchFamily="34" charset="-122"/>
                <a:cs typeface="Calibri" pitchFamily="34" charset="-120"/>
              </a:rPr>
              <a:t>Dr. Kesavan requirement: Software/System performance is Evaluation Dimension 2 of 3</a:t>
            </a:r>
            <a:endParaRPr lang="en-US" sz="1100" dirty="0"/>
          </a:p>
        </p:txBody>
      </p:sp>
      <p:sp>
        <p:nvSpPr>
          <p:cNvPr id="5" name="Shape 3"/>
          <p:cNvSpPr/>
          <p:nvPr/>
        </p:nvSpPr>
        <p:spPr>
          <a:xfrm>
            <a:off x="0" y="960120"/>
            <a:ext cx="12161520" cy="45720"/>
          </a:xfrm>
          <a:prstGeom prst="rect">
            <a:avLst/>
          </a:prstGeom>
          <a:solidFill>
            <a:srgbClr val="0D6B72"/>
          </a:solidFill>
          <a:ln w="12700">
            <a:solidFill>
              <a:srgbClr val="0D6B72"/>
            </a:solidFill>
            <a:prstDash val="solid"/>
          </a:ln>
        </p:spPr>
        <p:txBody>
          <a:bodyPr/>
          <a:p/>
        </p:txBody>
      </p:sp>
      <p:sp>
        <p:nvSpPr>
          <p:cNvPr id="6" name="Text 4"/>
          <p:cNvSpPr txBox="1"/>
          <p:nvPr/>
        </p:nvSpPr>
        <p:spPr>
          <a:xfrm>
            <a:off x="274320" y="1097280"/>
            <a:ext cx="11612880" cy="347472"/>
          </a:xfrm>
          <a:prstGeom prst="rect">
            <a:avLst/>
          </a:prstGeom>
          <a:noFill/>
          <a:ln/>
        </p:spPr>
        <p:txBody>
          <a:bodyPr wrap="square" lIns="25400" tIns="25400" rIns="25400" bIns="25400" rtlCol="0" anchor="ctr"/>
          <a:lstStyle/>
          <a:p>
            <a:pPr algn="l" indent="0" marL="0">
              <a:buNone/>
            </a:pPr>
            <a:r>
              <a:rPr lang="en-US" sz="1300" b="1" dirty="0">
                <a:solidFill>
                  <a:srgbClr val="1E3A5F"/>
                </a:solidFill>
                <a:latin typeface="Calibri" pitchFamily="34" charset="0"/>
                <a:ea typeface="Calibri" pitchFamily="34" charset="-122"/>
                <a:cs typeface="Calibri" pitchFamily="34" charset="-120"/>
              </a:rPr>
              <a:t>12 Functional Test Cases — Postman · Spring Boot REST API · All 12 PASSED</a:t>
            </a:r>
            <a:endParaRPr lang="en-US" sz="1300" dirty="0"/>
          </a:p>
        </p:txBody>
      </p:sp>
      <p:sp>
        <p:nvSpPr>
          <p:cNvPr id="7" name="Shape 5"/>
          <p:cNvSpPr/>
          <p:nvPr/>
        </p:nvSpPr>
        <p:spPr>
          <a:xfrm>
            <a:off x="274320" y="1508760"/>
            <a:ext cx="594360" cy="329184"/>
          </a:xfrm>
          <a:prstGeom prst="rect">
            <a:avLst/>
          </a:prstGeom>
          <a:solidFill>
            <a:srgbClr val="0D6B72"/>
          </a:solidFill>
          <a:ln w="12700">
            <a:solidFill>
              <a:srgbClr val="0D6B72"/>
            </a:solidFill>
            <a:prstDash val="solid"/>
          </a:ln>
        </p:spPr>
        <p:txBody>
          <a:bodyPr/>
          <a:p/>
        </p:txBody>
      </p:sp>
      <p:sp>
        <p:nvSpPr>
          <p:cNvPr id="8" name="Text 6"/>
          <p:cNvSpPr txBox="1"/>
          <p:nvPr/>
        </p:nvSpPr>
        <p:spPr>
          <a:xfrm>
            <a:off x="320040" y="1527048"/>
            <a:ext cx="502920" cy="274320"/>
          </a:xfrm>
          <a:prstGeom prst="rect">
            <a:avLst/>
          </a:prstGeom>
          <a:no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TC</a:t>
            </a:r>
            <a:endParaRPr lang="en-US" sz="1100" dirty="0"/>
          </a:p>
        </p:txBody>
      </p:sp>
      <p:sp>
        <p:nvSpPr>
          <p:cNvPr id="9" name="Shape 7"/>
          <p:cNvSpPr/>
          <p:nvPr/>
        </p:nvSpPr>
        <p:spPr>
          <a:xfrm>
            <a:off x="868680" y="1508760"/>
            <a:ext cx="3840480" cy="329184"/>
          </a:xfrm>
          <a:prstGeom prst="rect">
            <a:avLst/>
          </a:prstGeom>
          <a:solidFill>
            <a:srgbClr val="0D6B72"/>
          </a:solidFill>
          <a:ln w="12700">
            <a:solidFill>
              <a:srgbClr val="0D6B72"/>
            </a:solidFill>
            <a:prstDash val="solid"/>
          </a:ln>
        </p:spPr>
        <p:txBody>
          <a:bodyPr/>
          <a:p/>
        </p:txBody>
      </p:sp>
      <p:sp>
        <p:nvSpPr>
          <p:cNvPr id="10" name="Text 8"/>
          <p:cNvSpPr txBox="1"/>
          <p:nvPr/>
        </p:nvSpPr>
        <p:spPr>
          <a:xfrm>
            <a:off x="914400" y="1527048"/>
            <a:ext cx="3749040" cy="274320"/>
          </a:xfrm>
          <a:prstGeom prst="rect">
            <a:avLst/>
          </a:prstGeom>
          <a:no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Test Description</a:t>
            </a:r>
            <a:endParaRPr lang="en-US" sz="1100" dirty="0"/>
          </a:p>
        </p:txBody>
      </p:sp>
      <p:sp>
        <p:nvSpPr>
          <p:cNvPr id="11" name="Shape 9"/>
          <p:cNvSpPr/>
          <p:nvPr/>
        </p:nvSpPr>
        <p:spPr>
          <a:xfrm>
            <a:off x="4709160" y="1508760"/>
            <a:ext cx="4023360" cy="329184"/>
          </a:xfrm>
          <a:prstGeom prst="rect">
            <a:avLst/>
          </a:prstGeom>
          <a:solidFill>
            <a:srgbClr val="0D6B72"/>
          </a:solidFill>
          <a:ln w="12700">
            <a:solidFill>
              <a:srgbClr val="0D6B72"/>
            </a:solidFill>
            <a:prstDash val="solid"/>
          </a:ln>
        </p:spPr>
        <p:txBody>
          <a:bodyPr/>
          <a:p/>
        </p:txBody>
      </p:sp>
      <p:sp>
        <p:nvSpPr>
          <p:cNvPr id="12" name="Text 10"/>
          <p:cNvSpPr txBox="1"/>
          <p:nvPr/>
        </p:nvSpPr>
        <p:spPr>
          <a:xfrm>
            <a:off x="4754880" y="1527048"/>
            <a:ext cx="3931920" cy="274320"/>
          </a:xfrm>
          <a:prstGeom prst="rect">
            <a:avLst/>
          </a:prstGeom>
          <a:no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Expected Result</a:t>
            </a:r>
            <a:endParaRPr lang="en-US" sz="1100" dirty="0"/>
          </a:p>
        </p:txBody>
      </p:sp>
      <p:sp>
        <p:nvSpPr>
          <p:cNvPr id="13" name="Shape 11"/>
          <p:cNvSpPr/>
          <p:nvPr/>
        </p:nvSpPr>
        <p:spPr>
          <a:xfrm>
            <a:off x="8732520" y="1508760"/>
            <a:ext cx="1188720" cy="329184"/>
          </a:xfrm>
          <a:prstGeom prst="rect">
            <a:avLst/>
          </a:prstGeom>
          <a:solidFill>
            <a:srgbClr val="0D6B72"/>
          </a:solidFill>
          <a:ln w="12700">
            <a:solidFill>
              <a:srgbClr val="0D6B72"/>
            </a:solidFill>
            <a:prstDash val="solid"/>
          </a:ln>
        </p:spPr>
        <p:txBody>
          <a:bodyPr/>
          <a:p/>
        </p:txBody>
      </p:sp>
      <p:sp>
        <p:nvSpPr>
          <p:cNvPr id="14" name="Text 12"/>
          <p:cNvSpPr txBox="1"/>
          <p:nvPr/>
        </p:nvSpPr>
        <p:spPr>
          <a:xfrm>
            <a:off x="8778240" y="1527048"/>
            <a:ext cx="1097280" cy="274320"/>
          </a:xfrm>
          <a:prstGeom prst="rect">
            <a:avLst/>
          </a:prstGeom>
          <a:no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Status</a:t>
            </a:r>
            <a:endParaRPr lang="en-US" sz="1100" dirty="0"/>
          </a:p>
        </p:txBody>
      </p:sp>
      <p:sp>
        <p:nvSpPr>
          <p:cNvPr id="15" name="Shape 13"/>
          <p:cNvSpPr/>
          <p:nvPr/>
        </p:nvSpPr>
        <p:spPr>
          <a:xfrm>
            <a:off x="274320" y="1837944"/>
            <a:ext cx="594360" cy="292608"/>
          </a:xfrm>
          <a:prstGeom prst="rect">
            <a:avLst/>
          </a:prstGeom>
          <a:solidFill>
            <a:srgbClr val="F5F7FA"/>
          </a:solidFill>
          <a:ln w="12700">
            <a:solidFill>
              <a:srgbClr val="F5F7FA"/>
            </a:solidFill>
            <a:prstDash val="solid"/>
          </a:ln>
        </p:spPr>
        <p:txBody>
          <a:bodyPr/>
          <a:p/>
        </p:txBody>
      </p:sp>
      <p:sp>
        <p:nvSpPr>
          <p:cNvPr id="16" name="Text 14"/>
          <p:cNvSpPr txBox="1"/>
          <p:nvPr/>
        </p:nvSpPr>
        <p:spPr>
          <a:xfrm>
            <a:off x="320040" y="1856232"/>
            <a:ext cx="521208" cy="256032"/>
          </a:xfrm>
          <a:prstGeom prst="rect">
            <a:avLst/>
          </a:prstGeom>
          <a:noFill/>
          <a:ln/>
        </p:spPr>
        <p:txBody>
          <a:bodyPr wrap="square" lIns="25400" tIns="25400" rIns="25400" bIns="25400" rtlCol="0" anchor="ctr"/>
          <a:lstStyle/>
          <a:p>
            <a:pPr algn="ctr" indent="0" marL="0">
              <a:buNone/>
            </a:pPr>
            <a:r>
              <a:rPr lang="en-US" sz="1000" dirty="0">
                <a:solidFill>
                  <a:srgbClr val="1A202C"/>
                </a:solidFill>
                <a:latin typeface="Calibri" pitchFamily="34" charset="0"/>
                <a:ea typeface="Calibri" pitchFamily="34" charset="-122"/>
                <a:cs typeface="Calibri" pitchFamily="34" charset="-120"/>
              </a:rPr>
              <a:t>TC01</a:t>
            </a:r>
            <a:endParaRPr lang="en-US" sz="1000" dirty="0"/>
          </a:p>
        </p:txBody>
      </p:sp>
      <p:sp>
        <p:nvSpPr>
          <p:cNvPr id="17" name="Shape 15"/>
          <p:cNvSpPr/>
          <p:nvPr/>
        </p:nvSpPr>
        <p:spPr>
          <a:xfrm>
            <a:off x="868680" y="1837944"/>
            <a:ext cx="3840480" cy="292608"/>
          </a:xfrm>
          <a:prstGeom prst="rect">
            <a:avLst/>
          </a:prstGeom>
          <a:solidFill>
            <a:srgbClr val="F5F7FA"/>
          </a:solidFill>
          <a:ln w="12700">
            <a:solidFill>
              <a:srgbClr val="F5F7FA"/>
            </a:solidFill>
            <a:prstDash val="solid"/>
          </a:ln>
        </p:spPr>
        <p:txBody>
          <a:bodyPr/>
          <a:p/>
        </p:txBody>
      </p:sp>
      <p:sp>
        <p:nvSpPr>
          <p:cNvPr id="18" name="Text 16"/>
          <p:cNvSpPr txBox="1"/>
          <p:nvPr/>
        </p:nvSpPr>
        <p:spPr>
          <a:xfrm>
            <a:off x="914400" y="1856232"/>
            <a:ext cx="3767328" cy="256032"/>
          </a:xfrm>
          <a:prstGeom prst="rect">
            <a:avLst/>
          </a:prstGeom>
          <a:noFill/>
          <a:ln/>
        </p:spPr>
        <p:txBody>
          <a:bodyPr wrap="square" lIns="25400" tIns="25400" rIns="25400" bIns="25400" rtlCol="0" anchor="ctr"/>
          <a:lstStyle/>
          <a:p>
            <a:pPr algn="ctr" indent="0" marL="0">
              <a:buNone/>
            </a:pPr>
            <a:r>
              <a:rPr lang="en-US" sz="1000" dirty="0">
                <a:solidFill>
                  <a:srgbClr val="1A202C"/>
                </a:solidFill>
                <a:latin typeface="Calibri" pitchFamily="34" charset="0"/>
                <a:ea typeface="Calibri" pitchFamily="34" charset="-122"/>
                <a:cs typeface="Calibri" pitchFamily="34" charset="-120"/>
              </a:rPr>
              <a:t>User registration with valid data</a:t>
            </a:r>
            <a:endParaRPr lang="en-US" sz="1000" dirty="0"/>
          </a:p>
        </p:txBody>
      </p:sp>
      <p:sp>
        <p:nvSpPr>
          <p:cNvPr id="19" name="Shape 17"/>
          <p:cNvSpPr/>
          <p:nvPr/>
        </p:nvSpPr>
        <p:spPr>
          <a:xfrm>
            <a:off x="4709160" y="1837944"/>
            <a:ext cx="4023360" cy="292608"/>
          </a:xfrm>
          <a:prstGeom prst="rect">
            <a:avLst/>
          </a:prstGeom>
          <a:solidFill>
            <a:srgbClr val="F5F7FA"/>
          </a:solidFill>
          <a:ln w="12700">
            <a:solidFill>
              <a:srgbClr val="F5F7FA"/>
            </a:solidFill>
            <a:prstDash val="solid"/>
          </a:ln>
        </p:spPr>
        <p:txBody>
          <a:bodyPr/>
          <a:p/>
        </p:txBody>
      </p:sp>
      <p:sp>
        <p:nvSpPr>
          <p:cNvPr id="20" name="Text 18"/>
          <p:cNvSpPr txBox="1"/>
          <p:nvPr/>
        </p:nvSpPr>
        <p:spPr>
          <a:xfrm>
            <a:off x="4754880" y="1856232"/>
            <a:ext cx="3950208" cy="256032"/>
          </a:xfrm>
          <a:prstGeom prst="rect">
            <a:avLst/>
          </a:prstGeom>
          <a:noFill/>
          <a:ln/>
        </p:spPr>
        <p:txBody>
          <a:bodyPr wrap="square" lIns="25400" tIns="25400" rIns="25400" bIns="25400" rtlCol="0" anchor="ctr"/>
          <a:lstStyle/>
          <a:p>
            <a:pPr algn="ctr" indent="0" marL="0">
              <a:buNone/>
            </a:pPr>
            <a:r>
              <a:rPr lang="en-US" sz="1000" dirty="0">
                <a:solidFill>
                  <a:srgbClr val="1A202C"/>
                </a:solidFill>
                <a:latin typeface="Calibri" pitchFamily="34" charset="0"/>
                <a:ea typeface="Calibri" pitchFamily="34" charset="-122"/>
                <a:cs typeface="Calibri" pitchFamily="34" charset="-120"/>
              </a:rPr>
              <a:t>201 Created + JWT token</a:t>
            </a:r>
            <a:endParaRPr lang="en-US" sz="1000" dirty="0"/>
          </a:p>
        </p:txBody>
      </p:sp>
      <p:sp>
        <p:nvSpPr>
          <p:cNvPr id="21" name="Shape 19"/>
          <p:cNvSpPr/>
          <p:nvPr/>
        </p:nvSpPr>
        <p:spPr>
          <a:xfrm>
            <a:off x="8732520" y="1837944"/>
            <a:ext cx="1188720" cy="292608"/>
          </a:xfrm>
          <a:prstGeom prst="rect">
            <a:avLst/>
          </a:prstGeom>
          <a:solidFill>
            <a:srgbClr val="F5F7FA"/>
          </a:solidFill>
          <a:ln w="12700">
            <a:solidFill>
              <a:srgbClr val="F5F7FA"/>
            </a:solidFill>
            <a:prstDash val="solid"/>
          </a:ln>
        </p:spPr>
        <p:txBody>
          <a:bodyPr/>
          <a:p/>
        </p:txBody>
      </p:sp>
      <p:sp>
        <p:nvSpPr>
          <p:cNvPr id="22" name="Text 20"/>
          <p:cNvSpPr txBox="1"/>
          <p:nvPr/>
        </p:nvSpPr>
        <p:spPr>
          <a:xfrm>
            <a:off x="8778240" y="1856232"/>
            <a:ext cx="1115568" cy="256032"/>
          </a:xfrm>
          <a:prstGeom prst="rect">
            <a:avLst/>
          </a:prstGeom>
          <a:noFill/>
          <a:ln/>
        </p:spPr>
        <p:txBody>
          <a:bodyPr wrap="square" lIns="25400" tIns="25400" rIns="25400" bIns="25400" rtlCol="0" anchor="ctr"/>
          <a:lstStyle/>
          <a:p>
            <a:pPr algn="ctr" indent="0" marL="0">
              <a:buNone/>
            </a:pPr>
            <a:r>
              <a:rPr lang="en-US" sz="1000" b="1" dirty="0">
                <a:solidFill>
                  <a:srgbClr val="0A5C36"/>
                </a:solidFill>
                <a:latin typeface="Calibri" pitchFamily="34" charset="0"/>
                <a:ea typeface="Calibri" pitchFamily="34" charset="-122"/>
                <a:cs typeface="Calibri" pitchFamily="34" charset="-120"/>
              </a:rPr>
              <a:t>✅ PASS</a:t>
            </a:r>
            <a:endParaRPr lang="en-US" sz="1000" dirty="0"/>
          </a:p>
        </p:txBody>
      </p:sp>
      <p:sp>
        <p:nvSpPr>
          <p:cNvPr id="23" name="Shape 21"/>
          <p:cNvSpPr/>
          <p:nvPr/>
        </p:nvSpPr>
        <p:spPr>
          <a:xfrm>
            <a:off x="274320" y="2130552"/>
            <a:ext cx="594360" cy="292608"/>
          </a:xfrm>
          <a:prstGeom prst="rect">
            <a:avLst/>
          </a:prstGeom>
          <a:solidFill>
            <a:srgbClr val="E6F4F5"/>
          </a:solidFill>
          <a:ln w="12700">
            <a:solidFill>
              <a:srgbClr val="E6F4F5"/>
            </a:solidFill>
            <a:prstDash val="solid"/>
          </a:ln>
        </p:spPr>
        <p:txBody>
          <a:bodyPr/>
          <a:p/>
        </p:txBody>
      </p:sp>
      <p:sp>
        <p:nvSpPr>
          <p:cNvPr id="24" name="Text 22"/>
          <p:cNvSpPr txBox="1"/>
          <p:nvPr/>
        </p:nvSpPr>
        <p:spPr>
          <a:xfrm>
            <a:off x="320040" y="2148840"/>
            <a:ext cx="521208" cy="256032"/>
          </a:xfrm>
          <a:prstGeom prst="rect">
            <a:avLst/>
          </a:prstGeom>
          <a:noFill/>
          <a:ln/>
        </p:spPr>
        <p:txBody>
          <a:bodyPr wrap="square" lIns="25400" tIns="25400" rIns="25400" bIns="25400" rtlCol="0" anchor="ctr"/>
          <a:lstStyle/>
          <a:p>
            <a:pPr algn="ctr" indent="0" marL="0">
              <a:buNone/>
            </a:pPr>
            <a:r>
              <a:rPr lang="en-US" sz="1000" dirty="0">
                <a:solidFill>
                  <a:srgbClr val="1A202C"/>
                </a:solidFill>
                <a:latin typeface="Calibri" pitchFamily="34" charset="0"/>
                <a:ea typeface="Calibri" pitchFamily="34" charset="-122"/>
                <a:cs typeface="Calibri" pitchFamily="34" charset="-120"/>
              </a:rPr>
              <a:t>TC02</a:t>
            </a:r>
            <a:endParaRPr lang="en-US" sz="1000" dirty="0"/>
          </a:p>
        </p:txBody>
      </p:sp>
      <p:sp>
        <p:nvSpPr>
          <p:cNvPr id="25" name="Shape 23"/>
          <p:cNvSpPr/>
          <p:nvPr/>
        </p:nvSpPr>
        <p:spPr>
          <a:xfrm>
            <a:off x="868680" y="2130552"/>
            <a:ext cx="3840480" cy="292608"/>
          </a:xfrm>
          <a:prstGeom prst="rect">
            <a:avLst/>
          </a:prstGeom>
          <a:solidFill>
            <a:srgbClr val="E6F4F5"/>
          </a:solidFill>
          <a:ln w="12700">
            <a:solidFill>
              <a:srgbClr val="E6F4F5"/>
            </a:solidFill>
            <a:prstDash val="solid"/>
          </a:ln>
        </p:spPr>
        <p:txBody>
          <a:bodyPr/>
          <a:p/>
        </p:txBody>
      </p:sp>
      <p:sp>
        <p:nvSpPr>
          <p:cNvPr id="26" name="Text 24"/>
          <p:cNvSpPr txBox="1"/>
          <p:nvPr/>
        </p:nvSpPr>
        <p:spPr>
          <a:xfrm>
            <a:off x="914400" y="2148840"/>
            <a:ext cx="3767328" cy="256032"/>
          </a:xfrm>
          <a:prstGeom prst="rect">
            <a:avLst/>
          </a:prstGeom>
          <a:noFill/>
          <a:ln/>
        </p:spPr>
        <p:txBody>
          <a:bodyPr wrap="square" lIns="25400" tIns="25400" rIns="25400" bIns="25400" rtlCol="0" anchor="ctr"/>
          <a:lstStyle/>
          <a:p>
            <a:pPr algn="ctr" indent="0" marL="0">
              <a:buNone/>
            </a:pPr>
            <a:r>
              <a:rPr lang="en-US" sz="1000" dirty="0">
                <a:solidFill>
                  <a:srgbClr val="1A202C"/>
                </a:solidFill>
                <a:latin typeface="Calibri" pitchFamily="34" charset="0"/>
                <a:ea typeface="Calibri" pitchFamily="34" charset="-122"/>
                <a:cs typeface="Calibri" pitchFamily="34" charset="-120"/>
              </a:rPr>
              <a:t>JWT login with correct credentials</a:t>
            </a:r>
            <a:endParaRPr lang="en-US" sz="1000" dirty="0"/>
          </a:p>
        </p:txBody>
      </p:sp>
      <p:sp>
        <p:nvSpPr>
          <p:cNvPr id="27" name="Shape 25"/>
          <p:cNvSpPr/>
          <p:nvPr/>
        </p:nvSpPr>
        <p:spPr>
          <a:xfrm>
            <a:off x="4709160" y="2130552"/>
            <a:ext cx="4023360" cy="292608"/>
          </a:xfrm>
          <a:prstGeom prst="rect">
            <a:avLst/>
          </a:prstGeom>
          <a:solidFill>
            <a:srgbClr val="E6F4F5"/>
          </a:solidFill>
          <a:ln w="12700">
            <a:solidFill>
              <a:srgbClr val="E6F4F5"/>
            </a:solidFill>
            <a:prstDash val="solid"/>
          </a:ln>
        </p:spPr>
        <p:txBody>
          <a:bodyPr/>
          <a:p/>
        </p:txBody>
      </p:sp>
      <p:sp>
        <p:nvSpPr>
          <p:cNvPr id="28" name="Text 26"/>
          <p:cNvSpPr txBox="1"/>
          <p:nvPr/>
        </p:nvSpPr>
        <p:spPr>
          <a:xfrm>
            <a:off x="4754880" y="2148840"/>
            <a:ext cx="3950208" cy="256032"/>
          </a:xfrm>
          <a:prstGeom prst="rect">
            <a:avLst/>
          </a:prstGeom>
          <a:noFill/>
          <a:ln/>
        </p:spPr>
        <p:txBody>
          <a:bodyPr wrap="square" lIns="25400" tIns="25400" rIns="25400" bIns="25400" rtlCol="0" anchor="ctr"/>
          <a:lstStyle/>
          <a:p>
            <a:pPr algn="ctr" indent="0" marL="0">
              <a:buNone/>
            </a:pPr>
            <a:r>
              <a:rPr lang="en-US" sz="1000" dirty="0">
                <a:solidFill>
                  <a:srgbClr val="1A202C"/>
                </a:solidFill>
                <a:latin typeface="Calibri" pitchFamily="34" charset="0"/>
                <a:ea typeface="Calibri" pitchFamily="34" charset="-122"/>
                <a:cs typeface="Calibri" pitchFamily="34" charset="-120"/>
              </a:rPr>
              <a:t>200 OK + access token</a:t>
            </a:r>
            <a:endParaRPr lang="en-US" sz="1000" dirty="0"/>
          </a:p>
        </p:txBody>
      </p:sp>
      <p:sp>
        <p:nvSpPr>
          <p:cNvPr id="29" name="Shape 27"/>
          <p:cNvSpPr/>
          <p:nvPr/>
        </p:nvSpPr>
        <p:spPr>
          <a:xfrm>
            <a:off x="8732520" y="2130552"/>
            <a:ext cx="1188720" cy="292608"/>
          </a:xfrm>
          <a:prstGeom prst="rect">
            <a:avLst/>
          </a:prstGeom>
          <a:solidFill>
            <a:srgbClr val="E6F4F5"/>
          </a:solidFill>
          <a:ln w="12700">
            <a:solidFill>
              <a:srgbClr val="E6F4F5"/>
            </a:solidFill>
            <a:prstDash val="solid"/>
          </a:ln>
        </p:spPr>
        <p:txBody>
          <a:bodyPr/>
          <a:p/>
        </p:txBody>
      </p:sp>
      <p:sp>
        <p:nvSpPr>
          <p:cNvPr id="30" name="Text 28"/>
          <p:cNvSpPr txBox="1"/>
          <p:nvPr/>
        </p:nvSpPr>
        <p:spPr>
          <a:xfrm>
            <a:off x="8778240" y="2148840"/>
            <a:ext cx="1115568" cy="256032"/>
          </a:xfrm>
          <a:prstGeom prst="rect">
            <a:avLst/>
          </a:prstGeom>
          <a:noFill/>
          <a:ln/>
        </p:spPr>
        <p:txBody>
          <a:bodyPr wrap="square" lIns="25400" tIns="25400" rIns="25400" bIns="25400" rtlCol="0" anchor="ctr"/>
          <a:lstStyle/>
          <a:p>
            <a:pPr algn="ctr" indent="0" marL="0">
              <a:buNone/>
            </a:pPr>
            <a:r>
              <a:rPr lang="en-US" sz="1000" b="1" dirty="0">
                <a:solidFill>
                  <a:srgbClr val="0A5C36"/>
                </a:solidFill>
                <a:latin typeface="Calibri" pitchFamily="34" charset="0"/>
                <a:ea typeface="Calibri" pitchFamily="34" charset="-122"/>
                <a:cs typeface="Calibri" pitchFamily="34" charset="-120"/>
              </a:rPr>
              <a:t>✅ PASS</a:t>
            </a:r>
            <a:endParaRPr lang="en-US" sz="1000" dirty="0"/>
          </a:p>
        </p:txBody>
      </p:sp>
      <p:sp>
        <p:nvSpPr>
          <p:cNvPr id="31" name="Shape 29"/>
          <p:cNvSpPr/>
          <p:nvPr/>
        </p:nvSpPr>
        <p:spPr>
          <a:xfrm>
            <a:off x="274320" y="2423160"/>
            <a:ext cx="594360" cy="292608"/>
          </a:xfrm>
          <a:prstGeom prst="rect">
            <a:avLst/>
          </a:prstGeom>
          <a:solidFill>
            <a:srgbClr val="F5F7FA"/>
          </a:solidFill>
          <a:ln w="12700">
            <a:solidFill>
              <a:srgbClr val="F5F7FA"/>
            </a:solidFill>
            <a:prstDash val="solid"/>
          </a:ln>
        </p:spPr>
        <p:txBody>
          <a:bodyPr/>
          <a:p/>
        </p:txBody>
      </p:sp>
      <p:sp>
        <p:nvSpPr>
          <p:cNvPr id="32" name="Text 30"/>
          <p:cNvSpPr txBox="1"/>
          <p:nvPr/>
        </p:nvSpPr>
        <p:spPr>
          <a:xfrm>
            <a:off x="320040" y="2441448"/>
            <a:ext cx="521208" cy="256032"/>
          </a:xfrm>
          <a:prstGeom prst="rect">
            <a:avLst/>
          </a:prstGeom>
          <a:noFill/>
          <a:ln/>
        </p:spPr>
        <p:txBody>
          <a:bodyPr wrap="square" lIns="25400" tIns="25400" rIns="25400" bIns="25400" rtlCol="0" anchor="ctr"/>
          <a:lstStyle/>
          <a:p>
            <a:pPr algn="ctr" indent="0" marL="0">
              <a:buNone/>
            </a:pPr>
            <a:r>
              <a:rPr lang="en-US" sz="1000" dirty="0">
                <a:solidFill>
                  <a:srgbClr val="1A202C"/>
                </a:solidFill>
                <a:latin typeface="Calibri" pitchFamily="34" charset="0"/>
                <a:ea typeface="Calibri" pitchFamily="34" charset="-122"/>
                <a:cs typeface="Calibri" pitchFamily="34" charset="-120"/>
              </a:rPr>
              <a:t>TC03</a:t>
            </a:r>
            <a:endParaRPr lang="en-US" sz="1000" dirty="0"/>
          </a:p>
        </p:txBody>
      </p:sp>
      <p:sp>
        <p:nvSpPr>
          <p:cNvPr id="33" name="Shape 31"/>
          <p:cNvSpPr/>
          <p:nvPr/>
        </p:nvSpPr>
        <p:spPr>
          <a:xfrm>
            <a:off x="868680" y="2423160"/>
            <a:ext cx="3840480" cy="292608"/>
          </a:xfrm>
          <a:prstGeom prst="rect">
            <a:avLst/>
          </a:prstGeom>
          <a:solidFill>
            <a:srgbClr val="F5F7FA"/>
          </a:solidFill>
          <a:ln w="12700">
            <a:solidFill>
              <a:srgbClr val="F5F7FA"/>
            </a:solidFill>
            <a:prstDash val="solid"/>
          </a:ln>
        </p:spPr>
        <p:txBody>
          <a:bodyPr/>
          <a:p/>
        </p:txBody>
      </p:sp>
      <p:sp>
        <p:nvSpPr>
          <p:cNvPr id="34" name="Text 32"/>
          <p:cNvSpPr txBox="1"/>
          <p:nvPr/>
        </p:nvSpPr>
        <p:spPr>
          <a:xfrm>
            <a:off x="914400" y="2441448"/>
            <a:ext cx="3767328" cy="256032"/>
          </a:xfrm>
          <a:prstGeom prst="rect">
            <a:avLst/>
          </a:prstGeom>
          <a:noFill/>
          <a:ln/>
        </p:spPr>
        <p:txBody>
          <a:bodyPr wrap="square" lIns="25400" tIns="25400" rIns="25400" bIns="25400" rtlCol="0" anchor="ctr"/>
          <a:lstStyle/>
          <a:p>
            <a:pPr algn="ctr" indent="0" marL="0">
              <a:buNone/>
            </a:pPr>
            <a:r>
              <a:rPr lang="en-US" sz="1000" dirty="0">
                <a:solidFill>
                  <a:srgbClr val="1A202C"/>
                </a:solidFill>
                <a:latin typeface="Calibri" pitchFamily="34" charset="0"/>
                <a:ea typeface="Calibri" pitchFamily="34" charset="-122"/>
                <a:cs typeface="Calibri" pitchFamily="34" charset="-120"/>
              </a:rPr>
              <a:t>Login with wrong password</a:t>
            </a:r>
            <a:endParaRPr lang="en-US" sz="1000" dirty="0"/>
          </a:p>
        </p:txBody>
      </p:sp>
      <p:sp>
        <p:nvSpPr>
          <p:cNvPr id="35" name="Shape 33"/>
          <p:cNvSpPr/>
          <p:nvPr/>
        </p:nvSpPr>
        <p:spPr>
          <a:xfrm>
            <a:off x="4709160" y="2423160"/>
            <a:ext cx="4023360" cy="292608"/>
          </a:xfrm>
          <a:prstGeom prst="rect">
            <a:avLst/>
          </a:prstGeom>
          <a:solidFill>
            <a:srgbClr val="F5F7FA"/>
          </a:solidFill>
          <a:ln w="12700">
            <a:solidFill>
              <a:srgbClr val="F5F7FA"/>
            </a:solidFill>
            <a:prstDash val="solid"/>
          </a:ln>
        </p:spPr>
        <p:txBody>
          <a:bodyPr/>
          <a:p/>
        </p:txBody>
      </p:sp>
      <p:sp>
        <p:nvSpPr>
          <p:cNvPr id="36" name="Text 34"/>
          <p:cNvSpPr txBox="1"/>
          <p:nvPr/>
        </p:nvSpPr>
        <p:spPr>
          <a:xfrm>
            <a:off x="4754880" y="2441448"/>
            <a:ext cx="3950208" cy="256032"/>
          </a:xfrm>
          <a:prstGeom prst="rect">
            <a:avLst/>
          </a:prstGeom>
          <a:noFill/>
          <a:ln/>
        </p:spPr>
        <p:txBody>
          <a:bodyPr wrap="square" lIns="25400" tIns="25400" rIns="25400" bIns="25400" rtlCol="0" anchor="ctr"/>
          <a:lstStyle/>
          <a:p>
            <a:pPr algn="ctr" indent="0" marL="0">
              <a:buNone/>
            </a:pPr>
            <a:r>
              <a:rPr lang="en-US" sz="1000" dirty="0">
                <a:solidFill>
                  <a:srgbClr val="1A202C"/>
                </a:solidFill>
                <a:latin typeface="Calibri" pitchFamily="34" charset="0"/>
                <a:ea typeface="Calibri" pitchFamily="34" charset="-122"/>
                <a:cs typeface="Calibri" pitchFamily="34" charset="-120"/>
              </a:rPr>
              <a:t>401 Unauthorized (no detail)</a:t>
            </a:r>
            <a:endParaRPr lang="en-US" sz="1000" dirty="0"/>
          </a:p>
        </p:txBody>
      </p:sp>
      <p:sp>
        <p:nvSpPr>
          <p:cNvPr id="37" name="Shape 35"/>
          <p:cNvSpPr/>
          <p:nvPr/>
        </p:nvSpPr>
        <p:spPr>
          <a:xfrm>
            <a:off x="8732520" y="2423160"/>
            <a:ext cx="1188720" cy="292608"/>
          </a:xfrm>
          <a:prstGeom prst="rect">
            <a:avLst/>
          </a:prstGeom>
          <a:solidFill>
            <a:srgbClr val="F5F7FA"/>
          </a:solidFill>
          <a:ln w="12700">
            <a:solidFill>
              <a:srgbClr val="F5F7FA"/>
            </a:solidFill>
            <a:prstDash val="solid"/>
          </a:ln>
        </p:spPr>
        <p:txBody>
          <a:bodyPr/>
          <a:p/>
        </p:txBody>
      </p:sp>
      <p:sp>
        <p:nvSpPr>
          <p:cNvPr id="38" name="Text 36"/>
          <p:cNvSpPr txBox="1"/>
          <p:nvPr/>
        </p:nvSpPr>
        <p:spPr>
          <a:xfrm>
            <a:off x="8778240" y="2441448"/>
            <a:ext cx="1115568" cy="256032"/>
          </a:xfrm>
          <a:prstGeom prst="rect">
            <a:avLst/>
          </a:prstGeom>
          <a:noFill/>
          <a:ln/>
        </p:spPr>
        <p:txBody>
          <a:bodyPr wrap="square" lIns="25400" tIns="25400" rIns="25400" bIns="25400" rtlCol="0" anchor="ctr"/>
          <a:lstStyle/>
          <a:p>
            <a:pPr algn="ctr" indent="0" marL="0">
              <a:buNone/>
            </a:pPr>
            <a:r>
              <a:rPr lang="en-US" sz="1000" b="1" dirty="0">
                <a:solidFill>
                  <a:srgbClr val="0A5C36"/>
                </a:solidFill>
                <a:latin typeface="Calibri" pitchFamily="34" charset="0"/>
                <a:ea typeface="Calibri" pitchFamily="34" charset="-122"/>
                <a:cs typeface="Calibri" pitchFamily="34" charset="-120"/>
              </a:rPr>
              <a:t>✅ PASS</a:t>
            </a:r>
            <a:endParaRPr lang="en-US" sz="1000" dirty="0"/>
          </a:p>
        </p:txBody>
      </p:sp>
      <p:sp>
        <p:nvSpPr>
          <p:cNvPr id="39" name="Shape 37"/>
          <p:cNvSpPr/>
          <p:nvPr/>
        </p:nvSpPr>
        <p:spPr>
          <a:xfrm>
            <a:off x="274320" y="2715768"/>
            <a:ext cx="594360" cy="292608"/>
          </a:xfrm>
          <a:prstGeom prst="rect">
            <a:avLst/>
          </a:prstGeom>
          <a:solidFill>
            <a:srgbClr val="E6F4F5"/>
          </a:solidFill>
          <a:ln w="12700">
            <a:solidFill>
              <a:srgbClr val="E6F4F5"/>
            </a:solidFill>
            <a:prstDash val="solid"/>
          </a:ln>
        </p:spPr>
        <p:txBody>
          <a:bodyPr/>
          <a:p/>
        </p:txBody>
      </p:sp>
      <p:sp>
        <p:nvSpPr>
          <p:cNvPr id="40" name="Text 38"/>
          <p:cNvSpPr txBox="1"/>
          <p:nvPr/>
        </p:nvSpPr>
        <p:spPr>
          <a:xfrm>
            <a:off x="320040" y="2734056"/>
            <a:ext cx="521208" cy="256032"/>
          </a:xfrm>
          <a:prstGeom prst="rect">
            <a:avLst/>
          </a:prstGeom>
          <a:noFill/>
          <a:ln/>
        </p:spPr>
        <p:txBody>
          <a:bodyPr wrap="square" lIns="25400" tIns="25400" rIns="25400" bIns="25400" rtlCol="0" anchor="ctr"/>
          <a:lstStyle/>
          <a:p>
            <a:pPr algn="ctr" indent="0" marL="0">
              <a:buNone/>
            </a:pPr>
            <a:r>
              <a:rPr lang="en-US" sz="1000" dirty="0">
                <a:solidFill>
                  <a:srgbClr val="1A202C"/>
                </a:solidFill>
                <a:latin typeface="Calibri" pitchFamily="34" charset="0"/>
                <a:ea typeface="Calibri" pitchFamily="34" charset="-122"/>
                <a:cs typeface="Calibri" pitchFamily="34" charset="-120"/>
              </a:rPr>
              <a:t>TC04</a:t>
            </a:r>
            <a:endParaRPr lang="en-US" sz="1000" dirty="0"/>
          </a:p>
        </p:txBody>
      </p:sp>
      <p:sp>
        <p:nvSpPr>
          <p:cNvPr id="41" name="Shape 39"/>
          <p:cNvSpPr/>
          <p:nvPr/>
        </p:nvSpPr>
        <p:spPr>
          <a:xfrm>
            <a:off x="868680" y="2715768"/>
            <a:ext cx="3840480" cy="292608"/>
          </a:xfrm>
          <a:prstGeom prst="rect">
            <a:avLst/>
          </a:prstGeom>
          <a:solidFill>
            <a:srgbClr val="E6F4F5"/>
          </a:solidFill>
          <a:ln w="12700">
            <a:solidFill>
              <a:srgbClr val="E6F4F5"/>
            </a:solidFill>
            <a:prstDash val="solid"/>
          </a:ln>
        </p:spPr>
        <p:txBody>
          <a:bodyPr/>
          <a:p/>
        </p:txBody>
      </p:sp>
      <p:sp>
        <p:nvSpPr>
          <p:cNvPr id="42" name="Text 40"/>
          <p:cNvSpPr txBox="1"/>
          <p:nvPr/>
        </p:nvSpPr>
        <p:spPr>
          <a:xfrm>
            <a:off x="914400" y="2734056"/>
            <a:ext cx="3767328" cy="256032"/>
          </a:xfrm>
          <a:prstGeom prst="rect">
            <a:avLst/>
          </a:prstGeom>
          <a:noFill/>
          <a:ln/>
        </p:spPr>
        <p:txBody>
          <a:bodyPr wrap="square" lIns="25400" tIns="25400" rIns="25400" bIns="25400" rtlCol="0" anchor="ctr"/>
          <a:lstStyle/>
          <a:p>
            <a:pPr algn="ctr" indent="0" marL="0">
              <a:buNone/>
            </a:pPr>
            <a:r>
              <a:rPr lang="en-US" sz="1000" dirty="0">
                <a:solidFill>
                  <a:srgbClr val="1A202C"/>
                </a:solidFill>
                <a:latin typeface="Calibri" pitchFamily="34" charset="0"/>
                <a:ea typeface="Calibri" pitchFamily="34" charset="-122"/>
                <a:cs typeface="Calibri" pitchFamily="34" charset="-120"/>
              </a:rPr>
              <a:t>Access protected endpoint without JWT</a:t>
            </a:r>
            <a:endParaRPr lang="en-US" sz="1000" dirty="0"/>
          </a:p>
        </p:txBody>
      </p:sp>
      <p:sp>
        <p:nvSpPr>
          <p:cNvPr id="43" name="Shape 41"/>
          <p:cNvSpPr/>
          <p:nvPr/>
        </p:nvSpPr>
        <p:spPr>
          <a:xfrm>
            <a:off x="4709160" y="2715768"/>
            <a:ext cx="4023360" cy="292608"/>
          </a:xfrm>
          <a:prstGeom prst="rect">
            <a:avLst/>
          </a:prstGeom>
          <a:solidFill>
            <a:srgbClr val="E6F4F5"/>
          </a:solidFill>
          <a:ln w="12700">
            <a:solidFill>
              <a:srgbClr val="E6F4F5"/>
            </a:solidFill>
            <a:prstDash val="solid"/>
          </a:ln>
        </p:spPr>
        <p:txBody>
          <a:bodyPr/>
          <a:p/>
        </p:txBody>
      </p:sp>
      <p:sp>
        <p:nvSpPr>
          <p:cNvPr id="44" name="Text 42"/>
          <p:cNvSpPr txBox="1"/>
          <p:nvPr/>
        </p:nvSpPr>
        <p:spPr>
          <a:xfrm>
            <a:off x="4754880" y="2734056"/>
            <a:ext cx="3950208" cy="256032"/>
          </a:xfrm>
          <a:prstGeom prst="rect">
            <a:avLst/>
          </a:prstGeom>
          <a:noFill/>
          <a:ln/>
        </p:spPr>
        <p:txBody>
          <a:bodyPr wrap="square" lIns="25400" tIns="25400" rIns="25400" bIns="25400" rtlCol="0" anchor="ctr"/>
          <a:lstStyle/>
          <a:p>
            <a:pPr algn="ctr" indent="0" marL="0">
              <a:buNone/>
            </a:pPr>
            <a:r>
              <a:rPr lang="en-US" sz="1000" dirty="0">
                <a:solidFill>
                  <a:srgbClr val="1A202C"/>
                </a:solidFill>
                <a:latin typeface="Calibri" pitchFamily="34" charset="0"/>
                <a:ea typeface="Calibri" pitchFamily="34" charset="-122"/>
                <a:cs typeface="Calibri" pitchFamily="34" charset="-120"/>
              </a:rPr>
              <a:t>403 Forbidden</a:t>
            </a:r>
            <a:endParaRPr lang="en-US" sz="1000" dirty="0"/>
          </a:p>
        </p:txBody>
      </p:sp>
      <p:sp>
        <p:nvSpPr>
          <p:cNvPr id="45" name="Shape 43"/>
          <p:cNvSpPr/>
          <p:nvPr/>
        </p:nvSpPr>
        <p:spPr>
          <a:xfrm>
            <a:off x="8732520" y="2715768"/>
            <a:ext cx="1188720" cy="292608"/>
          </a:xfrm>
          <a:prstGeom prst="rect">
            <a:avLst/>
          </a:prstGeom>
          <a:solidFill>
            <a:srgbClr val="E6F4F5"/>
          </a:solidFill>
          <a:ln w="12700">
            <a:solidFill>
              <a:srgbClr val="E6F4F5"/>
            </a:solidFill>
            <a:prstDash val="solid"/>
          </a:ln>
        </p:spPr>
        <p:txBody>
          <a:bodyPr/>
          <a:p/>
        </p:txBody>
      </p:sp>
      <p:sp>
        <p:nvSpPr>
          <p:cNvPr id="46" name="Text 44"/>
          <p:cNvSpPr txBox="1"/>
          <p:nvPr/>
        </p:nvSpPr>
        <p:spPr>
          <a:xfrm>
            <a:off x="8778240" y="2734056"/>
            <a:ext cx="1115568" cy="256032"/>
          </a:xfrm>
          <a:prstGeom prst="rect">
            <a:avLst/>
          </a:prstGeom>
          <a:noFill/>
          <a:ln/>
        </p:spPr>
        <p:txBody>
          <a:bodyPr wrap="square" lIns="25400" tIns="25400" rIns="25400" bIns="25400" rtlCol="0" anchor="ctr"/>
          <a:lstStyle/>
          <a:p>
            <a:pPr algn="ctr" indent="0" marL="0">
              <a:buNone/>
            </a:pPr>
            <a:r>
              <a:rPr lang="en-US" sz="1000" b="1" dirty="0">
                <a:solidFill>
                  <a:srgbClr val="0A5C36"/>
                </a:solidFill>
                <a:latin typeface="Calibri" pitchFamily="34" charset="0"/>
                <a:ea typeface="Calibri" pitchFamily="34" charset="-122"/>
                <a:cs typeface="Calibri" pitchFamily="34" charset="-120"/>
              </a:rPr>
              <a:t>✅ PASS</a:t>
            </a:r>
            <a:endParaRPr lang="en-US" sz="1000" dirty="0"/>
          </a:p>
        </p:txBody>
      </p:sp>
      <p:sp>
        <p:nvSpPr>
          <p:cNvPr id="47" name="Shape 45"/>
          <p:cNvSpPr/>
          <p:nvPr/>
        </p:nvSpPr>
        <p:spPr>
          <a:xfrm>
            <a:off x="274320" y="3008376"/>
            <a:ext cx="594360" cy="292608"/>
          </a:xfrm>
          <a:prstGeom prst="rect">
            <a:avLst/>
          </a:prstGeom>
          <a:solidFill>
            <a:srgbClr val="F5F7FA"/>
          </a:solidFill>
          <a:ln w="12700">
            <a:solidFill>
              <a:srgbClr val="F5F7FA"/>
            </a:solidFill>
            <a:prstDash val="solid"/>
          </a:ln>
        </p:spPr>
        <p:txBody>
          <a:bodyPr/>
          <a:p/>
        </p:txBody>
      </p:sp>
      <p:sp>
        <p:nvSpPr>
          <p:cNvPr id="48" name="Text 46"/>
          <p:cNvSpPr txBox="1"/>
          <p:nvPr/>
        </p:nvSpPr>
        <p:spPr>
          <a:xfrm>
            <a:off x="320040" y="3026664"/>
            <a:ext cx="521208" cy="256032"/>
          </a:xfrm>
          <a:prstGeom prst="rect">
            <a:avLst/>
          </a:prstGeom>
          <a:noFill/>
          <a:ln/>
        </p:spPr>
        <p:txBody>
          <a:bodyPr wrap="square" lIns="25400" tIns="25400" rIns="25400" bIns="25400" rtlCol="0" anchor="ctr"/>
          <a:lstStyle/>
          <a:p>
            <a:pPr algn="ctr" indent="0" marL="0">
              <a:buNone/>
            </a:pPr>
            <a:r>
              <a:rPr lang="en-US" sz="1000" dirty="0">
                <a:solidFill>
                  <a:srgbClr val="1A202C"/>
                </a:solidFill>
                <a:latin typeface="Calibri" pitchFamily="34" charset="0"/>
                <a:ea typeface="Calibri" pitchFamily="34" charset="-122"/>
                <a:cs typeface="Calibri" pitchFamily="34" charset="-120"/>
              </a:rPr>
              <a:t>TC05</a:t>
            </a:r>
            <a:endParaRPr lang="en-US" sz="1000" dirty="0"/>
          </a:p>
        </p:txBody>
      </p:sp>
      <p:sp>
        <p:nvSpPr>
          <p:cNvPr id="49" name="Shape 47"/>
          <p:cNvSpPr/>
          <p:nvPr/>
        </p:nvSpPr>
        <p:spPr>
          <a:xfrm>
            <a:off x="868680" y="3008376"/>
            <a:ext cx="3840480" cy="292608"/>
          </a:xfrm>
          <a:prstGeom prst="rect">
            <a:avLst/>
          </a:prstGeom>
          <a:solidFill>
            <a:srgbClr val="F5F7FA"/>
          </a:solidFill>
          <a:ln w="12700">
            <a:solidFill>
              <a:srgbClr val="F5F7FA"/>
            </a:solidFill>
            <a:prstDash val="solid"/>
          </a:ln>
        </p:spPr>
        <p:txBody>
          <a:bodyPr/>
          <a:p/>
        </p:txBody>
      </p:sp>
      <p:sp>
        <p:nvSpPr>
          <p:cNvPr id="50" name="Text 48"/>
          <p:cNvSpPr txBox="1"/>
          <p:nvPr/>
        </p:nvSpPr>
        <p:spPr>
          <a:xfrm>
            <a:off x="914400" y="3026664"/>
            <a:ext cx="3767328" cy="256032"/>
          </a:xfrm>
          <a:prstGeom prst="rect">
            <a:avLst/>
          </a:prstGeom>
          <a:noFill/>
          <a:ln/>
        </p:spPr>
        <p:txBody>
          <a:bodyPr wrap="square" lIns="25400" tIns="25400" rIns="25400" bIns="25400" rtlCol="0" anchor="ctr"/>
          <a:lstStyle/>
          <a:p>
            <a:pPr algn="ctr" indent="0" marL="0">
              <a:buNone/>
            </a:pPr>
            <a:r>
              <a:rPr lang="en-US" sz="1000" dirty="0">
                <a:solidFill>
                  <a:srgbClr val="1A202C"/>
                </a:solidFill>
                <a:latin typeface="Calibri" pitchFamily="34" charset="0"/>
                <a:ea typeface="Calibri" pitchFamily="34" charset="-122"/>
                <a:cs typeface="Calibri" pitchFamily="34" charset="-120"/>
              </a:rPr>
              <a:t>Cross-user farm access (OWASP A01)</a:t>
            </a:r>
            <a:endParaRPr lang="en-US" sz="1000" dirty="0"/>
          </a:p>
        </p:txBody>
      </p:sp>
      <p:sp>
        <p:nvSpPr>
          <p:cNvPr id="51" name="Shape 49"/>
          <p:cNvSpPr/>
          <p:nvPr/>
        </p:nvSpPr>
        <p:spPr>
          <a:xfrm>
            <a:off x="4709160" y="3008376"/>
            <a:ext cx="4023360" cy="292608"/>
          </a:xfrm>
          <a:prstGeom prst="rect">
            <a:avLst/>
          </a:prstGeom>
          <a:solidFill>
            <a:srgbClr val="F5F7FA"/>
          </a:solidFill>
          <a:ln w="12700">
            <a:solidFill>
              <a:srgbClr val="F5F7FA"/>
            </a:solidFill>
            <a:prstDash val="solid"/>
          </a:ln>
        </p:spPr>
        <p:txBody>
          <a:bodyPr/>
          <a:p/>
        </p:txBody>
      </p:sp>
      <p:sp>
        <p:nvSpPr>
          <p:cNvPr id="52" name="Text 50"/>
          <p:cNvSpPr txBox="1"/>
          <p:nvPr/>
        </p:nvSpPr>
        <p:spPr>
          <a:xfrm>
            <a:off x="4754880" y="3026664"/>
            <a:ext cx="3950208" cy="256032"/>
          </a:xfrm>
          <a:prstGeom prst="rect">
            <a:avLst/>
          </a:prstGeom>
          <a:noFill/>
          <a:ln/>
        </p:spPr>
        <p:txBody>
          <a:bodyPr wrap="square" lIns="25400" tIns="25400" rIns="25400" bIns="25400" rtlCol="0" anchor="ctr"/>
          <a:lstStyle/>
          <a:p>
            <a:pPr algn="ctr" indent="0" marL="0">
              <a:buNone/>
            </a:pPr>
            <a:r>
              <a:rPr lang="en-US" sz="1000" dirty="0">
                <a:solidFill>
                  <a:srgbClr val="1A202C"/>
                </a:solidFill>
                <a:latin typeface="Calibri" pitchFamily="34" charset="0"/>
                <a:ea typeface="Calibri" pitchFamily="34" charset="-122"/>
                <a:cs typeface="Calibri" pitchFamily="34" charset="-120"/>
              </a:rPr>
              <a:t>404 Not Found — hides existence</a:t>
            </a:r>
            <a:endParaRPr lang="en-US" sz="1000" dirty="0"/>
          </a:p>
        </p:txBody>
      </p:sp>
      <p:sp>
        <p:nvSpPr>
          <p:cNvPr id="53" name="Shape 51"/>
          <p:cNvSpPr/>
          <p:nvPr/>
        </p:nvSpPr>
        <p:spPr>
          <a:xfrm>
            <a:off x="8732520" y="3008376"/>
            <a:ext cx="1188720" cy="292608"/>
          </a:xfrm>
          <a:prstGeom prst="rect">
            <a:avLst/>
          </a:prstGeom>
          <a:solidFill>
            <a:srgbClr val="F5F7FA"/>
          </a:solidFill>
          <a:ln w="12700">
            <a:solidFill>
              <a:srgbClr val="F5F7FA"/>
            </a:solidFill>
            <a:prstDash val="solid"/>
          </a:ln>
        </p:spPr>
        <p:txBody>
          <a:bodyPr/>
          <a:p/>
        </p:txBody>
      </p:sp>
      <p:sp>
        <p:nvSpPr>
          <p:cNvPr id="54" name="Text 52"/>
          <p:cNvSpPr txBox="1"/>
          <p:nvPr/>
        </p:nvSpPr>
        <p:spPr>
          <a:xfrm>
            <a:off x="8778240" y="3026664"/>
            <a:ext cx="1115568" cy="256032"/>
          </a:xfrm>
          <a:prstGeom prst="rect">
            <a:avLst/>
          </a:prstGeom>
          <a:noFill/>
          <a:ln/>
        </p:spPr>
        <p:txBody>
          <a:bodyPr wrap="square" lIns="25400" tIns="25400" rIns="25400" bIns="25400" rtlCol="0" anchor="ctr"/>
          <a:lstStyle/>
          <a:p>
            <a:pPr algn="ctr" indent="0" marL="0">
              <a:buNone/>
            </a:pPr>
            <a:r>
              <a:rPr lang="en-US" sz="1000" b="1" dirty="0">
                <a:solidFill>
                  <a:srgbClr val="0A5C36"/>
                </a:solidFill>
                <a:latin typeface="Calibri" pitchFamily="34" charset="0"/>
                <a:ea typeface="Calibri" pitchFamily="34" charset="-122"/>
                <a:cs typeface="Calibri" pitchFamily="34" charset="-120"/>
              </a:rPr>
              <a:t>✅ PASS</a:t>
            </a:r>
            <a:endParaRPr lang="en-US" sz="1000" dirty="0"/>
          </a:p>
        </p:txBody>
      </p:sp>
      <p:sp>
        <p:nvSpPr>
          <p:cNvPr id="55" name="Shape 53"/>
          <p:cNvSpPr/>
          <p:nvPr/>
        </p:nvSpPr>
        <p:spPr>
          <a:xfrm>
            <a:off x="274320" y="3300984"/>
            <a:ext cx="594360" cy="292608"/>
          </a:xfrm>
          <a:prstGeom prst="rect">
            <a:avLst/>
          </a:prstGeom>
          <a:solidFill>
            <a:srgbClr val="E6F4F5"/>
          </a:solidFill>
          <a:ln w="12700">
            <a:solidFill>
              <a:srgbClr val="E6F4F5"/>
            </a:solidFill>
            <a:prstDash val="solid"/>
          </a:ln>
        </p:spPr>
        <p:txBody>
          <a:bodyPr/>
          <a:p/>
        </p:txBody>
      </p:sp>
      <p:sp>
        <p:nvSpPr>
          <p:cNvPr id="56" name="Text 54"/>
          <p:cNvSpPr txBox="1"/>
          <p:nvPr/>
        </p:nvSpPr>
        <p:spPr>
          <a:xfrm>
            <a:off x="320040" y="3319272"/>
            <a:ext cx="521208" cy="256032"/>
          </a:xfrm>
          <a:prstGeom prst="rect">
            <a:avLst/>
          </a:prstGeom>
          <a:noFill/>
          <a:ln/>
        </p:spPr>
        <p:txBody>
          <a:bodyPr wrap="square" lIns="25400" tIns="25400" rIns="25400" bIns="25400" rtlCol="0" anchor="ctr"/>
          <a:lstStyle/>
          <a:p>
            <a:pPr algn="ctr" indent="0" marL="0">
              <a:buNone/>
            </a:pPr>
            <a:r>
              <a:rPr lang="en-US" sz="1000" dirty="0">
                <a:solidFill>
                  <a:srgbClr val="1A202C"/>
                </a:solidFill>
                <a:latin typeface="Calibri" pitchFamily="34" charset="0"/>
                <a:ea typeface="Calibri" pitchFamily="34" charset="-122"/>
                <a:cs typeface="Calibri" pitchFamily="34" charset="-120"/>
              </a:rPr>
              <a:t>TC06</a:t>
            </a:r>
            <a:endParaRPr lang="en-US" sz="1000" dirty="0"/>
          </a:p>
        </p:txBody>
      </p:sp>
      <p:sp>
        <p:nvSpPr>
          <p:cNvPr id="57" name="Shape 55"/>
          <p:cNvSpPr/>
          <p:nvPr/>
        </p:nvSpPr>
        <p:spPr>
          <a:xfrm>
            <a:off x="868680" y="3300984"/>
            <a:ext cx="3840480" cy="292608"/>
          </a:xfrm>
          <a:prstGeom prst="rect">
            <a:avLst/>
          </a:prstGeom>
          <a:solidFill>
            <a:srgbClr val="E6F4F5"/>
          </a:solidFill>
          <a:ln w="12700">
            <a:solidFill>
              <a:srgbClr val="E6F4F5"/>
            </a:solidFill>
            <a:prstDash val="solid"/>
          </a:ln>
        </p:spPr>
        <p:txBody>
          <a:bodyPr/>
          <a:p/>
        </p:txBody>
      </p:sp>
      <p:sp>
        <p:nvSpPr>
          <p:cNvPr id="58" name="Text 56"/>
          <p:cNvSpPr txBox="1"/>
          <p:nvPr/>
        </p:nvSpPr>
        <p:spPr>
          <a:xfrm>
            <a:off x="914400" y="3319272"/>
            <a:ext cx="3767328" cy="256032"/>
          </a:xfrm>
          <a:prstGeom prst="rect">
            <a:avLst/>
          </a:prstGeom>
          <a:noFill/>
          <a:ln/>
        </p:spPr>
        <p:txBody>
          <a:bodyPr wrap="square" lIns="25400" tIns="25400" rIns="25400" bIns="25400" rtlCol="0" anchor="ctr"/>
          <a:lstStyle/>
          <a:p>
            <a:pPr algn="ctr" indent="0" marL="0">
              <a:buNone/>
            </a:pPr>
            <a:r>
              <a:rPr lang="en-US" sz="1000" dirty="0">
                <a:solidFill>
                  <a:srgbClr val="1A202C"/>
                </a:solidFill>
                <a:latin typeface="Calibri" pitchFamily="34" charset="0"/>
                <a:ea typeface="Calibri" pitchFamily="34" charset="-122"/>
                <a:cs typeface="Calibri" pitchFamily="34" charset="-120"/>
              </a:rPr>
              <a:t>Create farm with valid user data</a:t>
            </a:r>
            <a:endParaRPr lang="en-US" sz="1000" dirty="0"/>
          </a:p>
        </p:txBody>
      </p:sp>
      <p:sp>
        <p:nvSpPr>
          <p:cNvPr id="59" name="Shape 57"/>
          <p:cNvSpPr/>
          <p:nvPr/>
        </p:nvSpPr>
        <p:spPr>
          <a:xfrm>
            <a:off x="4709160" y="3300984"/>
            <a:ext cx="4023360" cy="292608"/>
          </a:xfrm>
          <a:prstGeom prst="rect">
            <a:avLst/>
          </a:prstGeom>
          <a:solidFill>
            <a:srgbClr val="E6F4F5"/>
          </a:solidFill>
          <a:ln w="12700">
            <a:solidFill>
              <a:srgbClr val="E6F4F5"/>
            </a:solidFill>
            <a:prstDash val="solid"/>
          </a:ln>
        </p:spPr>
        <p:txBody>
          <a:bodyPr/>
          <a:p/>
        </p:txBody>
      </p:sp>
      <p:sp>
        <p:nvSpPr>
          <p:cNvPr id="60" name="Text 58"/>
          <p:cNvSpPr txBox="1"/>
          <p:nvPr/>
        </p:nvSpPr>
        <p:spPr>
          <a:xfrm>
            <a:off x="4754880" y="3319272"/>
            <a:ext cx="3950208" cy="256032"/>
          </a:xfrm>
          <a:prstGeom prst="rect">
            <a:avLst/>
          </a:prstGeom>
          <a:noFill/>
          <a:ln/>
        </p:spPr>
        <p:txBody>
          <a:bodyPr wrap="square" lIns="25400" tIns="25400" rIns="25400" bIns="25400" rtlCol="0" anchor="ctr"/>
          <a:lstStyle/>
          <a:p>
            <a:pPr algn="ctr" indent="0" marL="0">
              <a:buNone/>
            </a:pPr>
            <a:r>
              <a:rPr lang="en-US" sz="1000" dirty="0">
                <a:solidFill>
                  <a:srgbClr val="1A202C"/>
                </a:solidFill>
                <a:latin typeface="Calibri" pitchFamily="34" charset="0"/>
                <a:ea typeface="Calibri" pitchFamily="34" charset="-122"/>
                <a:cs typeface="Calibri" pitchFamily="34" charset="-120"/>
              </a:rPr>
              <a:t>201 Created</a:t>
            </a:r>
            <a:endParaRPr lang="en-US" sz="1000" dirty="0"/>
          </a:p>
        </p:txBody>
      </p:sp>
      <p:sp>
        <p:nvSpPr>
          <p:cNvPr id="61" name="Shape 59"/>
          <p:cNvSpPr/>
          <p:nvPr/>
        </p:nvSpPr>
        <p:spPr>
          <a:xfrm>
            <a:off x="8732520" y="3300984"/>
            <a:ext cx="1188720" cy="292608"/>
          </a:xfrm>
          <a:prstGeom prst="rect">
            <a:avLst/>
          </a:prstGeom>
          <a:solidFill>
            <a:srgbClr val="E6F4F5"/>
          </a:solidFill>
          <a:ln w="12700">
            <a:solidFill>
              <a:srgbClr val="E6F4F5"/>
            </a:solidFill>
            <a:prstDash val="solid"/>
          </a:ln>
        </p:spPr>
        <p:txBody>
          <a:bodyPr/>
          <a:p/>
        </p:txBody>
      </p:sp>
      <p:sp>
        <p:nvSpPr>
          <p:cNvPr id="62" name="Text 60"/>
          <p:cNvSpPr txBox="1"/>
          <p:nvPr/>
        </p:nvSpPr>
        <p:spPr>
          <a:xfrm>
            <a:off x="8778240" y="3319272"/>
            <a:ext cx="1115568" cy="256032"/>
          </a:xfrm>
          <a:prstGeom prst="rect">
            <a:avLst/>
          </a:prstGeom>
          <a:noFill/>
          <a:ln/>
        </p:spPr>
        <p:txBody>
          <a:bodyPr wrap="square" lIns="25400" tIns="25400" rIns="25400" bIns="25400" rtlCol="0" anchor="ctr"/>
          <a:lstStyle/>
          <a:p>
            <a:pPr algn="ctr" indent="0" marL="0">
              <a:buNone/>
            </a:pPr>
            <a:r>
              <a:rPr lang="en-US" sz="1000" b="1" dirty="0">
                <a:solidFill>
                  <a:srgbClr val="0A5C36"/>
                </a:solidFill>
                <a:latin typeface="Calibri" pitchFamily="34" charset="0"/>
                <a:ea typeface="Calibri" pitchFamily="34" charset="-122"/>
                <a:cs typeface="Calibri" pitchFamily="34" charset="-120"/>
              </a:rPr>
              <a:t>✅ PASS</a:t>
            </a:r>
            <a:endParaRPr lang="en-US" sz="1000" dirty="0"/>
          </a:p>
        </p:txBody>
      </p:sp>
      <p:sp>
        <p:nvSpPr>
          <p:cNvPr id="63" name="Shape 61"/>
          <p:cNvSpPr/>
          <p:nvPr/>
        </p:nvSpPr>
        <p:spPr>
          <a:xfrm>
            <a:off x="274320" y="3593592"/>
            <a:ext cx="594360" cy="292608"/>
          </a:xfrm>
          <a:prstGeom prst="rect">
            <a:avLst/>
          </a:prstGeom>
          <a:solidFill>
            <a:srgbClr val="F5F7FA"/>
          </a:solidFill>
          <a:ln w="12700">
            <a:solidFill>
              <a:srgbClr val="F5F7FA"/>
            </a:solidFill>
            <a:prstDash val="solid"/>
          </a:ln>
        </p:spPr>
        <p:txBody>
          <a:bodyPr/>
          <a:p/>
        </p:txBody>
      </p:sp>
      <p:sp>
        <p:nvSpPr>
          <p:cNvPr id="64" name="Text 62"/>
          <p:cNvSpPr txBox="1"/>
          <p:nvPr/>
        </p:nvSpPr>
        <p:spPr>
          <a:xfrm>
            <a:off x="320040" y="3611880"/>
            <a:ext cx="521208" cy="256032"/>
          </a:xfrm>
          <a:prstGeom prst="rect">
            <a:avLst/>
          </a:prstGeom>
          <a:noFill/>
          <a:ln/>
        </p:spPr>
        <p:txBody>
          <a:bodyPr wrap="square" lIns="25400" tIns="25400" rIns="25400" bIns="25400" rtlCol="0" anchor="ctr"/>
          <a:lstStyle/>
          <a:p>
            <a:pPr algn="ctr" indent="0" marL="0">
              <a:buNone/>
            </a:pPr>
            <a:r>
              <a:rPr lang="en-US" sz="1000" dirty="0">
                <a:solidFill>
                  <a:srgbClr val="1A202C"/>
                </a:solidFill>
                <a:latin typeface="Calibri" pitchFamily="34" charset="0"/>
                <a:ea typeface="Calibri" pitchFamily="34" charset="-122"/>
                <a:cs typeface="Calibri" pitchFamily="34" charset="-120"/>
              </a:rPr>
              <a:t>TC07</a:t>
            </a:r>
            <a:endParaRPr lang="en-US" sz="1000" dirty="0"/>
          </a:p>
        </p:txBody>
      </p:sp>
      <p:sp>
        <p:nvSpPr>
          <p:cNvPr id="65" name="Shape 63"/>
          <p:cNvSpPr/>
          <p:nvPr/>
        </p:nvSpPr>
        <p:spPr>
          <a:xfrm>
            <a:off x="868680" y="3593592"/>
            <a:ext cx="3840480" cy="292608"/>
          </a:xfrm>
          <a:prstGeom prst="rect">
            <a:avLst/>
          </a:prstGeom>
          <a:solidFill>
            <a:srgbClr val="F5F7FA"/>
          </a:solidFill>
          <a:ln w="12700">
            <a:solidFill>
              <a:srgbClr val="F5F7FA"/>
            </a:solidFill>
            <a:prstDash val="solid"/>
          </a:ln>
        </p:spPr>
        <p:txBody>
          <a:bodyPr/>
          <a:p/>
        </p:txBody>
      </p:sp>
      <p:sp>
        <p:nvSpPr>
          <p:cNvPr id="66" name="Text 64"/>
          <p:cNvSpPr txBox="1"/>
          <p:nvPr/>
        </p:nvSpPr>
        <p:spPr>
          <a:xfrm>
            <a:off x="914400" y="3611880"/>
            <a:ext cx="3767328" cy="256032"/>
          </a:xfrm>
          <a:prstGeom prst="rect">
            <a:avLst/>
          </a:prstGeom>
          <a:noFill/>
          <a:ln/>
        </p:spPr>
        <p:txBody>
          <a:bodyPr wrap="square" lIns="25400" tIns="25400" rIns="25400" bIns="25400" rtlCol="0" anchor="ctr"/>
          <a:lstStyle/>
          <a:p>
            <a:pPr algn="ctr" indent="0" marL="0">
              <a:buNone/>
            </a:pPr>
            <a:r>
              <a:rPr lang="en-US" sz="1000" dirty="0">
                <a:solidFill>
                  <a:srgbClr val="1A202C"/>
                </a:solidFill>
                <a:latin typeface="Calibri" pitchFamily="34" charset="0"/>
                <a:ea typeface="Calibri" pitchFamily="34" charset="-122"/>
                <a:cs typeface="Calibri" pitchFamily="34" charset="-120"/>
              </a:rPr>
              <a:t>Create growing unit within farm</a:t>
            </a:r>
            <a:endParaRPr lang="en-US" sz="1000" dirty="0"/>
          </a:p>
        </p:txBody>
      </p:sp>
      <p:sp>
        <p:nvSpPr>
          <p:cNvPr id="67" name="Shape 65"/>
          <p:cNvSpPr/>
          <p:nvPr/>
        </p:nvSpPr>
        <p:spPr>
          <a:xfrm>
            <a:off x="4709160" y="3593592"/>
            <a:ext cx="4023360" cy="292608"/>
          </a:xfrm>
          <a:prstGeom prst="rect">
            <a:avLst/>
          </a:prstGeom>
          <a:solidFill>
            <a:srgbClr val="F5F7FA"/>
          </a:solidFill>
          <a:ln w="12700">
            <a:solidFill>
              <a:srgbClr val="F5F7FA"/>
            </a:solidFill>
            <a:prstDash val="solid"/>
          </a:ln>
        </p:spPr>
        <p:txBody>
          <a:bodyPr/>
          <a:p/>
        </p:txBody>
      </p:sp>
      <p:sp>
        <p:nvSpPr>
          <p:cNvPr id="68" name="Text 66"/>
          <p:cNvSpPr txBox="1"/>
          <p:nvPr/>
        </p:nvSpPr>
        <p:spPr>
          <a:xfrm>
            <a:off x="4754880" y="3611880"/>
            <a:ext cx="3950208" cy="256032"/>
          </a:xfrm>
          <a:prstGeom prst="rect">
            <a:avLst/>
          </a:prstGeom>
          <a:noFill/>
          <a:ln/>
        </p:spPr>
        <p:txBody>
          <a:bodyPr wrap="square" lIns="25400" tIns="25400" rIns="25400" bIns="25400" rtlCol="0" anchor="ctr"/>
          <a:lstStyle/>
          <a:p>
            <a:pPr algn="ctr" indent="0" marL="0">
              <a:buNone/>
            </a:pPr>
            <a:r>
              <a:rPr lang="en-US" sz="1000" dirty="0">
                <a:solidFill>
                  <a:srgbClr val="1A202C"/>
                </a:solidFill>
                <a:latin typeface="Calibri" pitchFamily="34" charset="0"/>
                <a:ea typeface="Calibri" pitchFamily="34" charset="-122"/>
                <a:cs typeface="Calibri" pitchFamily="34" charset="-120"/>
              </a:rPr>
              <a:t>201 Created</a:t>
            </a:r>
            <a:endParaRPr lang="en-US" sz="1000" dirty="0"/>
          </a:p>
        </p:txBody>
      </p:sp>
      <p:sp>
        <p:nvSpPr>
          <p:cNvPr id="69" name="Shape 67"/>
          <p:cNvSpPr/>
          <p:nvPr/>
        </p:nvSpPr>
        <p:spPr>
          <a:xfrm>
            <a:off x="8732520" y="3593592"/>
            <a:ext cx="1188720" cy="292608"/>
          </a:xfrm>
          <a:prstGeom prst="rect">
            <a:avLst/>
          </a:prstGeom>
          <a:solidFill>
            <a:srgbClr val="F5F7FA"/>
          </a:solidFill>
          <a:ln w="12700">
            <a:solidFill>
              <a:srgbClr val="F5F7FA"/>
            </a:solidFill>
            <a:prstDash val="solid"/>
          </a:ln>
        </p:spPr>
        <p:txBody>
          <a:bodyPr/>
          <a:p/>
        </p:txBody>
      </p:sp>
      <p:sp>
        <p:nvSpPr>
          <p:cNvPr id="70" name="Text 68"/>
          <p:cNvSpPr txBox="1"/>
          <p:nvPr/>
        </p:nvSpPr>
        <p:spPr>
          <a:xfrm>
            <a:off x="8778240" y="3611880"/>
            <a:ext cx="1115568" cy="256032"/>
          </a:xfrm>
          <a:prstGeom prst="rect">
            <a:avLst/>
          </a:prstGeom>
          <a:noFill/>
          <a:ln/>
        </p:spPr>
        <p:txBody>
          <a:bodyPr wrap="square" lIns="25400" tIns="25400" rIns="25400" bIns="25400" rtlCol="0" anchor="ctr"/>
          <a:lstStyle/>
          <a:p>
            <a:pPr algn="ctr" indent="0" marL="0">
              <a:buNone/>
            </a:pPr>
            <a:r>
              <a:rPr lang="en-US" sz="1000" b="1" dirty="0">
                <a:solidFill>
                  <a:srgbClr val="0A5C36"/>
                </a:solidFill>
                <a:latin typeface="Calibri" pitchFamily="34" charset="0"/>
                <a:ea typeface="Calibri" pitchFamily="34" charset="-122"/>
                <a:cs typeface="Calibri" pitchFamily="34" charset="-120"/>
              </a:rPr>
              <a:t>✅ PASS</a:t>
            </a:r>
            <a:endParaRPr lang="en-US" sz="1000" dirty="0"/>
          </a:p>
        </p:txBody>
      </p:sp>
      <p:sp>
        <p:nvSpPr>
          <p:cNvPr id="71" name="Shape 69"/>
          <p:cNvSpPr/>
          <p:nvPr/>
        </p:nvSpPr>
        <p:spPr>
          <a:xfrm>
            <a:off x="274320" y="3886200"/>
            <a:ext cx="594360" cy="292608"/>
          </a:xfrm>
          <a:prstGeom prst="rect">
            <a:avLst/>
          </a:prstGeom>
          <a:solidFill>
            <a:srgbClr val="E6F4F5"/>
          </a:solidFill>
          <a:ln w="12700">
            <a:solidFill>
              <a:srgbClr val="E6F4F5"/>
            </a:solidFill>
            <a:prstDash val="solid"/>
          </a:ln>
        </p:spPr>
        <p:txBody>
          <a:bodyPr/>
          <a:p/>
        </p:txBody>
      </p:sp>
      <p:sp>
        <p:nvSpPr>
          <p:cNvPr id="72" name="Text 70"/>
          <p:cNvSpPr txBox="1"/>
          <p:nvPr/>
        </p:nvSpPr>
        <p:spPr>
          <a:xfrm>
            <a:off x="320040" y="3904488"/>
            <a:ext cx="521208" cy="256032"/>
          </a:xfrm>
          <a:prstGeom prst="rect">
            <a:avLst/>
          </a:prstGeom>
          <a:noFill/>
          <a:ln/>
        </p:spPr>
        <p:txBody>
          <a:bodyPr wrap="square" lIns="25400" tIns="25400" rIns="25400" bIns="25400" rtlCol="0" anchor="ctr"/>
          <a:lstStyle/>
          <a:p>
            <a:pPr algn="ctr" indent="0" marL="0">
              <a:buNone/>
            </a:pPr>
            <a:r>
              <a:rPr lang="en-US" sz="1000" dirty="0">
                <a:solidFill>
                  <a:srgbClr val="1A202C"/>
                </a:solidFill>
                <a:latin typeface="Calibri" pitchFamily="34" charset="0"/>
                <a:ea typeface="Calibri" pitchFamily="34" charset="-122"/>
                <a:cs typeface="Calibri" pitchFamily="34" charset="-120"/>
              </a:rPr>
              <a:t>TC08</a:t>
            </a:r>
            <a:endParaRPr lang="en-US" sz="1000" dirty="0"/>
          </a:p>
        </p:txBody>
      </p:sp>
      <p:sp>
        <p:nvSpPr>
          <p:cNvPr id="73" name="Shape 71"/>
          <p:cNvSpPr/>
          <p:nvPr/>
        </p:nvSpPr>
        <p:spPr>
          <a:xfrm>
            <a:off x="868680" y="3886200"/>
            <a:ext cx="3840480" cy="292608"/>
          </a:xfrm>
          <a:prstGeom prst="rect">
            <a:avLst/>
          </a:prstGeom>
          <a:solidFill>
            <a:srgbClr val="E6F4F5"/>
          </a:solidFill>
          <a:ln w="12700">
            <a:solidFill>
              <a:srgbClr val="E6F4F5"/>
            </a:solidFill>
            <a:prstDash val="solid"/>
          </a:ln>
        </p:spPr>
        <p:txBody>
          <a:bodyPr/>
          <a:p/>
        </p:txBody>
      </p:sp>
      <p:sp>
        <p:nvSpPr>
          <p:cNvPr id="74" name="Text 72"/>
          <p:cNvSpPr txBox="1"/>
          <p:nvPr/>
        </p:nvSpPr>
        <p:spPr>
          <a:xfrm>
            <a:off x="914400" y="3904488"/>
            <a:ext cx="3767328" cy="256032"/>
          </a:xfrm>
          <a:prstGeom prst="rect">
            <a:avLst/>
          </a:prstGeom>
          <a:noFill/>
          <a:ln/>
        </p:spPr>
        <p:txBody>
          <a:bodyPr wrap="square" lIns="25400" tIns="25400" rIns="25400" bIns="25400" rtlCol="0" anchor="ctr"/>
          <a:lstStyle/>
          <a:p>
            <a:pPr algn="ctr" indent="0" marL="0">
              <a:buNone/>
            </a:pPr>
            <a:r>
              <a:rPr lang="en-US" sz="1000" dirty="0">
                <a:solidFill>
                  <a:srgbClr val="1A202C"/>
                </a:solidFill>
                <a:latin typeface="Calibri" pitchFamily="34" charset="0"/>
                <a:ea typeface="Calibri" pitchFamily="34" charset="-122"/>
                <a:cs typeface="Calibri" pitchFamily="34" charset="-120"/>
              </a:rPr>
              <a:t>Plant crop in growing unit</a:t>
            </a:r>
            <a:endParaRPr lang="en-US" sz="1000" dirty="0"/>
          </a:p>
        </p:txBody>
      </p:sp>
      <p:sp>
        <p:nvSpPr>
          <p:cNvPr id="75" name="Shape 73"/>
          <p:cNvSpPr/>
          <p:nvPr/>
        </p:nvSpPr>
        <p:spPr>
          <a:xfrm>
            <a:off x="4709160" y="3886200"/>
            <a:ext cx="4023360" cy="292608"/>
          </a:xfrm>
          <a:prstGeom prst="rect">
            <a:avLst/>
          </a:prstGeom>
          <a:solidFill>
            <a:srgbClr val="E6F4F5"/>
          </a:solidFill>
          <a:ln w="12700">
            <a:solidFill>
              <a:srgbClr val="E6F4F5"/>
            </a:solidFill>
            <a:prstDash val="solid"/>
          </a:ln>
        </p:spPr>
        <p:txBody>
          <a:bodyPr/>
          <a:p/>
        </p:txBody>
      </p:sp>
      <p:sp>
        <p:nvSpPr>
          <p:cNvPr id="76" name="Text 74"/>
          <p:cNvSpPr txBox="1"/>
          <p:nvPr/>
        </p:nvSpPr>
        <p:spPr>
          <a:xfrm>
            <a:off x="4754880" y="3904488"/>
            <a:ext cx="3950208" cy="256032"/>
          </a:xfrm>
          <a:prstGeom prst="rect">
            <a:avLst/>
          </a:prstGeom>
          <a:noFill/>
          <a:ln/>
        </p:spPr>
        <p:txBody>
          <a:bodyPr wrap="square" lIns="25400" tIns="25400" rIns="25400" bIns="25400" rtlCol="0" anchor="ctr"/>
          <a:lstStyle/>
          <a:p>
            <a:pPr algn="ctr" indent="0" marL="0">
              <a:buNone/>
            </a:pPr>
            <a:r>
              <a:rPr lang="en-US" sz="1000" dirty="0">
                <a:solidFill>
                  <a:srgbClr val="1A202C"/>
                </a:solidFill>
                <a:latin typeface="Calibri" pitchFamily="34" charset="0"/>
                <a:ea typeface="Calibri" pitchFamily="34" charset="-122"/>
                <a:cs typeface="Calibri" pitchFamily="34" charset="-120"/>
              </a:rPr>
              <a:t>201 Created</a:t>
            </a:r>
            <a:endParaRPr lang="en-US" sz="1000" dirty="0"/>
          </a:p>
        </p:txBody>
      </p:sp>
      <p:sp>
        <p:nvSpPr>
          <p:cNvPr id="77" name="Shape 75"/>
          <p:cNvSpPr/>
          <p:nvPr/>
        </p:nvSpPr>
        <p:spPr>
          <a:xfrm>
            <a:off x="8732520" y="3886200"/>
            <a:ext cx="1188720" cy="292608"/>
          </a:xfrm>
          <a:prstGeom prst="rect">
            <a:avLst/>
          </a:prstGeom>
          <a:solidFill>
            <a:srgbClr val="E6F4F5"/>
          </a:solidFill>
          <a:ln w="12700">
            <a:solidFill>
              <a:srgbClr val="E6F4F5"/>
            </a:solidFill>
            <a:prstDash val="solid"/>
          </a:ln>
        </p:spPr>
        <p:txBody>
          <a:bodyPr/>
          <a:p/>
        </p:txBody>
      </p:sp>
      <p:sp>
        <p:nvSpPr>
          <p:cNvPr id="78" name="Text 76"/>
          <p:cNvSpPr txBox="1"/>
          <p:nvPr/>
        </p:nvSpPr>
        <p:spPr>
          <a:xfrm>
            <a:off x="8778240" y="3904488"/>
            <a:ext cx="1115568" cy="256032"/>
          </a:xfrm>
          <a:prstGeom prst="rect">
            <a:avLst/>
          </a:prstGeom>
          <a:noFill/>
          <a:ln/>
        </p:spPr>
        <p:txBody>
          <a:bodyPr wrap="square" lIns="25400" tIns="25400" rIns="25400" bIns="25400" rtlCol="0" anchor="ctr"/>
          <a:lstStyle/>
          <a:p>
            <a:pPr algn="ctr" indent="0" marL="0">
              <a:buNone/>
            </a:pPr>
            <a:r>
              <a:rPr lang="en-US" sz="1000" b="1" dirty="0">
                <a:solidFill>
                  <a:srgbClr val="0A5C36"/>
                </a:solidFill>
                <a:latin typeface="Calibri" pitchFamily="34" charset="0"/>
                <a:ea typeface="Calibri" pitchFamily="34" charset="-122"/>
                <a:cs typeface="Calibri" pitchFamily="34" charset="-120"/>
              </a:rPr>
              <a:t>✅ PASS</a:t>
            </a:r>
            <a:endParaRPr lang="en-US" sz="1000" dirty="0"/>
          </a:p>
        </p:txBody>
      </p:sp>
      <p:sp>
        <p:nvSpPr>
          <p:cNvPr id="79" name="Shape 77"/>
          <p:cNvSpPr/>
          <p:nvPr/>
        </p:nvSpPr>
        <p:spPr>
          <a:xfrm>
            <a:off x="274320" y="4178808"/>
            <a:ext cx="594360" cy="292608"/>
          </a:xfrm>
          <a:prstGeom prst="rect">
            <a:avLst/>
          </a:prstGeom>
          <a:solidFill>
            <a:srgbClr val="F5F7FA"/>
          </a:solidFill>
          <a:ln w="12700">
            <a:solidFill>
              <a:srgbClr val="F5F7FA"/>
            </a:solidFill>
            <a:prstDash val="solid"/>
          </a:ln>
        </p:spPr>
        <p:txBody>
          <a:bodyPr/>
          <a:p/>
        </p:txBody>
      </p:sp>
      <p:sp>
        <p:nvSpPr>
          <p:cNvPr id="80" name="Text 78"/>
          <p:cNvSpPr txBox="1"/>
          <p:nvPr/>
        </p:nvSpPr>
        <p:spPr>
          <a:xfrm>
            <a:off x="320040" y="4197096"/>
            <a:ext cx="521208" cy="256032"/>
          </a:xfrm>
          <a:prstGeom prst="rect">
            <a:avLst/>
          </a:prstGeom>
          <a:noFill/>
          <a:ln/>
        </p:spPr>
        <p:txBody>
          <a:bodyPr wrap="square" lIns="25400" tIns="25400" rIns="25400" bIns="25400" rtlCol="0" anchor="ctr"/>
          <a:lstStyle/>
          <a:p>
            <a:pPr algn="ctr" indent="0" marL="0">
              <a:buNone/>
            </a:pPr>
            <a:r>
              <a:rPr lang="en-US" sz="1000" dirty="0">
                <a:solidFill>
                  <a:srgbClr val="1A202C"/>
                </a:solidFill>
                <a:latin typeface="Calibri" pitchFamily="34" charset="0"/>
                <a:ea typeface="Calibri" pitchFamily="34" charset="-122"/>
                <a:cs typeface="Calibri" pitchFamily="34" charset="-120"/>
              </a:rPr>
              <a:t>TC09</a:t>
            </a:r>
            <a:endParaRPr lang="en-US" sz="1000" dirty="0"/>
          </a:p>
        </p:txBody>
      </p:sp>
      <p:sp>
        <p:nvSpPr>
          <p:cNvPr id="81" name="Shape 79"/>
          <p:cNvSpPr/>
          <p:nvPr/>
        </p:nvSpPr>
        <p:spPr>
          <a:xfrm>
            <a:off x="868680" y="4178808"/>
            <a:ext cx="3840480" cy="292608"/>
          </a:xfrm>
          <a:prstGeom prst="rect">
            <a:avLst/>
          </a:prstGeom>
          <a:solidFill>
            <a:srgbClr val="F5F7FA"/>
          </a:solidFill>
          <a:ln w="12700">
            <a:solidFill>
              <a:srgbClr val="F5F7FA"/>
            </a:solidFill>
            <a:prstDash val="solid"/>
          </a:ln>
        </p:spPr>
        <p:txBody>
          <a:bodyPr/>
          <a:p/>
        </p:txBody>
      </p:sp>
      <p:sp>
        <p:nvSpPr>
          <p:cNvPr id="82" name="Text 80"/>
          <p:cNvSpPr txBox="1"/>
          <p:nvPr/>
        </p:nvSpPr>
        <p:spPr>
          <a:xfrm>
            <a:off x="914400" y="4197096"/>
            <a:ext cx="3767328" cy="256032"/>
          </a:xfrm>
          <a:prstGeom prst="rect">
            <a:avLst/>
          </a:prstGeom>
          <a:noFill/>
          <a:ln/>
        </p:spPr>
        <p:txBody>
          <a:bodyPr wrap="square" lIns="25400" tIns="25400" rIns="25400" bIns="25400" rtlCol="0" anchor="ctr"/>
          <a:lstStyle/>
          <a:p>
            <a:pPr algn="ctr" indent="0" marL="0">
              <a:buNone/>
            </a:pPr>
            <a:r>
              <a:rPr lang="en-US" sz="1000" dirty="0">
                <a:solidFill>
                  <a:srgbClr val="1A202C"/>
                </a:solidFill>
                <a:latin typeface="Calibri" pitchFamily="34" charset="0"/>
                <a:ea typeface="Calibri" pitchFamily="34" charset="-122"/>
                <a:cs typeface="Calibri" pitchFamily="34" charset="-120"/>
              </a:rPr>
              <a:t>Log irrigation activity</a:t>
            </a:r>
            <a:endParaRPr lang="en-US" sz="1000" dirty="0"/>
          </a:p>
        </p:txBody>
      </p:sp>
      <p:sp>
        <p:nvSpPr>
          <p:cNvPr id="83" name="Shape 81"/>
          <p:cNvSpPr/>
          <p:nvPr/>
        </p:nvSpPr>
        <p:spPr>
          <a:xfrm>
            <a:off x="4709160" y="4178808"/>
            <a:ext cx="4023360" cy="292608"/>
          </a:xfrm>
          <a:prstGeom prst="rect">
            <a:avLst/>
          </a:prstGeom>
          <a:solidFill>
            <a:srgbClr val="F5F7FA"/>
          </a:solidFill>
          <a:ln w="12700">
            <a:solidFill>
              <a:srgbClr val="F5F7FA"/>
            </a:solidFill>
            <a:prstDash val="solid"/>
          </a:ln>
        </p:spPr>
        <p:txBody>
          <a:bodyPr/>
          <a:p/>
        </p:txBody>
      </p:sp>
      <p:sp>
        <p:nvSpPr>
          <p:cNvPr id="84" name="Text 82"/>
          <p:cNvSpPr txBox="1"/>
          <p:nvPr/>
        </p:nvSpPr>
        <p:spPr>
          <a:xfrm>
            <a:off x="4754880" y="4197096"/>
            <a:ext cx="3950208" cy="256032"/>
          </a:xfrm>
          <a:prstGeom prst="rect">
            <a:avLst/>
          </a:prstGeom>
          <a:noFill/>
          <a:ln/>
        </p:spPr>
        <p:txBody>
          <a:bodyPr wrap="square" lIns="25400" tIns="25400" rIns="25400" bIns="25400" rtlCol="0" anchor="ctr"/>
          <a:lstStyle/>
          <a:p>
            <a:pPr algn="ctr" indent="0" marL="0">
              <a:buNone/>
            </a:pPr>
            <a:r>
              <a:rPr lang="en-US" sz="1000" dirty="0">
                <a:solidFill>
                  <a:srgbClr val="1A202C"/>
                </a:solidFill>
                <a:latin typeface="Calibri" pitchFamily="34" charset="0"/>
                <a:ea typeface="Calibri" pitchFamily="34" charset="-122"/>
                <a:cs typeface="Calibri" pitchFamily="34" charset="-120"/>
              </a:rPr>
              <a:t>201 Created</a:t>
            </a:r>
            <a:endParaRPr lang="en-US" sz="1000" dirty="0"/>
          </a:p>
        </p:txBody>
      </p:sp>
      <p:sp>
        <p:nvSpPr>
          <p:cNvPr id="85" name="Shape 83"/>
          <p:cNvSpPr/>
          <p:nvPr/>
        </p:nvSpPr>
        <p:spPr>
          <a:xfrm>
            <a:off x="8732520" y="4178808"/>
            <a:ext cx="1188720" cy="292608"/>
          </a:xfrm>
          <a:prstGeom prst="rect">
            <a:avLst/>
          </a:prstGeom>
          <a:solidFill>
            <a:srgbClr val="F5F7FA"/>
          </a:solidFill>
          <a:ln w="12700">
            <a:solidFill>
              <a:srgbClr val="F5F7FA"/>
            </a:solidFill>
            <a:prstDash val="solid"/>
          </a:ln>
        </p:spPr>
        <p:txBody>
          <a:bodyPr/>
          <a:p/>
        </p:txBody>
      </p:sp>
      <p:sp>
        <p:nvSpPr>
          <p:cNvPr id="86" name="Text 84"/>
          <p:cNvSpPr txBox="1"/>
          <p:nvPr/>
        </p:nvSpPr>
        <p:spPr>
          <a:xfrm>
            <a:off x="8778240" y="4197096"/>
            <a:ext cx="1115568" cy="256032"/>
          </a:xfrm>
          <a:prstGeom prst="rect">
            <a:avLst/>
          </a:prstGeom>
          <a:noFill/>
          <a:ln/>
        </p:spPr>
        <p:txBody>
          <a:bodyPr wrap="square" lIns="25400" tIns="25400" rIns="25400" bIns="25400" rtlCol="0" anchor="ctr"/>
          <a:lstStyle/>
          <a:p>
            <a:pPr algn="ctr" indent="0" marL="0">
              <a:buNone/>
            </a:pPr>
            <a:r>
              <a:rPr lang="en-US" sz="1000" b="1" dirty="0">
                <a:solidFill>
                  <a:srgbClr val="0A5C36"/>
                </a:solidFill>
                <a:latin typeface="Calibri" pitchFamily="34" charset="0"/>
                <a:ea typeface="Calibri" pitchFamily="34" charset="-122"/>
                <a:cs typeface="Calibri" pitchFamily="34" charset="-120"/>
              </a:rPr>
              <a:t>✅ PASS</a:t>
            </a:r>
            <a:endParaRPr lang="en-US" sz="1000" dirty="0"/>
          </a:p>
        </p:txBody>
      </p:sp>
      <p:sp>
        <p:nvSpPr>
          <p:cNvPr id="87" name="Shape 85"/>
          <p:cNvSpPr/>
          <p:nvPr/>
        </p:nvSpPr>
        <p:spPr>
          <a:xfrm>
            <a:off x="274320" y="4471416"/>
            <a:ext cx="594360" cy="292608"/>
          </a:xfrm>
          <a:prstGeom prst="rect">
            <a:avLst/>
          </a:prstGeom>
          <a:solidFill>
            <a:srgbClr val="E6F4F5"/>
          </a:solidFill>
          <a:ln w="12700">
            <a:solidFill>
              <a:srgbClr val="E6F4F5"/>
            </a:solidFill>
            <a:prstDash val="solid"/>
          </a:ln>
        </p:spPr>
        <p:txBody>
          <a:bodyPr/>
          <a:p/>
        </p:txBody>
      </p:sp>
      <p:sp>
        <p:nvSpPr>
          <p:cNvPr id="88" name="Text 86"/>
          <p:cNvSpPr txBox="1"/>
          <p:nvPr/>
        </p:nvSpPr>
        <p:spPr>
          <a:xfrm>
            <a:off x="320040" y="4489704"/>
            <a:ext cx="521208" cy="256032"/>
          </a:xfrm>
          <a:prstGeom prst="rect">
            <a:avLst/>
          </a:prstGeom>
          <a:noFill/>
          <a:ln/>
        </p:spPr>
        <p:txBody>
          <a:bodyPr wrap="square" lIns="25400" tIns="25400" rIns="25400" bIns="25400" rtlCol="0" anchor="ctr"/>
          <a:lstStyle/>
          <a:p>
            <a:pPr algn="ctr" indent="0" marL="0">
              <a:buNone/>
            </a:pPr>
            <a:r>
              <a:rPr lang="en-US" sz="1000" dirty="0">
                <a:solidFill>
                  <a:srgbClr val="1A202C"/>
                </a:solidFill>
                <a:latin typeface="Calibri" pitchFamily="34" charset="0"/>
                <a:ea typeface="Calibri" pitchFamily="34" charset="-122"/>
                <a:cs typeface="Calibri" pitchFamily="34" charset="-120"/>
              </a:rPr>
              <a:t>TC10</a:t>
            </a:r>
            <a:endParaRPr lang="en-US" sz="1000" dirty="0"/>
          </a:p>
        </p:txBody>
      </p:sp>
      <p:sp>
        <p:nvSpPr>
          <p:cNvPr id="89" name="Shape 87"/>
          <p:cNvSpPr/>
          <p:nvPr/>
        </p:nvSpPr>
        <p:spPr>
          <a:xfrm>
            <a:off x="868680" y="4471416"/>
            <a:ext cx="3840480" cy="292608"/>
          </a:xfrm>
          <a:prstGeom prst="rect">
            <a:avLst/>
          </a:prstGeom>
          <a:solidFill>
            <a:srgbClr val="E6F4F5"/>
          </a:solidFill>
          <a:ln w="12700">
            <a:solidFill>
              <a:srgbClr val="E6F4F5"/>
            </a:solidFill>
            <a:prstDash val="solid"/>
          </a:ln>
        </p:spPr>
        <p:txBody>
          <a:bodyPr/>
          <a:p/>
        </p:txBody>
      </p:sp>
      <p:sp>
        <p:nvSpPr>
          <p:cNvPr id="90" name="Text 88"/>
          <p:cNvSpPr txBox="1"/>
          <p:nvPr/>
        </p:nvSpPr>
        <p:spPr>
          <a:xfrm>
            <a:off x="914400" y="4489704"/>
            <a:ext cx="3767328" cy="256032"/>
          </a:xfrm>
          <a:prstGeom prst="rect">
            <a:avLst/>
          </a:prstGeom>
          <a:noFill/>
          <a:ln/>
        </p:spPr>
        <p:txBody>
          <a:bodyPr wrap="square" lIns="25400" tIns="25400" rIns="25400" bIns="25400" rtlCol="0" anchor="ctr"/>
          <a:lstStyle/>
          <a:p>
            <a:pPr algn="ctr" indent="0" marL="0">
              <a:buNone/>
            </a:pPr>
            <a:r>
              <a:rPr lang="en-US" sz="1000" dirty="0">
                <a:solidFill>
                  <a:srgbClr val="1A202C"/>
                </a:solidFill>
                <a:latin typeface="Calibri" pitchFamily="34" charset="0"/>
                <a:ea typeface="Calibri" pitchFamily="34" charset="-122"/>
                <a:cs typeface="Calibri" pitchFamily="34" charset="-120"/>
              </a:rPr>
              <a:t>Dashboard summary statistics</a:t>
            </a:r>
            <a:endParaRPr lang="en-US" sz="1000" dirty="0"/>
          </a:p>
        </p:txBody>
      </p:sp>
      <p:sp>
        <p:nvSpPr>
          <p:cNvPr id="91" name="Shape 89"/>
          <p:cNvSpPr/>
          <p:nvPr/>
        </p:nvSpPr>
        <p:spPr>
          <a:xfrm>
            <a:off x="4709160" y="4471416"/>
            <a:ext cx="4023360" cy="292608"/>
          </a:xfrm>
          <a:prstGeom prst="rect">
            <a:avLst/>
          </a:prstGeom>
          <a:solidFill>
            <a:srgbClr val="E6F4F5"/>
          </a:solidFill>
          <a:ln w="12700">
            <a:solidFill>
              <a:srgbClr val="E6F4F5"/>
            </a:solidFill>
            <a:prstDash val="solid"/>
          </a:ln>
        </p:spPr>
        <p:txBody>
          <a:bodyPr/>
          <a:p/>
        </p:txBody>
      </p:sp>
      <p:sp>
        <p:nvSpPr>
          <p:cNvPr id="92" name="Text 90"/>
          <p:cNvSpPr txBox="1"/>
          <p:nvPr/>
        </p:nvSpPr>
        <p:spPr>
          <a:xfrm>
            <a:off x="4754880" y="4489704"/>
            <a:ext cx="3950208" cy="256032"/>
          </a:xfrm>
          <a:prstGeom prst="rect">
            <a:avLst/>
          </a:prstGeom>
          <a:noFill/>
          <a:ln/>
        </p:spPr>
        <p:txBody>
          <a:bodyPr wrap="square" lIns="25400" tIns="25400" rIns="25400" bIns="25400" rtlCol="0" anchor="ctr"/>
          <a:lstStyle/>
          <a:p>
            <a:pPr algn="ctr" indent="0" marL="0">
              <a:buNone/>
            </a:pPr>
            <a:r>
              <a:rPr lang="en-US" sz="1000" dirty="0">
                <a:solidFill>
                  <a:srgbClr val="1A202C"/>
                </a:solidFill>
                <a:latin typeface="Calibri" pitchFamily="34" charset="0"/>
                <a:ea typeface="Calibri" pitchFamily="34" charset="-122"/>
                <a:cs typeface="Calibri" pitchFamily="34" charset="-120"/>
              </a:rPr>
              <a:t>200 + JSON stats object</a:t>
            </a:r>
            <a:endParaRPr lang="en-US" sz="1000" dirty="0"/>
          </a:p>
        </p:txBody>
      </p:sp>
      <p:sp>
        <p:nvSpPr>
          <p:cNvPr id="93" name="Shape 91"/>
          <p:cNvSpPr/>
          <p:nvPr/>
        </p:nvSpPr>
        <p:spPr>
          <a:xfrm>
            <a:off x="8732520" y="4471416"/>
            <a:ext cx="1188720" cy="292608"/>
          </a:xfrm>
          <a:prstGeom prst="rect">
            <a:avLst/>
          </a:prstGeom>
          <a:solidFill>
            <a:srgbClr val="E6F4F5"/>
          </a:solidFill>
          <a:ln w="12700">
            <a:solidFill>
              <a:srgbClr val="E6F4F5"/>
            </a:solidFill>
            <a:prstDash val="solid"/>
          </a:ln>
        </p:spPr>
        <p:txBody>
          <a:bodyPr/>
          <a:p/>
        </p:txBody>
      </p:sp>
      <p:sp>
        <p:nvSpPr>
          <p:cNvPr id="94" name="Text 92"/>
          <p:cNvSpPr txBox="1"/>
          <p:nvPr/>
        </p:nvSpPr>
        <p:spPr>
          <a:xfrm>
            <a:off x="8778240" y="4489704"/>
            <a:ext cx="1115568" cy="256032"/>
          </a:xfrm>
          <a:prstGeom prst="rect">
            <a:avLst/>
          </a:prstGeom>
          <a:noFill/>
          <a:ln/>
        </p:spPr>
        <p:txBody>
          <a:bodyPr wrap="square" lIns="25400" tIns="25400" rIns="25400" bIns="25400" rtlCol="0" anchor="ctr"/>
          <a:lstStyle/>
          <a:p>
            <a:pPr algn="ctr" indent="0" marL="0">
              <a:buNone/>
            </a:pPr>
            <a:r>
              <a:rPr lang="en-US" sz="1000" b="1" dirty="0">
                <a:solidFill>
                  <a:srgbClr val="0A5C36"/>
                </a:solidFill>
                <a:latin typeface="Calibri" pitchFamily="34" charset="0"/>
                <a:ea typeface="Calibri" pitchFamily="34" charset="-122"/>
                <a:cs typeface="Calibri" pitchFamily="34" charset="-120"/>
              </a:rPr>
              <a:t>✅ PASS</a:t>
            </a:r>
            <a:endParaRPr lang="en-US" sz="1000" dirty="0"/>
          </a:p>
        </p:txBody>
      </p:sp>
      <p:sp>
        <p:nvSpPr>
          <p:cNvPr id="95" name="Shape 93"/>
          <p:cNvSpPr/>
          <p:nvPr/>
        </p:nvSpPr>
        <p:spPr>
          <a:xfrm>
            <a:off x="274320" y="4764024"/>
            <a:ext cx="594360" cy="292608"/>
          </a:xfrm>
          <a:prstGeom prst="rect">
            <a:avLst/>
          </a:prstGeom>
          <a:solidFill>
            <a:srgbClr val="F5F7FA"/>
          </a:solidFill>
          <a:ln w="12700">
            <a:solidFill>
              <a:srgbClr val="F5F7FA"/>
            </a:solidFill>
            <a:prstDash val="solid"/>
          </a:ln>
        </p:spPr>
        <p:txBody>
          <a:bodyPr/>
          <a:p/>
        </p:txBody>
      </p:sp>
      <p:sp>
        <p:nvSpPr>
          <p:cNvPr id="96" name="Text 94"/>
          <p:cNvSpPr txBox="1"/>
          <p:nvPr/>
        </p:nvSpPr>
        <p:spPr>
          <a:xfrm>
            <a:off x="320040" y="4782312"/>
            <a:ext cx="521208" cy="256032"/>
          </a:xfrm>
          <a:prstGeom prst="rect">
            <a:avLst/>
          </a:prstGeom>
          <a:noFill/>
          <a:ln/>
        </p:spPr>
        <p:txBody>
          <a:bodyPr wrap="square" lIns="25400" tIns="25400" rIns="25400" bIns="25400" rtlCol="0" anchor="ctr"/>
          <a:lstStyle/>
          <a:p>
            <a:pPr algn="ctr" indent="0" marL="0">
              <a:buNone/>
            </a:pPr>
            <a:r>
              <a:rPr lang="en-US" sz="1000" dirty="0">
                <a:solidFill>
                  <a:srgbClr val="1A202C"/>
                </a:solidFill>
                <a:latin typeface="Calibri" pitchFamily="34" charset="0"/>
                <a:ea typeface="Calibri" pitchFamily="34" charset="-122"/>
                <a:cs typeface="Calibri" pitchFamily="34" charset="-120"/>
              </a:rPr>
              <a:t>TC11</a:t>
            </a:r>
            <a:endParaRPr lang="en-US" sz="1000" dirty="0"/>
          </a:p>
        </p:txBody>
      </p:sp>
      <p:sp>
        <p:nvSpPr>
          <p:cNvPr id="97" name="Shape 95"/>
          <p:cNvSpPr/>
          <p:nvPr/>
        </p:nvSpPr>
        <p:spPr>
          <a:xfrm>
            <a:off x="868680" y="4764024"/>
            <a:ext cx="3840480" cy="292608"/>
          </a:xfrm>
          <a:prstGeom prst="rect">
            <a:avLst/>
          </a:prstGeom>
          <a:solidFill>
            <a:srgbClr val="F5F7FA"/>
          </a:solidFill>
          <a:ln w="12700">
            <a:solidFill>
              <a:srgbClr val="F5F7FA"/>
            </a:solidFill>
            <a:prstDash val="solid"/>
          </a:ln>
        </p:spPr>
        <p:txBody>
          <a:bodyPr/>
          <a:p/>
        </p:txBody>
      </p:sp>
      <p:sp>
        <p:nvSpPr>
          <p:cNvPr id="98" name="Text 96"/>
          <p:cNvSpPr txBox="1"/>
          <p:nvPr/>
        </p:nvSpPr>
        <p:spPr>
          <a:xfrm>
            <a:off x="914400" y="4782312"/>
            <a:ext cx="3767328" cy="256032"/>
          </a:xfrm>
          <a:prstGeom prst="rect">
            <a:avLst/>
          </a:prstGeom>
          <a:noFill/>
          <a:ln/>
        </p:spPr>
        <p:txBody>
          <a:bodyPr wrap="square" lIns="25400" tIns="25400" rIns="25400" bIns="25400" rtlCol="0" anchor="ctr"/>
          <a:lstStyle/>
          <a:p>
            <a:pPr algn="ctr" indent="0" marL="0">
              <a:buNone/>
            </a:pPr>
            <a:r>
              <a:rPr lang="en-US" sz="1000" dirty="0">
                <a:solidFill>
                  <a:srgbClr val="1A202C"/>
                </a:solidFill>
                <a:latin typeface="Calibri" pitchFamily="34" charset="0"/>
                <a:ea typeface="Calibri" pitchFamily="34" charset="-122"/>
                <a:cs typeface="Calibri" pitchFamily="34" charset="-120"/>
              </a:rPr>
              <a:t>AI yield prediction — DNN</a:t>
            </a:r>
            <a:endParaRPr lang="en-US" sz="1000" dirty="0"/>
          </a:p>
        </p:txBody>
      </p:sp>
      <p:sp>
        <p:nvSpPr>
          <p:cNvPr id="99" name="Shape 97"/>
          <p:cNvSpPr/>
          <p:nvPr/>
        </p:nvSpPr>
        <p:spPr>
          <a:xfrm>
            <a:off x="4709160" y="4764024"/>
            <a:ext cx="4023360" cy="292608"/>
          </a:xfrm>
          <a:prstGeom prst="rect">
            <a:avLst/>
          </a:prstGeom>
          <a:solidFill>
            <a:srgbClr val="F5F7FA"/>
          </a:solidFill>
          <a:ln w="12700">
            <a:solidFill>
              <a:srgbClr val="F5F7FA"/>
            </a:solidFill>
            <a:prstDash val="solid"/>
          </a:ln>
        </p:spPr>
        <p:txBody>
          <a:bodyPr/>
          <a:p/>
        </p:txBody>
      </p:sp>
      <p:sp>
        <p:nvSpPr>
          <p:cNvPr id="100" name="Text 98"/>
          <p:cNvSpPr txBox="1"/>
          <p:nvPr/>
        </p:nvSpPr>
        <p:spPr>
          <a:xfrm>
            <a:off x="4754880" y="4782312"/>
            <a:ext cx="3950208" cy="256032"/>
          </a:xfrm>
          <a:prstGeom prst="rect">
            <a:avLst/>
          </a:prstGeom>
          <a:noFill/>
          <a:ln/>
        </p:spPr>
        <p:txBody>
          <a:bodyPr wrap="square" lIns="25400" tIns="25400" rIns="25400" bIns="25400" rtlCol="0" anchor="ctr"/>
          <a:lstStyle/>
          <a:p>
            <a:pPr algn="ctr" indent="0" marL="0">
              <a:buNone/>
            </a:pPr>
            <a:r>
              <a:rPr lang="en-US" sz="1000" dirty="0">
                <a:solidFill>
                  <a:srgbClr val="1A202C"/>
                </a:solidFill>
                <a:latin typeface="Calibri" pitchFamily="34" charset="0"/>
                <a:ea typeface="Calibri" pitchFamily="34" charset="-122"/>
                <a:cs typeface="Calibri" pitchFamily="34" charset="-120"/>
              </a:rPr>
              <a:t>200 + prediction + confidence %</a:t>
            </a:r>
            <a:endParaRPr lang="en-US" sz="1000" dirty="0"/>
          </a:p>
        </p:txBody>
      </p:sp>
      <p:sp>
        <p:nvSpPr>
          <p:cNvPr id="101" name="Shape 99"/>
          <p:cNvSpPr/>
          <p:nvPr/>
        </p:nvSpPr>
        <p:spPr>
          <a:xfrm>
            <a:off x="8732520" y="4764024"/>
            <a:ext cx="1188720" cy="292608"/>
          </a:xfrm>
          <a:prstGeom prst="rect">
            <a:avLst/>
          </a:prstGeom>
          <a:solidFill>
            <a:srgbClr val="F5F7FA"/>
          </a:solidFill>
          <a:ln w="12700">
            <a:solidFill>
              <a:srgbClr val="F5F7FA"/>
            </a:solidFill>
            <a:prstDash val="solid"/>
          </a:ln>
        </p:spPr>
        <p:txBody>
          <a:bodyPr/>
          <a:p/>
        </p:txBody>
      </p:sp>
      <p:sp>
        <p:nvSpPr>
          <p:cNvPr id="102" name="Text 100"/>
          <p:cNvSpPr txBox="1"/>
          <p:nvPr/>
        </p:nvSpPr>
        <p:spPr>
          <a:xfrm>
            <a:off x="8778240" y="4782312"/>
            <a:ext cx="1115568" cy="256032"/>
          </a:xfrm>
          <a:prstGeom prst="rect">
            <a:avLst/>
          </a:prstGeom>
          <a:noFill/>
          <a:ln/>
        </p:spPr>
        <p:txBody>
          <a:bodyPr wrap="square" lIns="25400" tIns="25400" rIns="25400" bIns="25400" rtlCol="0" anchor="ctr"/>
          <a:lstStyle/>
          <a:p>
            <a:pPr algn="ctr" indent="0" marL="0">
              <a:buNone/>
            </a:pPr>
            <a:r>
              <a:rPr lang="en-US" sz="1000" b="1" dirty="0">
                <a:solidFill>
                  <a:srgbClr val="0A5C36"/>
                </a:solidFill>
                <a:latin typeface="Calibri" pitchFamily="34" charset="0"/>
                <a:ea typeface="Calibri" pitchFamily="34" charset="-122"/>
                <a:cs typeface="Calibri" pitchFamily="34" charset="-120"/>
              </a:rPr>
              <a:t>✅ PASS</a:t>
            </a:r>
            <a:endParaRPr lang="en-US" sz="1000" dirty="0"/>
          </a:p>
        </p:txBody>
      </p:sp>
      <p:sp>
        <p:nvSpPr>
          <p:cNvPr id="103" name="Shape 101"/>
          <p:cNvSpPr/>
          <p:nvPr/>
        </p:nvSpPr>
        <p:spPr>
          <a:xfrm>
            <a:off x="274320" y="5056632"/>
            <a:ext cx="594360" cy="292608"/>
          </a:xfrm>
          <a:prstGeom prst="rect">
            <a:avLst/>
          </a:prstGeom>
          <a:solidFill>
            <a:srgbClr val="E6F4F5"/>
          </a:solidFill>
          <a:ln w="12700">
            <a:solidFill>
              <a:srgbClr val="E6F4F5"/>
            </a:solidFill>
            <a:prstDash val="solid"/>
          </a:ln>
        </p:spPr>
        <p:txBody>
          <a:bodyPr/>
          <a:p/>
        </p:txBody>
      </p:sp>
      <p:sp>
        <p:nvSpPr>
          <p:cNvPr id="104" name="Text 102"/>
          <p:cNvSpPr txBox="1"/>
          <p:nvPr/>
        </p:nvSpPr>
        <p:spPr>
          <a:xfrm>
            <a:off x="320040" y="5074920"/>
            <a:ext cx="521208" cy="256032"/>
          </a:xfrm>
          <a:prstGeom prst="rect">
            <a:avLst/>
          </a:prstGeom>
          <a:noFill/>
          <a:ln/>
        </p:spPr>
        <p:txBody>
          <a:bodyPr wrap="square" lIns="25400" tIns="25400" rIns="25400" bIns="25400" rtlCol="0" anchor="ctr"/>
          <a:lstStyle/>
          <a:p>
            <a:pPr algn="ctr" indent="0" marL="0">
              <a:buNone/>
            </a:pPr>
            <a:r>
              <a:rPr lang="en-US" sz="1000" dirty="0">
                <a:solidFill>
                  <a:srgbClr val="1A202C"/>
                </a:solidFill>
                <a:latin typeface="Calibri" pitchFamily="34" charset="0"/>
                <a:ea typeface="Calibri" pitchFamily="34" charset="-122"/>
                <a:cs typeface="Calibri" pitchFamily="34" charset="-120"/>
              </a:rPr>
              <a:t>TC12</a:t>
            </a:r>
            <a:endParaRPr lang="en-US" sz="1000" dirty="0"/>
          </a:p>
        </p:txBody>
      </p:sp>
      <p:sp>
        <p:nvSpPr>
          <p:cNvPr id="105" name="Shape 103"/>
          <p:cNvSpPr/>
          <p:nvPr/>
        </p:nvSpPr>
        <p:spPr>
          <a:xfrm>
            <a:off x="868680" y="5056632"/>
            <a:ext cx="3840480" cy="292608"/>
          </a:xfrm>
          <a:prstGeom prst="rect">
            <a:avLst/>
          </a:prstGeom>
          <a:solidFill>
            <a:srgbClr val="E6F4F5"/>
          </a:solidFill>
          <a:ln w="12700">
            <a:solidFill>
              <a:srgbClr val="E6F4F5"/>
            </a:solidFill>
            <a:prstDash val="solid"/>
          </a:ln>
        </p:spPr>
        <p:txBody>
          <a:bodyPr/>
          <a:p/>
        </p:txBody>
      </p:sp>
      <p:sp>
        <p:nvSpPr>
          <p:cNvPr id="106" name="Text 104"/>
          <p:cNvSpPr txBox="1"/>
          <p:nvPr/>
        </p:nvSpPr>
        <p:spPr>
          <a:xfrm>
            <a:off x="914400" y="5074920"/>
            <a:ext cx="3767328" cy="256032"/>
          </a:xfrm>
          <a:prstGeom prst="rect">
            <a:avLst/>
          </a:prstGeom>
          <a:noFill/>
          <a:ln/>
        </p:spPr>
        <p:txBody>
          <a:bodyPr wrap="square" lIns="25400" tIns="25400" rIns="25400" bIns="25400" rtlCol="0" anchor="ctr"/>
          <a:lstStyle/>
          <a:p>
            <a:pPr algn="ctr" indent="0" marL="0">
              <a:buNone/>
            </a:pPr>
            <a:r>
              <a:rPr lang="en-US" sz="1000" dirty="0">
                <a:solidFill>
                  <a:srgbClr val="1A202C"/>
                </a:solidFill>
                <a:latin typeface="Calibri" pitchFamily="34" charset="0"/>
                <a:ea typeface="Calibri" pitchFamily="34" charset="-122"/>
                <a:cs typeface="Calibri" pitchFamily="34" charset="-120"/>
              </a:rPr>
              <a:t>DNN vs RF model comparison</a:t>
            </a:r>
            <a:endParaRPr lang="en-US" sz="1000" dirty="0"/>
          </a:p>
        </p:txBody>
      </p:sp>
      <p:sp>
        <p:nvSpPr>
          <p:cNvPr id="107" name="Shape 105"/>
          <p:cNvSpPr/>
          <p:nvPr/>
        </p:nvSpPr>
        <p:spPr>
          <a:xfrm>
            <a:off x="4709160" y="5056632"/>
            <a:ext cx="4023360" cy="292608"/>
          </a:xfrm>
          <a:prstGeom prst="rect">
            <a:avLst/>
          </a:prstGeom>
          <a:solidFill>
            <a:srgbClr val="E6F4F5"/>
          </a:solidFill>
          <a:ln w="12700">
            <a:solidFill>
              <a:srgbClr val="E6F4F5"/>
            </a:solidFill>
            <a:prstDash val="solid"/>
          </a:ln>
        </p:spPr>
        <p:txBody>
          <a:bodyPr/>
          <a:p/>
        </p:txBody>
      </p:sp>
      <p:sp>
        <p:nvSpPr>
          <p:cNvPr id="108" name="Text 106"/>
          <p:cNvSpPr txBox="1"/>
          <p:nvPr/>
        </p:nvSpPr>
        <p:spPr>
          <a:xfrm>
            <a:off x="4754880" y="5074920"/>
            <a:ext cx="3950208" cy="256032"/>
          </a:xfrm>
          <a:prstGeom prst="rect">
            <a:avLst/>
          </a:prstGeom>
          <a:noFill/>
          <a:ln/>
        </p:spPr>
        <p:txBody>
          <a:bodyPr wrap="square" lIns="25400" tIns="25400" rIns="25400" bIns="25400" rtlCol="0" anchor="ctr"/>
          <a:lstStyle/>
          <a:p>
            <a:pPr algn="ctr" indent="0" marL="0">
              <a:buNone/>
            </a:pPr>
            <a:r>
              <a:rPr lang="en-US" sz="1000" dirty="0">
                <a:solidFill>
                  <a:srgbClr val="1A202C"/>
                </a:solidFill>
                <a:latin typeface="Calibri" pitchFamily="34" charset="0"/>
                <a:ea typeface="Calibri" pitchFamily="34" charset="-122"/>
                <a:cs typeface="Calibri" pitchFamily="34" charset="-120"/>
              </a:rPr>
              <a:t>200 + both model results</a:t>
            </a:r>
            <a:endParaRPr lang="en-US" sz="1000" dirty="0"/>
          </a:p>
        </p:txBody>
      </p:sp>
      <p:sp>
        <p:nvSpPr>
          <p:cNvPr id="109" name="Shape 107"/>
          <p:cNvSpPr/>
          <p:nvPr/>
        </p:nvSpPr>
        <p:spPr>
          <a:xfrm>
            <a:off x="8732520" y="5056632"/>
            <a:ext cx="1188720" cy="292608"/>
          </a:xfrm>
          <a:prstGeom prst="rect">
            <a:avLst/>
          </a:prstGeom>
          <a:solidFill>
            <a:srgbClr val="E6F4F5"/>
          </a:solidFill>
          <a:ln w="12700">
            <a:solidFill>
              <a:srgbClr val="E6F4F5"/>
            </a:solidFill>
            <a:prstDash val="solid"/>
          </a:ln>
        </p:spPr>
        <p:txBody>
          <a:bodyPr/>
          <a:p/>
        </p:txBody>
      </p:sp>
      <p:sp>
        <p:nvSpPr>
          <p:cNvPr id="110" name="Text 108"/>
          <p:cNvSpPr txBox="1"/>
          <p:nvPr/>
        </p:nvSpPr>
        <p:spPr>
          <a:xfrm>
            <a:off x="8778240" y="5074920"/>
            <a:ext cx="1115568" cy="256032"/>
          </a:xfrm>
          <a:prstGeom prst="rect">
            <a:avLst/>
          </a:prstGeom>
          <a:noFill/>
          <a:ln/>
        </p:spPr>
        <p:txBody>
          <a:bodyPr wrap="square" lIns="25400" tIns="25400" rIns="25400" bIns="25400" rtlCol="0" anchor="ctr"/>
          <a:lstStyle/>
          <a:p>
            <a:pPr algn="ctr" indent="0" marL="0">
              <a:buNone/>
            </a:pPr>
            <a:r>
              <a:rPr lang="en-US" sz="1000" b="1" dirty="0">
                <a:solidFill>
                  <a:srgbClr val="0A5C36"/>
                </a:solidFill>
                <a:latin typeface="Calibri" pitchFamily="34" charset="0"/>
                <a:ea typeface="Calibri" pitchFamily="34" charset="-122"/>
                <a:cs typeface="Calibri" pitchFamily="34" charset="-120"/>
              </a:rPr>
              <a:t>✅ PASS</a:t>
            </a:r>
            <a:endParaRPr lang="en-US" sz="1000" dirty="0"/>
          </a:p>
        </p:txBody>
      </p:sp>
      <p:sp>
        <p:nvSpPr>
          <p:cNvPr id="111" name="Shape 109"/>
          <p:cNvSpPr/>
          <p:nvPr/>
        </p:nvSpPr>
        <p:spPr>
          <a:xfrm>
            <a:off x="274320" y="5394960"/>
            <a:ext cx="11612880" cy="475488"/>
          </a:xfrm>
          <a:prstGeom prst="rect">
            <a:avLst/>
          </a:prstGeom>
          <a:solidFill>
            <a:srgbClr val="EBF0F7"/>
          </a:solidFill>
          <a:ln w="12700">
            <a:solidFill>
              <a:srgbClr val="EBF0F7"/>
            </a:solidFill>
            <a:prstDash val="solid"/>
          </a:ln>
        </p:spPr>
        <p:txBody>
          <a:bodyPr/>
          <a:p/>
        </p:txBody>
      </p:sp>
      <p:sp>
        <p:nvSpPr>
          <p:cNvPr id="112" name="Text 110"/>
          <p:cNvSpPr txBox="1"/>
          <p:nvPr/>
        </p:nvSpPr>
        <p:spPr>
          <a:xfrm>
            <a:off x="457200" y="5431536"/>
            <a:ext cx="11247120" cy="402336"/>
          </a:xfrm>
          <a:prstGeom prst="rect">
            <a:avLst/>
          </a:prstGeom>
          <a:noFill/>
          <a:ln/>
        </p:spPr>
        <p:txBody>
          <a:bodyPr wrap="square" lIns="25400" tIns="25400" rIns="25400" bIns="25400" rtlCol="0" anchor="ctr"/>
          <a:lstStyle/>
          <a:p>
            <a:pPr algn="l" indent="0" marL="0">
              <a:buNone/>
            </a:pPr>
            <a:r>
              <a:rPr lang="en-US" sz="1100" dirty="0">
                <a:solidFill>
                  <a:srgbClr val="1E3A5F"/>
                </a:solidFill>
                <a:latin typeface="Calibri" pitchFamily="34" charset="0"/>
                <a:ea typeface="Calibri" pitchFamily="34" charset="-122"/>
                <a:cs typeface="Calibri" pitchFamily="34" charset="-120"/>
              </a:rPr>
              <a:t>TC05 is critical: when User A tries to access User B's farm, the system returns 404 Not Found — not 403 Forbidden. The 404 is deliberate — it does not reveal whether the resource even exists. This is stronger OWASP A01 protection than the standard approach.</a:t>
            </a:r>
            <a:endParaRPr lang="en-US" sz="1100" dirty="0"/>
          </a:p>
        </p:txBody>
      </p:sp>
      <p:sp>
        <p:nvSpPr>
          <p:cNvPr id="113" name="Shape 111"/>
          <p:cNvSpPr/>
          <p:nvPr/>
        </p:nvSpPr>
        <p:spPr>
          <a:xfrm>
            <a:off x="0" y="6510528"/>
            <a:ext cx="12161520" cy="347472"/>
          </a:xfrm>
          <a:prstGeom prst="rect">
            <a:avLst/>
          </a:prstGeom>
          <a:solidFill>
            <a:srgbClr val="E8EDF3"/>
          </a:solidFill>
          <a:ln w="12700">
            <a:solidFill>
              <a:srgbClr val="E8EDF3"/>
            </a:solidFill>
            <a:prstDash val="solid"/>
          </a:ln>
        </p:spPr>
        <p:txBody>
          <a:bodyPr/>
          <a:p/>
        </p:txBody>
      </p:sp>
      <p:sp>
        <p:nvSpPr>
          <p:cNvPr id="115" name="Text 113"/>
          <p:cNvSpPr txBox="1"/>
          <p:nvPr/>
        </p:nvSpPr>
        <p:spPr>
          <a:xfrm>
            <a:off x="9784080" y="6510528"/>
            <a:ext cx="2194560" cy="347472"/>
          </a:xfrm>
          <a:prstGeom prst="rect">
            <a:avLst/>
          </a:prstGeom>
          <a:noFill/>
          <a:ln/>
        </p:spPr>
        <p:txBody>
          <a:bodyPr wrap="square" lIns="25400" tIns="25400" rIns="25400" bIns="25400" rtlCol="0" anchor="ctr"/>
          <a:lstStyle/>
          <a:p>
            <a:pPr algn="r" indent="0" marL="0">
              <a:buNone/>
            </a:pPr>
            <a:r>
              <a:rPr lang="en-US" sz="1000" dirty="0">
                <a:solidFill>
                  <a:srgbClr val="718096"/>
                </a:solidFill>
                <a:latin typeface="Calibri" pitchFamily="34" charset="0"/>
                <a:ea typeface="Calibri" pitchFamily="34" charset="-122"/>
                <a:cs typeface="Calibri" pitchFamily="34" charset="-120"/>
              </a:rPr>
              <a:t>7:20 – 7:40</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E3A5F"/>
          </a:solidFill>
          <a:ln w="12700">
            <a:solidFill>
              <a:srgbClr val="1E3A5F"/>
            </a:solidFill>
            <a:prstDash val="solid"/>
          </a:ln>
        </p:spPr>
        <p:txBody>
          <a:bodyPr/>
          <a:p/>
        </p:txBody>
      </p:sp>
      <p:sp>
        <p:nvSpPr>
          <p:cNvPr id="3" name="Text 1"/>
          <p:cNvSpPr txBox="1"/>
          <p:nvPr/>
        </p:nvSpPr>
        <p:spPr>
          <a:xfrm>
            <a:off x="365760" y="45720"/>
            <a:ext cx="10058400" cy="566928"/>
          </a:xfrm>
          <a:prstGeom prst="rect">
            <a:avLst/>
          </a:prstGeom>
          <a:noFill/>
          <a:ln/>
        </p:spPr>
        <p:txBody>
          <a:bodyPr wrap="square" lIns="25400" tIns="25400" rIns="25400" bIns="2540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Dimension 2: System Performance &amp; OWASP Security Testing</a:t>
            </a:r>
            <a:endParaRPr lang="en-US" sz="2200" dirty="0"/>
          </a:p>
        </p:txBody>
      </p:sp>
      <p:sp>
        <p:nvSpPr>
          <p:cNvPr id="4" name="Shape 2"/>
          <p:cNvSpPr/>
          <p:nvPr/>
        </p:nvSpPr>
        <p:spPr>
          <a:xfrm>
            <a:off x="0" y="960120"/>
            <a:ext cx="12161520" cy="45720"/>
          </a:xfrm>
          <a:prstGeom prst="rect">
            <a:avLst/>
          </a:prstGeom>
          <a:solidFill>
            <a:srgbClr val="0D6B72"/>
          </a:solidFill>
          <a:ln w="12700">
            <a:solidFill>
              <a:srgbClr val="0D6B72"/>
            </a:solidFill>
            <a:prstDash val="solid"/>
          </a:ln>
        </p:spPr>
        <p:txBody>
          <a:bodyPr/>
          <a:p/>
        </p:txBody>
      </p:sp>
      <p:sp>
        <p:nvSpPr>
          <p:cNvPr id="5" name="Text 3"/>
          <p:cNvSpPr txBox="1"/>
          <p:nvPr/>
        </p:nvSpPr>
        <p:spPr>
          <a:xfrm>
            <a:off x="274320" y="1078992"/>
            <a:ext cx="5943600" cy="347472"/>
          </a:xfrm>
          <a:prstGeom prst="rect">
            <a:avLst/>
          </a:prstGeom>
          <a:noFill/>
          <a:ln/>
        </p:spPr>
        <p:txBody>
          <a:bodyPr wrap="square" lIns="25400" tIns="25400" rIns="25400" bIns="25400" rtlCol="0" anchor="ctr"/>
          <a:lstStyle/>
          <a:p>
            <a:pPr algn="l" indent="0" marL="0">
              <a:buNone/>
            </a:pPr>
            <a:r>
              <a:rPr lang="en-US" sz="1300" b="1" dirty="0">
                <a:solidFill>
                  <a:srgbClr val="1E3A5F"/>
                </a:solidFill>
                <a:latin typeface="Calibri" pitchFamily="34" charset="0"/>
                <a:ea typeface="Calibri" pitchFamily="34" charset="-122"/>
                <a:cs typeface="Calibri" pitchFamily="34" charset="-120"/>
              </a:rPr>
              <a:t>Performance Testing — 10 Runs per Endpoint (Localhost):</a:t>
            </a:r>
            <a:endParaRPr lang="en-US" sz="1300" dirty="0"/>
          </a:p>
        </p:txBody>
      </p:sp>
      <p:sp>
        <p:nvSpPr>
          <p:cNvPr id="6" name="Shape 4"/>
          <p:cNvSpPr/>
          <p:nvPr/>
        </p:nvSpPr>
        <p:spPr>
          <a:xfrm>
            <a:off x="274320" y="1481328"/>
            <a:ext cx="5760720" cy="402336"/>
          </a:xfrm>
          <a:prstGeom prst="rect">
            <a:avLst/>
          </a:prstGeom>
          <a:solidFill>
            <a:srgbClr val="F5F7FA"/>
          </a:solidFill>
          <a:ln w="12700">
            <a:solidFill>
              <a:srgbClr val="F5F7FA"/>
            </a:solidFill>
            <a:prstDash val="solid"/>
          </a:ln>
        </p:spPr>
        <p:txBody>
          <a:bodyPr/>
          <a:p/>
        </p:txBody>
      </p:sp>
      <p:sp>
        <p:nvSpPr>
          <p:cNvPr id="7" name="Text 5"/>
          <p:cNvSpPr txBox="1"/>
          <p:nvPr/>
        </p:nvSpPr>
        <p:spPr>
          <a:xfrm>
            <a:off x="365760" y="1517904"/>
            <a:ext cx="2286000" cy="329184"/>
          </a:xfrm>
          <a:prstGeom prst="rect">
            <a:avLst/>
          </a:prstGeom>
          <a:noFill/>
          <a:ln/>
        </p:spPr>
        <p:txBody>
          <a:bodyPr wrap="square" lIns="25400" tIns="25400" rIns="25400" bIns="25400" rtlCol="0" anchor="ctr"/>
          <a:lstStyle/>
          <a:p>
            <a:pPr algn="l" indent="0" marL="0">
              <a:buNone/>
            </a:pPr>
            <a:r>
              <a:rPr lang="en-US" sz="1050" dirty="0">
                <a:solidFill>
                  <a:srgbClr val="1E3A5F"/>
                </a:solidFill>
                <a:latin typeface="Calibri" pitchFamily="34" charset="0"/>
                <a:ea typeface="Calibri" pitchFamily="34" charset="-122"/>
                <a:cs typeface="Calibri" pitchFamily="34" charset="-120"/>
              </a:rPr>
              <a:t>✅ Flask /health</a:t>
            </a:r>
            <a:endParaRPr lang="en-US" sz="1050" dirty="0"/>
          </a:p>
        </p:txBody>
      </p:sp>
      <p:sp>
        <p:nvSpPr>
          <p:cNvPr id="8" name="Text 6"/>
          <p:cNvSpPr txBox="1"/>
          <p:nvPr/>
        </p:nvSpPr>
        <p:spPr>
          <a:xfrm>
            <a:off x="2697480" y="1517904"/>
            <a:ext cx="777240" cy="329184"/>
          </a:xfrm>
          <a:prstGeom prst="rect">
            <a:avLst/>
          </a:prstGeom>
          <a:noFill/>
          <a:ln/>
        </p:spPr>
        <p:txBody>
          <a:bodyPr wrap="square" lIns="25400" tIns="25400" rIns="25400" bIns="25400" rtlCol="0" anchor="ctr"/>
          <a:lstStyle/>
          <a:p>
            <a:pPr algn="ctr" indent="0" marL="0">
              <a:buNone/>
            </a:pPr>
            <a:r>
              <a:rPr lang="en-US" sz="1300" b="1" dirty="0">
                <a:solidFill>
                  <a:srgbClr val="0A5C36"/>
                </a:solidFill>
                <a:latin typeface="Calibri" pitchFamily="34" charset="0"/>
                <a:ea typeface="Calibri" pitchFamily="34" charset="-122"/>
                <a:cs typeface="Calibri" pitchFamily="34" charset="-120"/>
              </a:rPr>
              <a:t>32ms</a:t>
            </a:r>
            <a:endParaRPr lang="en-US" sz="1300" dirty="0"/>
          </a:p>
        </p:txBody>
      </p:sp>
      <p:sp>
        <p:nvSpPr>
          <p:cNvPr id="9" name="Text 7"/>
          <p:cNvSpPr txBox="1"/>
          <p:nvPr/>
        </p:nvSpPr>
        <p:spPr>
          <a:xfrm>
            <a:off x="3520440" y="1517904"/>
            <a:ext cx="2468880" cy="329184"/>
          </a:xfrm>
          <a:prstGeom prst="rect">
            <a:avLst/>
          </a:prstGeom>
          <a:noFill/>
          <a:ln/>
        </p:spPr>
        <p:txBody>
          <a:bodyPr wrap="square" lIns="25400" tIns="25400" rIns="25400" bIns="25400" rtlCol="0" anchor="ctr"/>
          <a:lstStyle/>
          <a:p>
            <a:pPr algn="l" indent="0" marL="0">
              <a:buNone/>
            </a:pPr>
            <a:r>
              <a:rPr lang="en-US" sz="1000" dirty="0">
                <a:solidFill>
                  <a:srgbClr val="4A5568"/>
                </a:solidFill>
                <a:latin typeface="Calibri" pitchFamily="34" charset="0"/>
                <a:ea typeface="Calibri" pitchFamily="34" charset="-122"/>
                <a:cs typeface="Calibri" pitchFamily="34" charset="-120"/>
              </a:rPr>
              <a:t>Model loaded &amp; ready</a:t>
            </a:r>
            <a:endParaRPr lang="en-US" sz="1000" dirty="0"/>
          </a:p>
        </p:txBody>
      </p:sp>
      <p:sp>
        <p:nvSpPr>
          <p:cNvPr id="10" name="Shape 8"/>
          <p:cNvSpPr/>
          <p:nvPr/>
        </p:nvSpPr>
        <p:spPr>
          <a:xfrm>
            <a:off x="274320" y="1920240"/>
            <a:ext cx="5760720" cy="402336"/>
          </a:xfrm>
          <a:prstGeom prst="rect">
            <a:avLst/>
          </a:prstGeom>
          <a:solidFill>
            <a:srgbClr val="EBF0F7"/>
          </a:solidFill>
          <a:ln w="12700">
            <a:solidFill>
              <a:srgbClr val="EBF0F7"/>
            </a:solidFill>
            <a:prstDash val="solid"/>
          </a:ln>
        </p:spPr>
        <p:txBody>
          <a:bodyPr/>
          <a:p/>
        </p:txBody>
      </p:sp>
      <p:sp>
        <p:nvSpPr>
          <p:cNvPr id="11" name="Text 9"/>
          <p:cNvSpPr txBox="1"/>
          <p:nvPr/>
        </p:nvSpPr>
        <p:spPr>
          <a:xfrm>
            <a:off x="365760" y="1956816"/>
            <a:ext cx="2286000" cy="329184"/>
          </a:xfrm>
          <a:prstGeom prst="rect">
            <a:avLst/>
          </a:prstGeom>
          <a:noFill/>
          <a:ln/>
        </p:spPr>
        <p:txBody>
          <a:bodyPr wrap="square" lIns="25400" tIns="25400" rIns="25400" bIns="25400" rtlCol="0" anchor="ctr"/>
          <a:lstStyle/>
          <a:p>
            <a:pPr algn="l" indent="0" marL="0">
              <a:buNone/>
            </a:pPr>
            <a:r>
              <a:rPr lang="en-US" sz="1050" dirty="0">
                <a:solidFill>
                  <a:srgbClr val="1E3A5F"/>
                </a:solidFill>
                <a:latin typeface="Calibri" pitchFamily="34" charset="0"/>
                <a:ea typeface="Calibri" pitchFamily="34" charset="-122"/>
                <a:cs typeface="Calibri" pitchFamily="34" charset="-120"/>
              </a:rPr>
              <a:t>✅ GET /api/farms</a:t>
            </a:r>
            <a:endParaRPr lang="en-US" sz="1050" dirty="0"/>
          </a:p>
        </p:txBody>
      </p:sp>
      <p:sp>
        <p:nvSpPr>
          <p:cNvPr id="12" name="Text 10"/>
          <p:cNvSpPr txBox="1"/>
          <p:nvPr/>
        </p:nvSpPr>
        <p:spPr>
          <a:xfrm>
            <a:off x="2697480" y="1956816"/>
            <a:ext cx="777240" cy="329184"/>
          </a:xfrm>
          <a:prstGeom prst="rect">
            <a:avLst/>
          </a:prstGeom>
          <a:noFill/>
          <a:ln/>
        </p:spPr>
        <p:txBody>
          <a:bodyPr wrap="square" lIns="25400" tIns="25400" rIns="25400" bIns="25400" rtlCol="0" anchor="ctr"/>
          <a:lstStyle/>
          <a:p>
            <a:pPr algn="ctr" indent="0" marL="0">
              <a:buNone/>
            </a:pPr>
            <a:r>
              <a:rPr lang="en-US" sz="1300" b="1" dirty="0">
                <a:solidFill>
                  <a:srgbClr val="0A5C36"/>
                </a:solidFill>
                <a:latin typeface="Calibri" pitchFamily="34" charset="0"/>
                <a:ea typeface="Calibri" pitchFamily="34" charset="-122"/>
                <a:cs typeface="Calibri" pitchFamily="34" charset="-120"/>
              </a:rPr>
              <a:t>150ms</a:t>
            </a:r>
            <a:endParaRPr lang="en-US" sz="1300" dirty="0"/>
          </a:p>
        </p:txBody>
      </p:sp>
      <p:sp>
        <p:nvSpPr>
          <p:cNvPr id="13" name="Text 11"/>
          <p:cNvSpPr txBox="1"/>
          <p:nvPr/>
        </p:nvSpPr>
        <p:spPr>
          <a:xfrm>
            <a:off x="3520440" y="1956816"/>
            <a:ext cx="2468880" cy="329184"/>
          </a:xfrm>
          <a:prstGeom prst="rect">
            <a:avLst/>
          </a:prstGeom>
          <a:noFill/>
          <a:ln/>
        </p:spPr>
        <p:txBody>
          <a:bodyPr wrap="square" lIns="25400" tIns="25400" rIns="25400" bIns="25400" rtlCol="0" anchor="ctr"/>
          <a:lstStyle/>
          <a:p>
            <a:pPr algn="l" indent="0" marL="0">
              <a:buNone/>
            </a:pPr>
            <a:r>
              <a:rPr lang="en-US" sz="1000" dirty="0">
                <a:solidFill>
                  <a:srgbClr val="4A5568"/>
                </a:solidFill>
                <a:latin typeface="Calibri" pitchFamily="34" charset="0"/>
                <a:ea typeface="Calibri" pitchFamily="34" charset="-122"/>
                <a:cs typeface="Calibri" pitchFamily="34" charset="-120"/>
              </a:rPr>
              <a:t>Simple user-scoped query</a:t>
            </a:r>
            <a:endParaRPr lang="en-US" sz="1000" dirty="0"/>
          </a:p>
        </p:txBody>
      </p:sp>
      <p:sp>
        <p:nvSpPr>
          <p:cNvPr id="14" name="Shape 12"/>
          <p:cNvSpPr/>
          <p:nvPr/>
        </p:nvSpPr>
        <p:spPr>
          <a:xfrm>
            <a:off x="274320" y="2359152"/>
            <a:ext cx="5760720" cy="402336"/>
          </a:xfrm>
          <a:prstGeom prst="rect">
            <a:avLst/>
          </a:prstGeom>
          <a:solidFill>
            <a:srgbClr val="F5F7FA"/>
          </a:solidFill>
          <a:ln w="12700">
            <a:solidFill>
              <a:srgbClr val="F5F7FA"/>
            </a:solidFill>
            <a:prstDash val="solid"/>
          </a:ln>
        </p:spPr>
        <p:txBody>
          <a:bodyPr/>
          <a:p/>
        </p:txBody>
      </p:sp>
      <p:sp>
        <p:nvSpPr>
          <p:cNvPr id="15" name="Text 13"/>
          <p:cNvSpPr txBox="1"/>
          <p:nvPr/>
        </p:nvSpPr>
        <p:spPr>
          <a:xfrm>
            <a:off x="365760" y="2395728"/>
            <a:ext cx="2286000" cy="329184"/>
          </a:xfrm>
          <a:prstGeom prst="rect">
            <a:avLst/>
          </a:prstGeom>
          <a:noFill/>
          <a:ln/>
        </p:spPr>
        <p:txBody>
          <a:bodyPr wrap="square" lIns="25400" tIns="25400" rIns="25400" bIns="25400" rtlCol="0" anchor="ctr"/>
          <a:lstStyle/>
          <a:p>
            <a:pPr algn="l" indent="0" marL="0">
              <a:buNone/>
            </a:pPr>
            <a:r>
              <a:rPr lang="en-US" sz="1050" dirty="0">
                <a:solidFill>
                  <a:srgbClr val="1E3A5F"/>
                </a:solidFill>
                <a:latin typeface="Calibri" pitchFamily="34" charset="0"/>
                <a:ea typeface="Calibri" pitchFamily="34" charset="-122"/>
                <a:cs typeface="Calibri" pitchFamily="34" charset="-120"/>
              </a:rPr>
              <a:t>✅ GET /dashboard/activity-chart</a:t>
            </a:r>
            <a:endParaRPr lang="en-US" sz="1050" dirty="0"/>
          </a:p>
        </p:txBody>
      </p:sp>
      <p:sp>
        <p:nvSpPr>
          <p:cNvPr id="16" name="Text 14"/>
          <p:cNvSpPr txBox="1"/>
          <p:nvPr/>
        </p:nvSpPr>
        <p:spPr>
          <a:xfrm>
            <a:off x="2697480" y="2395728"/>
            <a:ext cx="777240" cy="329184"/>
          </a:xfrm>
          <a:prstGeom prst="rect">
            <a:avLst/>
          </a:prstGeom>
          <a:noFill/>
          <a:ln/>
        </p:spPr>
        <p:txBody>
          <a:bodyPr wrap="square" lIns="25400" tIns="25400" rIns="25400" bIns="25400" rtlCol="0" anchor="ctr"/>
          <a:lstStyle/>
          <a:p>
            <a:pPr algn="ctr" indent="0" marL="0">
              <a:buNone/>
            </a:pPr>
            <a:r>
              <a:rPr lang="en-US" sz="1300" b="1" dirty="0">
                <a:solidFill>
                  <a:srgbClr val="0A5C36"/>
                </a:solidFill>
                <a:latin typeface="Calibri" pitchFamily="34" charset="0"/>
                <a:ea typeface="Calibri" pitchFamily="34" charset="-122"/>
                <a:cs typeface="Calibri" pitchFamily="34" charset="-120"/>
              </a:rPr>
              <a:t>290ms</a:t>
            </a:r>
            <a:endParaRPr lang="en-US" sz="1300" dirty="0"/>
          </a:p>
        </p:txBody>
      </p:sp>
      <p:sp>
        <p:nvSpPr>
          <p:cNvPr id="17" name="Text 15"/>
          <p:cNvSpPr txBox="1"/>
          <p:nvPr/>
        </p:nvSpPr>
        <p:spPr>
          <a:xfrm>
            <a:off x="3520440" y="2395728"/>
            <a:ext cx="2468880" cy="329184"/>
          </a:xfrm>
          <a:prstGeom prst="rect">
            <a:avLst/>
          </a:prstGeom>
          <a:noFill/>
          <a:ln/>
        </p:spPr>
        <p:txBody>
          <a:bodyPr wrap="square" lIns="25400" tIns="25400" rIns="25400" bIns="25400" rtlCol="0" anchor="ctr"/>
          <a:lstStyle/>
          <a:p>
            <a:pPr algn="l" indent="0" marL="0">
              <a:buNone/>
            </a:pPr>
            <a:r>
              <a:rPr lang="en-US" sz="1000" dirty="0">
                <a:solidFill>
                  <a:srgbClr val="4A5568"/>
                </a:solidFill>
                <a:latin typeface="Calibri" pitchFamily="34" charset="0"/>
                <a:ea typeface="Calibri" pitchFamily="34" charset="-122"/>
                <a:cs typeface="Calibri" pitchFamily="34" charset="-120"/>
              </a:rPr>
              <a:t>Native SQL GROUP BY</a:t>
            </a:r>
            <a:endParaRPr lang="en-US" sz="1000" dirty="0"/>
          </a:p>
        </p:txBody>
      </p:sp>
      <p:sp>
        <p:nvSpPr>
          <p:cNvPr id="18" name="Shape 16"/>
          <p:cNvSpPr/>
          <p:nvPr/>
        </p:nvSpPr>
        <p:spPr>
          <a:xfrm>
            <a:off x="274320" y="2798064"/>
            <a:ext cx="5760720" cy="402336"/>
          </a:xfrm>
          <a:prstGeom prst="rect">
            <a:avLst/>
          </a:prstGeom>
          <a:solidFill>
            <a:srgbClr val="EBF0F7"/>
          </a:solidFill>
          <a:ln w="12700">
            <a:solidFill>
              <a:srgbClr val="EBF0F7"/>
            </a:solidFill>
            <a:prstDash val="solid"/>
          </a:ln>
        </p:spPr>
        <p:txBody>
          <a:bodyPr/>
          <a:p/>
        </p:txBody>
      </p:sp>
      <p:sp>
        <p:nvSpPr>
          <p:cNvPr id="19" name="Text 17"/>
          <p:cNvSpPr txBox="1"/>
          <p:nvPr/>
        </p:nvSpPr>
        <p:spPr>
          <a:xfrm>
            <a:off x="365760" y="2834640"/>
            <a:ext cx="2286000" cy="329184"/>
          </a:xfrm>
          <a:prstGeom prst="rect">
            <a:avLst/>
          </a:prstGeom>
          <a:noFill/>
          <a:ln/>
        </p:spPr>
        <p:txBody>
          <a:bodyPr wrap="square" lIns="25400" tIns="25400" rIns="25400" bIns="25400" rtlCol="0" anchor="ctr"/>
          <a:lstStyle/>
          <a:p>
            <a:pPr algn="l" indent="0" marL="0">
              <a:buNone/>
            </a:pPr>
            <a:r>
              <a:rPr lang="en-US" sz="1050" dirty="0">
                <a:solidFill>
                  <a:srgbClr val="1E3A5F"/>
                </a:solidFill>
                <a:latin typeface="Calibri" pitchFamily="34" charset="0"/>
                <a:ea typeface="Calibri" pitchFamily="34" charset="-122"/>
                <a:cs typeface="Calibri" pitchFamily="34" charset="-120"/>
              </a:rPr>
              <a:t>✅ GET /api/dashboard/summary</a:t>
            </a:r>
            <a:endParaRPr lang="en-US" sz="1050" dirty="0"/>
          </a:p>
        </p:txBody>
      </p:sp>
      <p:sp>
        <p:nvSpPr>
          <p:cNvPr id="20" name="Text 18"/>
          <p:cNvSpPr txBox="1"/>
          <p:nvPr/>
        </p:nvSpPr>
        <p:spPr>
          <a:xfrm>
            <a:off x="2697480" y="2834640"/>
            <a:ext cx="777240" cy="329184"/>
          </a:xfrm>
          <a:prstGeom prst="rect">
            <a:avLst/>
          </a:prstGeom>
          <a:noFill/>
          <a:ln/>
        </p:spPr>
        <p:txBody>
          <a:bodyPr wrap="square" lIns="25400" tIns="25400" rIns="25400" bIns="25400" rtlCol="0" anchor="ctr"/>
          <a:lstStyle/>
          <a:p>
            <a:pPr algn="ctr" indent="0" marL="0">
              <a:buNone/>
            </a:pPr>
            <a:r>
              <a:rPr lang="en-US" sz="1300" b="1" dirty="0">
                <a:solidFill>
                  <a:srgbClr val="0A5C36"/>
                </a:solidFill>
                <a:latin typeface="Calibri" pitchFamily="34" charset="0"/>
                <a:ea typeface="Calibri" pitchFamily="34" charset="-122"/>
                <a:cs typeface="Calibri" pitchFamily="34" charset="-120"/>
              </a:rPr>
              <a:t>340ms</a:t>
            </a:r>
            <a:endParaRPr lang="en-US" sz="1300" dirty="0"/>
          </a:p>
        </p:txBody>
      </p:sp>
      <p:sp>
        <p:nvSpPr>
          <p:cNvPr id="21" name="Text 19"/>
          <p:cNvSpPr txBox="1"/>
          <p:nvPr/>
        </p:nvSpPr>
        <p:spPr>
          <a:xfrm>
            <a:off x="3520440" y="2834640"/>
            <a:ext cx="2468880" cy="329184"/>
          </a:xfrm>
          <a:prstGeom prst="rect">
            <a:avLst/>
          </a:prstGeom>
          <a:noFill/>
          <a:ln/>
        </p:spPr>
        <p:txBody>
          <a:bodyPr wrap="square" lIns="25400" tIns="25400" rIns="25400" bIns="25400" rtlCol="0" anchor="ctr"/>
          <a:lstStyle/>
          <a:p>
            <a:pPr algn="l" indent="0" marL="0">
              <a:buNone/>
            </a:pPr>
            <a:r>
              <a:rPr lang="en-US" sz="1000" dirty="0">
                <a:solidFill>
                  <a:srgbClr val="4A5568"/>
                </a:solidFill>
                <a:latin typeface="Calibri" pitchFamily="34" charset="0"/>
                <a:ea typeface="Calibri" pitchFamily="34" charset="-122"/>
                <a:cs typeface="Calibri" pitchFamily="34" charset="-120"/>
              </a:rPr>
              <a:t>4 JPQL COUNT queries</a:t>
            </a:r>
            <a:endParaRPr lang="en-US" sz="1000" dirty="0"/>
          </a:p>
        </p:txBody>
      </p:sp>
      <p:sp>
        <p:nvSpPr>
          <p:cNvPr id="22" name="Shape 20"/>
          <p:cNvSpPr/>
          <p:nvPr/>
        </p:nvSpPr>
        <p:spPr>
          <a:xfrm>
            <a:off x="274320" y="3236976"/>
            <a:ext cx="5760720" cy="402336"/>
          </a:xfrm>
          <a:prstGeom prst="rect">
            <a:avLst/>
          </a:prstGeom>
          <a:solidFill>
            <a:srgbClr val="F5F7FA"/>
          </a:solidFill>
          <a:ln w="12700">
            <a:solidFill>
              <a:srgbClr val="F5F7FA"/>
            </a:solidFill>
            <a:prstDash val="solid"/>
          </a:ln>
        </p:spPr>
        <p:txBody>
          <a:bodyPr/>
          <a:p/>
        </p:txBody>
      </p:sp>
      <p:sp>
        <p:nvSpPr>
          <p:cNvPr id="23" name="Text 21"/>
          <p:cNvSpPr txBox="1"/>
          <p:nvPr/>
        </p:nvSpPr>
        <p:spPr>
          <a:xfrm>
            <a:off x="365760" y="3273552"/>
            <a:ext cx="2286000" cy="329184"/>
          </a:xfrm>
          <a:prstGeom prst="rect">
            <a:avLst/>
          </a:prstGeom>
          <a:noFill/>
          <a:ln/>
        </p:spPr>
        <p:txBody>
          <a:bodyPr wrap="square" lIns="25400" tIns="25400" rIns="25400" bIns="25400" rtlCol="0" anchor="ctr"/>
          <a:lstStyle/>
          <a:p>
            <a:pPr algn="l" indent="0" marL="0">
              <a:buNone/>
            </a:pPr>
            <a:r>
              <a:rPr lang="en-US" sz="1050" dirty="0">
                <a:solidFill>
                  <a:srgbClr val="1E3A5F"/>
                </a:solidFill>
                <a:latin typeface="Calibri" pitchFamily="34" charset="0"/>
                <a:ea typeface="Calibri" pitchFamily="34" charset="-122"/>
                <a:cs typeface="Calibri" pitchFamily="34" charset="-120"/>
              </a:rPr>
              <a:t>🔒 POST /api/auth/login</a:t>
            </a:r>
            <a:endParaRPr lang="en-US" sz="1050" dirty="0"/>
          </a:p>
        </p:txBody>
      </p:sp>
      <p:sp>
        <p:nvSpPr>
          <p:cNvPr id="24" name="Text 22"/>
          <p:cNvSpPr txBox="1"/>
          <p:nvPr/>
        </p:nvSpPr>
        <p:spPr>
          <a:xfrm>
            <a:off x="2697480" y="3273552"/>
            <a:ext cx="777240" cy="329184"/>
          </a:xfrm>
          <a:prstGeom prst="rect">
            <a:avLst/>
          </a:prstGeom>
          <a:noFill/>
          <a:ln/>
        </p:spPr>
        <p:txBody>
          <a:bodyPr wrap="square" lIns="25400" tIns="25400" rIns="25400" bIns="25400" rtlCol="0" anchor="ctr"/>
          <a:lstStyle/>
          <a:p>
            <a:pPr algn="ctr" indent="0" marL="0">
              <a:buNone/>
            </a:pPr>
            <a:r>
              <a:rPr lang="en-US" sz="1300" b="1" dirty="0">
                <a:solidFill>
                  <a:srgbClr val="0A5C36"/>
                </a:solidFill>
                <a:latin typeface="Calibri" pitchFamily="34" charset="0"/>
                <a:ea typeface="Calibri" pitchFamily="34" charset="-122"/>
                <a:cs typeface="Calibri" pitchFamily="34" charset="-120"/>
              </a:rPr>
              <a:t>280ms</a:t>
            </a:r>
            <a:endParaRPr lang="en-US" sz="1300" dirty="0"/>
          </a:p>
        </p:txBody>
      </p:sp>
      <p:sp>
        <p:nvSpPr>
          <p:cNvPr id="25" name="Text 23"/>
          <p:cNvSpPr txBox="1"/>
          <p:nvPr/>
        </p:nvSpPr>
        <p:spPr>
          <a:xfrm>
            <a:off x="3520440" y="3273552"/>
            <a:ext cx="2468880" cy="329184"/>
          </a:xfrm>
          <a:prstGeom prst="rect">
            <a:avLst/>
          </a:prstGeom>
          <a:noFill/>
          <a:ln/>
        </p:spPr>
        <p:txBody>
          <a:bodyPr wrap="square" lIns="25400" tIns="25400" rIns="25400" bIns="25400" rtlCol="0" anchor="ctr"/>
          <a:lstStyle/>
          <a:p>
            <a:pPr algn="l" indent="0" marL="0">
              <a:buNone/>
            </a:pPr>
            <a:r>
              <a:rPr lang="en-US" sz="1000" dirty="0">
                <a:solidFill>
                  <a:srgbClr val="4A5568"/>
                </a:solidFill>
                <a:latin typeface="Calibri" pitchFamily="34" charset="0"/>
                <a:ea typeface="Calibri" pitchFamily="34" charset="-122"/>
                <a:cs typeface="Calibri" pitchFamily="34" charset="-120"/>
              </a:rPr>
              <a:t>BCrypt-12 deliberate — NIST (2018)</a:t>
            </a:r>
            <a:endParaRPr lang="en-US" sz="1000" dirty="0"/>
          </a:p>
        </p:txBody>
      </p:sp>
      <p:sp>
        <p:nvSpPr>
          <p:cNvPr id="26" name="Shape 24"/>
          <p:cNvSpPr/>
          <p:nvPr/>
        </p:nvSpPr>
        <p:spPr>
          <a:xfrm>
            <a:off x="274320" y="3675888"/>
            <a:ext cx="5760720" cy="402336"/>
          </a:xfrm>
          <a:prstGeom prst="rect">
            <a:avLst/>
          </a:prstGeom>
          <a:solidFill>
            <a:srgbClr val="EBF0F7"/>
          </a:solidFill>
          <a:ln w="12700">
            <a:solidFill>
              <a:srgbClr val="EBF0F7"/>
            </a:solidFill>
            <a:prstDash val="solid"/>
          </a:ln>
        </p:spPr>
        <p:txBody>
          <a:bodyPr/>
          <a:p/>
        </p:txBody>
      </p:sp>
      <p:sp>
        <p:nvSpPr>
          <p:cNvPr id="27" name="Text 25"/>
          <p:cNvSpPr txBox="1"/>
          <p:nvPr/>
        </p:nvSpPr>
        <p:spPr>
          <a:xfrm>
            <a:off x="365760" y="3712464"/>
            <a:ext cx="2286000" cy="329184"/>
          </a:xfrm>
          <a:prstGeom prst="rect">
            <a:avLst/>
          </a:prstGeom>
          <a:noFill/>
          <a:ln/>
        </p:spPr>
        <p:txBody>
          <a:bodyPr wrap="square" lIns="25400" tIns="25400" rIns="25400" bIns="25400" rtlCol="0" anchor="ctr"/>
          <a:lstStyle/>
          <a:p>
            <a:pPr algn="l" indent="0" marL="0">
              <a:buNone/>
            </a:pPr>
            <a:r>
              <a:rPr lang="en-US" sz="1050" dirty="0">
                <a:solidFill>
                  <a:srgbClr val="1E3A5F"/>
                </a:solidFill>
                <a:latin typeface="Calibri" pitchFamily="34" charset="0"/>
                <a:ea typeface="Calibri" pitchFamily="34" charset="-122"/>
                <a:cs typeface="Calibri" pitchFamily="34" charset="-120"/>
              </a:rPr>
              <a:t>ℹ️ POST /api/ai/predict</a:t>
            </a:r>
            <a:endParaRPr lang="en-US" sz="1050" dirty="0"/>
          </a:p>
        </p:txBody>
      </p:sp>
      <p:sp>
        <p:nvSpPr>
          <p:cNvPr id="28" name="Text 26"/>
          <p:cNvSpPr txBox="1"/>
          <p:nvPr/>
        </p:nvSpPr>
        <p:spPr>
          <a:xfrm>
            <a:off x="2697480" y="3712464"/>
            <a:ext cx="777240" cy="329184"/>
          </a:xfrm>
          <a:prstGeom prst="rect">
            <a:avLst/>
          </a:prstGeom>
          <a:noFill/>
          <a:ln/>
        </p:spPr>
        <p:txBody>
          <a:bodyPr wrap="square" lIns="25400" tIns="25400" rIns="25400" bIns="25400" rtlCol="0" anchor="ctr"/>
          <a:lstStyle/>
          <a:p>
            <a:pPr algn="ctr" indent="0" marL="0">
              <a:buNone/>
            </a:pPr>
            <a:r>
              <a:rPr lang="en-US" sz="1300" b="1" dirty="0">
                <a:solidFill>
                  <a:srgbClr val="B45309"/>
                </a:solidFill>
                <a:latin typeface="Calibri" pitchFamily="34" charset="0"/>
                <a:ea typeface="Calibri" pitchFamily="34" charset="-122"/>
                <a:cs typeface="Calibri" pitchFamily="34" charset="-120"/>
              </a:rPr>
              <a:t>1.4s</a:t>
            </a:r>
            <a:endParaRPr lang="en-US" sz="1300" dirty="0"/>
          </a:p>
        </p:txBody>
      </p:sp>
      <p:sp>
        <p:nvSpPr>
          <p:cNvPr id="29" name="Text 27"/>
          <p:cNvSpPr txBox="1"/>
          <p:nvPr/>
        </p:nvSpPr>
        <p:spPr>
          <a:xfrm>
            <a:off x="3520440" y="3712464"/>
            <a:ext cx="2468880" cy="329184"/>
          </a:xfrm>
          <a:prstGeom prst="rect">
            <a:avLst/>
          </a:prstGeom>
          <a:noFill/>
          <a:ln/>
        </p:spPr>
        <p:txBody>
          <a:bodyPr wrap="square" lIns="25400" tIns="25400" rIns="25400" bIns="25400" rtlCol="0" anchor="ctr"/>
          <a:lstStyle/>
          <a:p>
            <a:pPr algn="l" indent="0" marL="0">
              <a:buNone/>
            </a:pPr>
            <a:r>
              <a:rPr lang="en-US" sz="1000" dirty="0">
                <a:solidFill>
                  <a:srgbClr val="4A5568"/>
                </a:solidFill>
                <a:latin typeface="Calibri" pitchFamily="34" charset="0"/>
                <a:ea typeface="Calibri" pitchFamily="34" charset="-122"/>
                <a:cs typeface="Calibri" pitchFamily="34" charset="-120"/>
              </a:rPr>
              <a:t>20 perturbation passes (base = 50ms)</a:t>
            </a:r>
            <a:endParaRPr lang="en-US" sz="1000" dirty="0"/>
          </a:p>
        </p:txBody>
      </p:sp>
      <p:sp>
        <p:nvSpPr>
          <p:cNvPr id="30" name="Text 28"/>
          <p:cNvSpPr txBox="1"/>
          <p:nvPr/>
        </p:nvSpPr>
        <p:spPr>
          <a:xfrm>
            <a:off x="6400800" y="1078992"/>
            <a:ext cx="5486400" cy="347472"/>
          </a:xfrm>
          <a:prstGeom prst="rect">
            <a:avLst/>
          </a:prstGeom>
          <a:noFill/>
          <a:ln/>
        </p:spPr>
        <p:txBody>
          <a:bodyPr wrap="square" lIns="25400" tIns="25400" rIns="25400" bIns="25400" rtlCol="0" anchor="ctr"/>
          <a:lstStyle/>
          <a:p>
            <a:pPr algn="l" indent="0" marL="0">
              <a:buNone/>
            </a:pPr>
            <a:r>
              <a:rPr lang="en-US" sz="1300" b="1" dirty="0">
                <a:solidFill>
                  <a:srgbClr val="1E3A5F"/>
                </a:solidFill>
                <a:latin typeface="Calibri" pitchFamily="34" charset="0"/>
                <a:ea typeface="Calibri" pitchFamily="34" charset="-122"/>
                <a:cs typeface="Calibri" pitchFamily="34" charset="-120"/>
              </a:rPr>
              <a:t>OWASP Top 10 — 4 Security Controls:</a:t>
            </a:r>
            <a:endParaRPr lang="en-US" sz="1300" dirty="0"/>
          </a:p>
        </p:txBody>
      </p:sp>
      <p:sp>
        <p:nvSpPr>
          <p:cNvPr id="31" name="Shape 29"/>
          <p:cNvSpPr/>
          <p:nvPr/>
        </p:nvSpPr>
        <p:spPr>
          <a:xfrm>
            <a:off x="6400800" y="1481328"/>
            <a:ext cx="5577840" cy="384048"/>
          </a:xfrm>
          <a:prstGeom prst="rect">
            <a:avLst/>
          </a:prstGeom>
          <a:solidFill>
            <a:srgbClr val="1E3A5F"/>
          </a:solidFill>
          <a:ln w="12700">
            <a:solidFill>
              <a:srgbClr val="1E3A5F"/>
            </a:solidFill>
            <a:prstDash val="solid"/>
          </a:ln>
        </p:spPr>
        <p:txBody>
          <a:bodyPr/>
          <a:p/>
        </p:txBody>
      </p:sp>
      <p:sp>
        <p:nvSpPr>
          <p:cNvPr id="32" name="Text 30"/>
          <p:cNvSpPr txBox="1"/>
          <p:nvPr/>
        </p:nvSpPr>
        <p:spPr>
          <a:xfrm>
            <a:off x="6510528" y="1517904"/>
            <a:ext cx="5394960" cy="320040"/>
          </a:xfrm>
          <a:prstGeom prst="rect">
            <a:avLst/>
          </a:prstGeom>
          <a:noFill/>
          <a:ln/>
        </p:spPr>
        <p:txBody>
          <a:bodyPr wrap="square" lIns="25400" tIns="25400" rIns="25400" bIns="2540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 A01 — Broken Access Control</a:t>
            </a:r>
            <a:endParaRPr lang="en-US" sz="1200" dirty="0"/>
          </a:p>
        </p:txBody>
      </p:sp>
      <p:sp>
        <p:nvSpPr>
          <p:cNvPr id="33" name="Shape 31"/>
          <p:cNvSpPr/>
          <p:nvPr/>
        </p:nvSpPr>
        <p:spPr>
          <a:xfrm>
            <a:off x="6400800" y="1865376"/>
            <a:ext cx="5577840" cy="640080"/>
          </a:xfrm>
          <a:prstGeom prst="rect">
            <a:avLst/>
          </a:prstGeom>
          <a:solidFill>
            <a:srgbClr val="F5F7FA"/>
          </a:solidFill>
          <a:ln w="12700">
            <a:solidFill>
              <a:srgbClr val="F5F7FA"/>
            </a:solidFill>
            <a:prstDash val="solid"/>
          </a:ln>
        </p:spPr>
        <p:txBody>
          <a:bodyPr/>
          <a:p/>
        </p:txBody>
      </p:sp>
      <p:sp>
        <p:nvSpPr>
          <p:cNvPr id="34" name="Text 32"/>
          <p:cNvSpPr txBox="1"/>
          <p:nvPr/>
        </p:nvSpPr>
        <p:spPr>
          <a:xfrm>
            <a:off x="6510528" y="1901952"/>
            <a:ext cx="5376672" cy="566928"/>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findByIdAndUserId() returns 404 Not Found — resource existence never revealed to unauthorised user</a:t>
            </a:r>
            <a:endParaRPr lang="en-US" sz="1100" dirty="0"/>
          </a:p>
        </p:txBody>
      </p:sp>
      <p:sp>
        <p:nvSpPr>
          <p:cNvPr id="35" name="Shape 33"/>
          <p:cNvSpPr/>
          <p:nvPr/>
        </p:nvSpPr>
        <p:spPr>
          <a:xfrm>
            <a:off x="6400800" y="2532888"/>
            <a:ext cx="5577840" cy="384048"/>
          </a:xfrm>
          <a:prstGeom prst="rect">
            <a:avLst/>
          </a:prstGeom>
          <a:solidFill>
            <a:srgbClr val="1E3A5F"/>
          </a:solidFill>
          <a:ln w="12700">
            <a:solidFill>
              <a:srgbClr val="1E3A5F"/>
            </a:solidFill>
            <a:prstDash val="solid"/>
          </a:ln>
        </p:spPr>
        <p:txBody>
          <a:bodyPr/>
          <a:p/>
        </p:txBody>
      </p:sp>
      <p:sp>
        <p:nvSpPr>
          <p:cNvPr id="36" name="Text 34"/>
          <p:cNvSpPr txBox="1"/>
          <p:nvPr/>
        </p:nvSpPr>
        <p:spPr>
          <a:xfrm>
            <a:off x="6510528" y="2569464"/>
            <a:ext cx="5394960" cy="320040"/>
          </a:xfrm>
          <a:prstGeom prst="rect">
            <a:avLst/>
          </a:prstGeom>
          <a:noFill/>
          <a:ln/>
        </p:spPr>
        <p:txBody>
          <a:bodyPr wrap="square" lIns="25400" tIns="25400" rIns="25400" bIns="2540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 A02 — Cryptographic Failures</a:t>
            </a:r>
            <a:endParaRPr lang="en-US" sz="1200" dirty="0"/>
          </a:p>
        </p:txBody>
      </p:sp>
      <p:sp>
        <p:nvSpPr>
          <p:cNvPr id="37" name="Shape 35"/>
          <p:cNvSpPr/>
          <p:nvPr/>
        </p:nvSpPr>
        <p:spPr>
          <a:xfrm>
            <a:off x="6400800" y="2916936"/>
            <a:ext cx="5577840" cy="640080"/>
          </a:xfrm>
          <a:prstGeom prst="rect">
            <a:avLst/>
          </a:prstGeom>
          <a:solidFill>
            <a:srgbClr val="F5F7FA"/>
          </a:solidFill>
          <a:ln w="12700">
            <a:solidFill>
              <a:srgbClr val="F5F7FA"/>
            </a:solidFill>
            <a:prstDash val="solid"/>
          </a:ln>
        </p:spPr>
        <p:txBody>
          <a:bodyPr/>
          <a:p/>
        </p:txBody>
      </p:sp>
      <p:sp>
        <p:nvSpPr>
          <p:cNvPr id="38" name="Text 36"/>
          <p:cNvSpPr txBox="1"/>
          <p:nvPr/>
        </p:nvSpPr>
        <p:spPr>
          <a:xfrm>
            <a:off x="6510528" y="2953512"/>
            <a:ext cx="5376672" cy="566928"/>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BCrypt strength 12 · 4,096 hashing rounds · NIST (2018) password security guideline compliant</a:t>
            </a:r>
            <a:endParaRPr lang="en-US" sz="1100" dirty="0"/>
          </a:p>
        </p:txBody>
      </p:sp>
      <p:sp>
        <p:nvSpPr>
          <p:cNvPr id="39" name="Shape 37"/>
          <p:cNvSpPr/>
          <p:nvPr/>
        </p:nvSpPr>
        <p:spPr>
          <a:xfrm>
            <a:off x="6400800" y="3584448"/>
            <a:ext cx="5577840" cy="384048"/>
          </a:xfrm>
          <a:prstGeom prst="rect">
            <a:avLst/>
          </a:prstGeom>
          <a:solidFill>
            <a:srgbClr val="1E3A5F"/>
          </a:solidFill>
          <a:ln w="12700">
            <a:solidFill>
              <a:srgbClr val="1E3A5F"/>
            </a:solidFill>
            <a:prstDash val="solid"/>
          </a:ln>
        </p:spPr>
        <p:txBody>
          <a:bodyPr/>
          <a:p/>
        </p:txBody>
      </p:sp>
      <p:sp>
        <p:nvSpPr>
          <p:cNvPr id="40" name="Text 38"/>
          <p:cNvSpPr txBox="1"/>
          <p:nvPr/>
        </p:nvSpPr>
        <p:spPr>
          <a:xfrm>
            <a:off x="6510528" y="3621024"/>
            <a:ext cx="5394960" cy="320040"/>
          </a:xfrm>
          <a:prstGeom prst="rect">
            <a:avLst/>
          </a:prstGeom>
          <a:noFill/>
          <a:ln/>
        </p:spPr>
        <p:txBody>
          <a:bodyPr wrap="square" lIns="25400" tIns="25400" rIns="25400" bIns="2540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 A03 — Injection</a:t>
            </a:r>
            <a:endParaRPr lang="en-US" sz="1200" dirty="0"/>
          </a:p>
        </p:txBody>
      </p:sp>
      <p:sp>
        <p:nvSpPr>
          <p:cNvPr id="41" name="Shape 39"/>
          <p:cNvSpPr/>
          <p:nvPr/>
        </p:nvSpPr>
        <p:spPr>
          <a:xfrm>
            <a:off x="6400800" y="3968496"/>
            <a:ext cx="5577840" cy="640080"/>
          </a:xfrm>
          <a:prstGeom prst="rect">
            <a:avLst/>
          </a:prstGeom>
          <a:solidFill>
            <a:srgbClr val="F5F7FA"/>
          </a:solidFill>
          <a:ln w="12700">
            <a:solidFill>
              <a:srgbClr val="F5F7FA"/>
            </a:solidFill>
            <a:prstDash val="solid"/>
          </a:ln>
        </p:spPr>
        <p:txBody>
          <a:bodyPr/>
          <a:p/>
        </p:txBody>
      </p:sp>
      <p:sp>
        <p:nvSpPr>
          <p:cNvPr id="42" name="Text 40"/>
          <p:cNvSpPr txBox="1"/>
          <p:nvPr/>
        </p:nvSpPr>
        <p:spPr>
          <a:xfrm>
            <a:off x="6510528" y="4005072"/>
            <a:ext cx="5376672" cy="566928"/>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All JPA queries use @Param parameterised bindings · Zero SQL string concatenation anywhere in codebase</a:t>
            </a:r>
            <a:endParaRPr lang="en-US" sz="1100" dirty="0"/>
          </a:p>
        </p:txBody>
      </p:sp>
      <p:sp>
        <p:nvSpPr>
          <p:cNvPr id="43" name="Shape 41"/>
          <p:cNvSpPr/>
          <p:nvPr/>
        </p:nvSpPr>
        <p:spPr>
          <a:xfrm>
            <a:off x="6400800" y="4636008"/>
            <a:ext cx="5577840" cy="384048"/>
          </a:xfrm>
          <a:prstGeom prst="rect">
            <a:avLst/>
          </a:prstGeom>
          <a:solidFill>
            <a:srgbClr val="1E3A5F"/>
          </a:solidFill>
          <a:ln w="12700">
            <a:solidFill>
              <a:srgbClr val="1E3A5F"/>
            </a:solidFill>
            <a:prstDash val="solid"/>
          </a:ln>
        </p:spPr>
        <p:txBody>
          <a:bodyPr/>
          <a:p/>
        </p:txBody>
      </p:sp>
      <p:sp>
        <p:nvSpPr>
          <p:cNvPr id="44" name="Text 42"/>
          <p:cNvSpPr txBox="1"/>
          <p:nvPr/>
        </p:nvSpPr>
        <p:spPr>
          <a:xfrm>
            <a:off x="6510528" y="4672584"/>
            <a:ext cx="5394960" cy="320040"/>
          </a:xfrm>
          <a:prstGeom prst="rect">
            <a:avLst/>
          </a:prstGeom>
          <a:noFill/>
          <a:ln/>
        </p:spPr>
        <p:txBody>
          <a:bodyPr wrap="square" lIns="25400" tIns="25400" rIns="25400" bIns="2540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 A07 — Auth Failures</a:t>
            </a:r>
            <a:endParaRPr lang="en-US" sz="1200" dirty="0"/>
          </a:p>
        </p:txBody>
      </p:sp>
      <p:sp>
        <p:nvSpPr>
          <p:cNvPr id="45" name="Shape 43"/>
          <p:cNvSpPr/>
          <p:nvPr/>
        </p:nvSpPr>
        <p:spPr>
          <a:xfrm>
            <a:off x="6400800" y="5020056"/>
            <a:ext cx="5577840" cy="640080"/>
          </a:xfrm>
          <a:prstGeom prst="rect">
            <a:avLst/>
          </a:prstGeom>
          <a:solidFill>
            <a:srgbClr val="F5F7FA"/>
          </a:solidFill>
          <a:ln w="12700">
            <a:solidFill>
              <a:srgbClr val="F5F7FA"/>
            </a:solidFill>
            <a:prstDash val="solid"/>
          </a:ln>
        </p:spPr>
        <p:txBody>
          <a:bodyPr/>
          <a:p/>
        </p:txBody>
      </p:sp>
      <p:sp>
        <p:nvSpPr>
          <p:cNvPr id="46" name="Text 44"/>
          <p:cNvSpPr txBox="1"/>
          <p:nvPr/>
        </p:nvSpPr>
        <p:spPr>
          <a:xfrm>
            <a:off x="6510528" y="5056632"/>
            <a:ext cx="5376672" cy="566928"/>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JWT expiry enforced · Wrong password returns no field-level error detail · Stateless — no server sessions</a:t>
            </a:r>
            <a:endParaRPr lang="en-US" sz="1100" dirty="0"/>
          </a:p>
        </p:txBody>
      </p:sp>
      <p:sp>
        <p:nvSpPr>
          <p:cNvPr id="47" name="Shape 45"/>
          <p:cNvSpPr/>
          <p:nvPr/>
        </p:nvSpPr>
        <p:spPr>
          <a:xfrm>
            <a:off x="274320" y="5074920"/>
            <a:ext cx="5760720" cy="530352"/>
          </a:xfrm>
          <a:prstGeom prst="rect">
            <a:avLst/>
          </a:prstGeom>
          <a:solidFill>
            <a:srgbClr val="E6F4F5"/>
          </a:solidFill>
          <a:ln w="12700">
            <a:solidFill>
              <a:srgbClr val="E6F4F5"/>
            </a:solidFill>
            <a:prstDash val="solid"/>
          </a:ln>
        </p:spPr>
        <p:txBody>
          <a:bodyPr/>
          <a:p/>
        </p:txBody>
      </p:sp>
      <p:sp>
        <p:nvSpPr>
          <p:cNvPr id="48" name="Text 46"/>
          <p:cNvSpPr txBox="1"/>
          <p:nvPr/>
        </p:nvSpPr>
        <p:spPr>
          <a:xfrm>
            <a:off x="411480" y="5120640"/>
            <a:ext cx="5577840" cy="438912"/>
          </a:xfrm>
          <a:prstGeom prst="rect">
            <a:avLst/>
          </a:prstGeom>
          <a:noFill/>
          <a:ln/>
        </p:spPr>
        <p:txBody>
          <a:bodyPr wrap="square" lIns="25400" tIns="25400" rIns="25400" bIns="25400" rtlCol="0" anchor="ctr"/>
          <a:lstStyle/>
          <a:p>
            <a:pPr algn="l" indent="0" marL="0">
              <a:buNone/>
            </a:pPr>
            <a:r>
              <a:rPr lang="en-US" sz="1050" dirty="0">
                <a:solidFill>
                  <a:srgbClr val="0D6B72"/>
                </a:solidFill>
                <a:latin typeface="Calibri" pitchFamily="34" charset="0"/>
                <a:ea typeface="Calibri" pitchFamily="34" charset="-122"/>
                <a:cs typeface="Calibri" pitchFamily="34" charset="-120"/>
              </a:rPr>
              <a:t>Login 280ms = BCrypt security design NOT a bug. NIST (2018) recommends computationally expensive hashing. AI 1.4s = 20 perturbation confidence passes; base DNN forward pass = 50ms only.</a:t>
            </a:r>
            <a:endParaRPr lang="en-US" sz="1050" dirty="0"/>
          </a:p>
        </p:txBody>
      </p:sp>
      <p:sp>
        <p:nvSpPr>
          <p:cNvPr id="49" name="Shape 47"/>
          <p:cNvSpPr/>
          <p:nvPr/>
        </p:nvSpPr>
        <p:spPr>
          <a:xfrm>
            <a:off x="0" y="6510528"/>
            <a:ext cx="12161520" cy="347472"/>
          </a:xfrm>
          <a:prstGeom prst="rect">
            <a:avLst/>
          </a:prstGeom>
          <a:solidFill>
            <a:srgbClr val="E8EDF3"/>
          </a:solidFill>
          <a:ln w="12700">
            <a:solidFill>
              <a:srgbClr val="E8EDF3"/>
            </a:solidFill>
            <a:prstDash val="solid"/>
          </a:ln>
        </p:spPr>
        <p:txBody>
          <a:body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E3A5F"/>
          </a:solidFill>
          <a:ln w="12700">
            <a:solidFill>
              <a:srgbClr val="1E3A5F"/>
            </a:solidFill>
            <a:prstDash val="solid"/>
          </a:ln>
        </p:spPr>
        <p:txBody>
          <a:bodyPr/>
          <a:p/>
        </p:txBody>
      </p:sp>
      <p:sp>
        <p:nvSpPr>
          <p:cNvPr id="3" name="Text 1"/>
          <p:cNvSpPr txBox="1"/>
          <p:nvPr/>
        </p:nvSpPr>
        <p:spPr>
          <a:xfrm>
            <a:off x="365760" y="45720"/>
            <a:ext cx="10058400" cy="566928"/>
          </a:xfrm>
          <a:prstGeom prst="rect">
            <a:avLst/>
          </a:prstGeom>
          <a:noFill/>
          <a:ln/>
        </p:spPr>
        <p:txBody>
          <a:bodyPr wrap="square" lIns="25400" tIns="25400" rIns="25400" bIns="2540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Dimension 3: Usability — Nielsen (1994) Heuristic Evaluation</a:t>
            </a:r>
            <a:endParaRPr lang="en-US" sz="2200" dirty="0"/>
          </a:p>
        </p:txBody>
      </p:sp>
      <p:sp>
        <p:nvSpPr>
          <p:cNvPr id="4" name="Text 2"/>
          <p:cNvSpPr txBox="1"/>
          <p:nvPr/>
        </p:nvSpPr>
        <p:spPr>
          <a:xfrm>
            <a:off x="365760" y="585216"/>
            <a:ext cx="10972800" cy="329184"/>
          </a:xfrm>
          <a:prstGeom prst="rect">
            <a:avLst/>
          </a:prstGeom>
          <a:noFill/>
          <a:ln/>
        </p:spPr>
        <p:txBody>
          <a:bodyPr wrap="square" lIns="25400" tIns="25400" rIns="25400" bIns="25400" rtlCol="0" anchor="ctr"/>
          <a:lstStyle/>
          <a:p>
            <a:pPr algn="l" indent="0" marL="0">
              <a:buNone/>
            </a:pPr>
            <a:r>
              <a:rPr lang="en-US" sz="1100" dirty="0">
                <a:solidFill>
                  <a:srgbClr val="B8CDE0"/>
                </a:solidFill>
                <a:latin typeface="Calibri" pitchFamily="34" charset="0"/>
                <a:ea typeface="Calibri" pitchFamily="34" charset="-122"/>
                <a:cs typeface="Calibri" pitchFamily="34" charset="-120"/>
              </a:rPr>
              <a:t>Dr. Kesavan requirement: User/system usefulness is Evaluation Dimension 3 of 3 · SUS deferred — ethics approval required</a:t>
            </a:r>
            <a:endParaRPr lang="en-US" sz="1100" dirty="0"/>
          </a:p>
        </p:txBody>
      </p:sp>
      <p:sp>
        <p:nvSpPr>
          <p:cNvPr id="5" name="Shape 3"/>
          <p:cNvSpPr/>
          <p:nvPr/>
        </p:nvSpPr>
        <p:spPr>
          <a:xfrm>
            <a:off x="0" y="960120"/>
            <a:ext cx="12161520" cy="45720"/>
          </a:xfrm>
          <a:prstGeom prst="rect">
            <a:avLst/>
          </a:prstGeom>
          <a:solidFill>
            <a:srgbClr val="0D6B72"/>
          </a:solidFill>
          <a:ln w="12700">
            <a:solidFill>
              <a:srgbClr val="0D6B72"/>
            </a:solidFill>
            <a:prstDash val="solid"/>
          </a:ln>
        </p:spPr>
        <p:txBody>
          <a:bodyPr/>
          <a:p/>
        </p:txBody>
      </p:sp>
      <p:sp>
        <p:nvSpPr>
          <p:cNvPr id="6" name="Shape 4"/>
          <p:cNvSpPr/>
          <p:nvPr/>
        </p:nvSpPr>
        <p:spPr>
          <a:xfrm>
            <a:off x="274320" y="1097280"/>
            <a:ext cx="5742432" cy="914400"/>
          </a:xfrm>
          <a:prstGeom prst="rect">
            <a:avLst/>
          </a:prstGeom>
          <a:solidFill>
            <a:srgbClr val="E6F4F5"/>
          </a:solidFill>
          <a:ln w="12700">
            <a:solidFill>
              <a:srgbClr val="E6F4F5"/>
            </a:solidFill>
            <a:prstDash val="solid"/>
          </a:ln>
        </p:spPr>
        <p:txBody>
          <a:bodyPr/>
          <a:p/>
        </p:txBody>
      </p:sp>
      <p:sp>
        <p:nvSpPr>
          <p:cNvPr id="7" name="Shape 5"/>
          <p:cNvSpPr/>
          <p:nvPr/>
        </p:nvSpPr>
        <p:spPr>
          <a:xfrm>
            <a:off x="274320" y="1097280"/>
            <a:ext cx="5742432" cy="365760"/>
          </a:xfrm>
          <a:prstGeom prst="rect">
            <a:avLst/>
          </a:prstGeom>
          <a:solidFill>
            <a:srgbClr val="0A5C36"/>
          </a:solidFill>
          <a:ln w="12700">
            <a:solidFill>
              <a:srgbClr val="0A5C36"/>
            </a:solidFill>
            <a:prstDash val="solid"/>
          </a:ln>
        </p:spPr>
        <p:txBody>
          <a:bodyPr/>
          <a:p/>
        </p:txBody>
      </p:sp>
      <p:sp>
        <p:nvSpPr>
          <p:cNvPr id="8" name="Text 6"/>
          <p:cNvSpPr txBox="1"/>
          <p:nvPr/>
        </p:nvSpPr>
        <p:spPr>
          <a:xfrm>
            <a:off x="365760" y="1133856"/>
            <a:ext cx="3657600" cy="310896"/>
          </a:xfrm>
          <a:prstGeom prst="rect">
            <a:avLst/>
          </a:prstGeom>
          <a:noFill/>
          <a:ln/>
        </p:spPr>
        <p:txBody>
          <a:bodyPr wrap="square" lIns="25400" tIns="25400" rIns="25400" bIns="2540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H1 — Visibility of System Status</a:t>
            </a:r>
            <a:endParaRPr lang="en-US" sz="1100" dirty="0"/>
          </a:p>
        </p:txBody>
      </p:sp>
      <p:sp>
        <p:nvSpPr>
          <p:cNvPr id="9" name="Text 7"/>
          <p:cNvSpPr txBox="1"/>
          <p:nvPr/>
        </p:nvSpPr>
        <p:spPr>
          <a:xfrm>
            <a:off x="4023360" y="1133856"/>
            <a:ext cx="1920240" cy="310896"/>
          </a:xfrm>
          <a:prstGeom prst="rect">
            <a:avLst/>
          </a:prstGeom>
          <a:noFill/>
          <a:ln/>
        </p:spPr>
        <p:txBody>
          <a:bodyPr wrap="square" lIns="25400" tIns="25400" rIns="25400" bIns="2540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 FULL</a:t>
            </a:r>
            <a:endParaRPr lang="en-US" sz="1100" dirty="0"/>
          </a:p>
        </p:txBody>
      </p:sp>
      <p:sp>
        <p:nvSpPr>
          <p:cNvPr id="10" name="Text 8"/>
          <p:cNvSpPr txBox="1"/>
          <p:nvPr/>
        </p:nvSpPr>
        <p:spPr>
          <a:xfrm>
            <a:off x="365760" y="1499616"/>
            <a:ext cx="5559552" cy="475488"/>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Loading spinners · Dashboard 'Live data' badge · AI Insights 'Model ready' indicator</a:t>
            </a:r>
            <a:endParaRPr lang="en-US" sz="1050" dirty="0"/>
          </a:p>
        </p:txBody>
      </p:sp>
      <p:sp>
        <p:nvSpPr>
          <p:cNvPr id="11" name="Shape 9"/>
          <p:cNvSpPr/>
          <p:nvPr/>
        </p:nvSpPr>
        <p:spPr>
          <a:xfrm>
            <a:off x="6217920" y="1097280"/>
            <a:ext cx="5742432" cy="914400"/>
          </a:xfrm>
          <a:prstGeom prst="rect">
            <a:avLst/>
          </a:prstGeom>
          <a:solidFill>
            <a:srgbClr val="E6F4F5"/>
          </a:solidFill>
          <a:ln w="12700">
            <a:solidFill>
              <a:srgbClr val="E6F4F5"/>
            </a:solidFill>
            <a:prstDash val="solid"/>
          </a:ln>
        </p:spPr>
        <p:txBody>
          <a:bodyPr/>
          <a:p/>
        </p:txBody>
      </p:sp>
      <p:sp>
        <p:nvSpPr>
          <p:cNvPr id="12" name="Shape 10"/>
          <p:cNvSpPr/>
          <p:nvPr/>
        </p:nvSpPr>
        <p:spPr>
          <a:xfrm>
            <a:off x="6217920" y="1097280"/>
            <a:ext cx="5742432" cy="365760"/>
          </a:xfrm>
          <a:prstGeom prst="rect">
            <a:avLst/>
          </a:prstGeom>
          <a:solidFill>
            <a:srgbClr val="0A5C36"/>
          </a:solidFill>
          <a:ln w="12700">
            <a:solidFill>
              <a:srgbClr val="0A5C36"/>
            </a:solidFill>
            <a:prstDash val="solid"/>
          </a:ln>
        </p:spPr>
        <p:txBody>
          <a:bodyPr/>
          <a:p/>
        </p:txBody>
      </p:sp>
      <p:sp>
        <p:nvSpPr>
          <p:cNvPr id="13" name="Text 11"/>
          <p:cNvSpPr txBox="1"/>
          <p:nvPr/>
        </p:nvSpPr>
        <p:spPr>
          <a:xfrm>
            <a:off x="6309360" y="1133856"/>
            <a:ext cx="3657600" cy="310896"/>
          </a:xfrm>
          <a:prstGeom prst="rect">
            <a:avLst/>
          </a:prstGeom>
          <a:noFill/>
          <a:ln/>
        </p:spPr>
        <p:txBody>
          <a:bodyPr wrap="square" lIns="25400" tIns="25400" rIns="25400" bIns="2540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H2 — Match Real World</a:t>
            </a:r>
            <a:endParaRPr lang="en-US" sz="1100" dirty="0"/>
          </a:p>
        </p:txBody>
      </p:sp>
      <p:sp>
        <p:nvSpPr>
          <p:cNvPr id="14" name="Text 12"/>
          <p:cNvSpPr txBox="1"/>
          <p:nvPr/>
        </p:nvSpPr>
        <p:spPr>
          <a:xfrm>
            <a:off x="9966960" y="1133856"/>
            <a:ext cx="1920240" cy="310896"/>
          </a:xfrm>
          <a:prstGeom prst="rect">
            <a:avLst/>
          </a:prstGeom>
          <a:noFill/>
          <a:ln/>
        </p:spPr>
        <p:txBody>
          <a:bodyPr wrap="square" lIns="25400" tIns="25400" rIns="25400" bIns="2540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 FULL</a:t>
            </a:r>
            <a:endParaRPr lang="en-US" sz="1100" dirty="0"/>
          </a:p>
        </p:txBody>
      </p:sp>
      <p:sp>
        <p:nvSpPr>
          <p:cNvPr id="15" name="Text 13"/>
          <p:cNvSpPr txBox="1"/>
          <p:nvPr/>
        </p:nvSpPr>
        <p:spPr>
          <a:xfrm>
            <a:off x="6309360" y="1499616"/>
            <a:ext cx="5559552" cy="475488"/>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Plain-English crops (Spinach, Kale) · emoji labels · Singapore date formats</a:t>
            </a:r>
            <a:endParaRPr lang="en-US" sz="1050" dirty="0"/>
          </a:p>
        </p:txBody>
      </p:sp>
      <p:sp>
        <p:nvSpPr>
          <p:cNvPr id="16" name="Shape 14"/>
          <p:cNvSpPr/>
          <p:nvPr/>
        </p:nvSpPr>
        <p:spPr>
          <a:xfrm>
            <a:off x="274320" y="2057400"/>
            <a:ext cx="5742432" cy="914400"/>
          </a:xfrm>
          <a:prstGeom prst="rect">
            <a:avLst/>
          </a:prstGeom>
          <a:solidFill>
            <a:srgbClr val="E6F4F5"/>
          </a:solidFill>
          <a:ln w="12700">
            <a:solidFill>
              <a:srgbClr val="E6F4F5"/>
            </a:solidFill>
            <a:prstDash val="solid"/>
          </a:ln>
        </p:spPr>
        <p:txBody>
          <a:bodyPr/>
          <a:p/>
        </p:txBody>
      </p:sp>
      <p:sp>
        <p:nvSpPr>
          <p:cNvPr id="17" name="Shape 15"/>
          <p:cNvSpPr/>
          <p:nvPr/>
        </p:nvSpPr>
        <p:spPr>
          <a:xfrm>
            <a:off x="274320" y="2057400"/>
            <a:ext cx="5742432" cy="365760"/>
          </a:xfrm>
          <a:prstGeom prst="rect">
            <a:avLst/>
          </a:prstGeom>
          <a:solidFill>
            <a:srgbClr val="0A5C36"/>
          </a:solidFill>
          <a:ln w="12700">
            <a:solidFill>
              <a:srgbClr val="0A5C36"/>
            </a:solidFill>
            <a:prstDash val="solid"/>
          </a:ln>
        </p:spPr>
        <p:txBody>
          <a:bodyPr/>
          <a:p/>
        </p:txBody>
      </p:sp>
      <p:sp>
        <p:nvSpPr>
          <p:cNvPr id="18" name="Text 16"/>
          <p:cNvSpPr txBox="1"/>
          <p:nvPr/>
        </p:nvSpPr>
        <p:spPr>
          <a:xfrm>
            <a:off x="365760" y="2093976"/>
            <a:ext cx="3657600" cy="310896"/>
          </a:xfrm>
          <a:prstGeom prst="rect">
            <a:avLst/>
          </a:prstGeom>
          <a:noFill/>
          <a:ln/>
        </p:spPr>
        <p:txBody>
          <a:bodyPr wrap="square" lIns="25400" tIns="25400" rIns="25400" bIns="2540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H3 — User Control &amp; Freedom</a:t>
            </a:r>
            <a:endParaRPr lang="en-US" sz="1100" dirty="0"/>
          </a:p>
        </p:txBody>
      </p:sp>
      <p:sp>
        <p:nvSpPr>
          <p:cNvPr id="19" name="Text 17"/>
          <p:cNvSpPr txBox="1"/>
          <p:nvPr/>
        </p:nvSpPr>
        <p:spPr>
          <a:xfrm>
            <a:off x="4023360" y="2093976"/>
            <a:ext cx="1920240" cy="310896"/>
          </a:xfrm>
          <a:prstGeom prst="rect">
            <a:avLst/>
          </a:prstGeom>
          <a:noFill/>
          <a:ln/>
        </p:spPr>
        <p:txBody>
          <a:bodyPr wrap="square" lIns="25400" tIns="25400" rIns="25400" bIns="2540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 FULL</a:t>
            </a:r>
            <a:endParaRPr lang="en-US" sz="1100" dirty="0"/>
          </a:p>
        </p:txBody>
      </p:sp>
      <p:sp>
        <p:nvSpPr>
          <p:cNvPr id="20" name="Text 18"/>
          <p:cNvSpPr txBox="1"/>
          <p:nvPr/>
        </p:nvSpPr>
        <p:spPr>
          <a:xfrm>
            <a:off x="365760" y="2459736"/>
            <a:ext cx="5559552" cy="475488"/>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Cancel on all modals · Sign Out in sidebar · back navigation everywhere</a:t>
            </a:r>
            <a:endParaRPr lang="en-US" sz="1050" dirty="0"/>
          </a:p>
        </p:txBody>
      </p:sp>
      <p:sp>
        <p:nvSpPr>
          <p:cNvPr id="21" name="Shape 19"/>
          <p:cNvSpPr/>
          <p:nvPr/>
        </p:nvSpPr>
        <p:spPr>
          <a:xfrm>
            <a:off x="6217920" y="2057400"/>
            <a:ext cx="5742432" cy="914400"/>
          </a:xfrm>
          <a:prstGeom prst="rect">
            <a:avLst/>
          </a:prstGeom>
          <a:solidFill>
            <a:srgbClr val="E6F4F5"/>
          </a:solidFill>
          <a:ln w="12700">
            <a:solidFill>
              <a:srgbClr val="E6F4F5"/>
            </a:solidFill>
            <a:prstDash val="solid"/>
          </a:ln>
        </p:spPr>
        <p:txBody>
          <a:bodyPr/>
          <a:p/>
        </p:txBody>
      </p:sp>
      <p:sp>
        <p:nvSpPr>
          <p:cNvPr id="22" name="Shape 20"/>
          <p:cNvSpPr/>
          <p:nvPr/>
        </p:nvSpPr>
        <p:spPr>
          <a:xfrm>
            <a:off x="6217920" y="2057400"/>
            <a:ext cx="5742432" cy="365760"/>
          </a:xfrm>
          <a:prstGeom prst="rect">
            <a:avLst/>
          </a:prstGeom>
          <a:solidFill>
            <a:srgbClr val="0A5C36"/>
          </a:solidFill>
          <a:ln w="12700">
            <a:solidFill>
              <a:srgbClr val="0A5C36"/>
            </a:solidFill>
            <a:prstDash val="solid"/>
          </a:ln>
        </p:spPr>
        <p:txBody>
          <a:bodyPr/>
          <a:p/>
        </p:txBody>
      </p:sp>
      <p:sp>
        <p:nvSpPr>
          <p:cNvPr id="23" name="Text 21"/>
          <p:cNvSpPr txBox="1"/>
          <p:nvPr/>
        </p:nvSpPr>
        <p:spPr>
          <a:xfrm>
            <a:off x="6309360" y="2093976"/>
            <a:ext cx="3657600" cy="310896"/>
          </a:xfrm>
          <a:prstGeom prst="rect">
            <a:avLst/>
          </a:prstGeom>
          <a:noFill/>
          <a:ln/>
        </p:spPr>
        <p:txBody>
          <a:bodyPr wrap="square" lIns="25400" tIns="25400" rIns="25400" bIns="2540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H4 — Consistency &amp; Standards</a:t>
            </a:r>
            <a:endParaRPr lang="en-US" sz="1100" dirty="0"/>
          </a:p>
        </p:txBody>
      </p:sp>
      <p:sp>
        <p:nvSpPr>
          <p:cNvPr id="24" name="Text 22"/>
          <p:cNvSpPr txBox="1"/>
          <p:nvPr/>
        </p:nvSpPr>
        <p:spPr>
          <a:xfrm>
            <a:off x="9966960" y="2093976"/>
            <a:ext cx="1920240" cy="310896"/>
          </a:xfrm>
          <a:prstGeom prst="rect">
            <a:avLst/>
          </a:prstGeom>
          <a:noFill/>
          <a:ln/>
        </p:spPr>
        <p:txBody>
          <a:bodyPr wrap="square" lIns="25400" tIns="25400" rIns="25400" bIns="2540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 FULL</a:t>
            </a:r>
            <a:endParaRPr lang="en-US" sz="1100" dirty="0"/>
          </a:p>
        </p:txBody>
      </p:sp>
      <p:sp>
        <p:nvSpPr>
          <p:cNvPr id="25" name="Text 23"/>
          <p:cNvSpPr txBox="1"/>
          <p:nvPr/>
        </p:nvSpPr>
        <p:spPr>
          <a:xfrm>
            <a:off x="6309360" y="2459736"/>
            <a:ext cx="5559552" cy="475488"/>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Consistent headers · standard button styles · HTTP status codes throughout</a:t>
            </a:r>
            <a:endParaRPr lang="en-US" sz="1050" dirty="0"/>
          </a:p>
        </p:txBody>
      </p:sp>
      <p:sp>
        <p:nvSpPr>
          <p:cNvPr id="26" name="Shape 24"/>
          <p:cNvSpPr/>
          <p:nvPr/>
        </p:nvSpPr>
        <p:spPr>
          <a:xfrm>
            <a:off x="274320" y="3017520"/>
            <a:ext cx="5742432" cy="914400"/>
          </a:xfrm>
          <a:prstGeom prst="rect">
            <a:avLst/>
          </a:prstGeom>
          <a:solidFill>
            <a:srgbClr val="E6F4F5"/>
          </a:solidFill>
          <a:ln w="12700">
            <a:solidFill>
              <a:srgbClr val="E6F4F5"/>
            </a:solidFill>
            <a:prstDash val="solid"/>
          </a:ln>
        </p:spPr>
        <p:txBody>
          <a:bodyPr/>
          <a:p/>
        </p:txBody>
      </p:sp>
      <p:sp>
        <p:nvSpPr>
          <p:cNvPr id="27" name="Shape 25"/>
          <p:cNvSpPr/>
          <p:nvPr/>
        </p:nvSpPr>
        <p:spPr>
          <a:xfrm>
            <a:off x="274320" y="3017520"/>
            <a:ext cx="5742432" cy="365760"/>
          </a:xfrm>
          <a:prstGeom prst="rect">
            <a:avLst/>
          </a:prstGeom>
          <a:solidFill>
            <a:srgbClr val="0A5C36"/>
          </a:solidFill>
          <a:ln w="12700">
            <a:solidFill>
              <a:srgbClr val="0A5C36"/>
            </a:solidFill>
            <a:prstDash val="solid"/>
          </a:ln>
        </p:spPr>
        <p:txBody>
          <a:bodyPr/>
          <a:p/>
        </p:txBody>
      </p:sp>
      <p:sp>
        <p:nvSpPr>
          <p:cNvPr id="28" name="Text 26"/>
          <p:cNvSpPr txBox="1"/>
          <p:nvPr/>
        </p:nvSpPr>
        <p:spPr>
          <a:xfrm>
            <a:off x="365760" y="3054096"/>
            <a:ext cx="3657600" cy="310896"/>
          </a:xfrm>
          <a:prstGeom prst="rect">
            <a:avLst/>
          </a:prstGeom>
          <a:noFill/>
          <a:ln/>
        </p:spPr>
        <p:txBody>
          <a:bodyPr wrap="square" lIns="25400" tIns="25400" rIns="25400" bIns="2540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H5 — Error Prevention</a:t>
            </a:r>
            <a:endParaRPr lang="en-US" sz="1100" dirty="0"/>
          </a:p>
        </p:txBody>
      </p:sp>
      <p:sp>
        <p:nvSpPr>
          <p:cNvPr id="29" name="Text 27"/>
          <p:cNvSpPr txBox="1"/>
          <p:nvPr/>
        </p:nvSpPr>
        <p:spPr>
          <a:xfrm>
            <a:off x="4023360" y="3054096"/>
            <a:ext cx="1920240" cy="310896"/>
          </a:xfrm>
          <a:prstGeom prst="rect">
            <a:avLst/>
          </a:prstGeom>
          <a:noFill/>
          <a:ln/>
        </p:spPr>
        <p:txBody>
          <a:bodyPr wrap="square" lIns="25400" tIns="25400" rIns="25400" bIns="2540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 FULL</a:t>
            </a:r>
            <a:endParaRPr lang="en-US" sz="1100" dirty="0"/>
          </a:p>
        </p:txBody>
      </p:sp>
      <p:sp>
        <p:nvSpPr>
          <p:cNvPr id="30" name="Text 28"/>
          <p:cNvSpPr txBox="1"/>
          <p:nvPr/>
        </p:nvSpPr>
        <p:spPr>
          <a:xfrm>
            <a:off x="365760" y="3419856"/>
            <a:ext cx="5559552" cy="475488"/>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Required field validation · date pickers · email format check before submission</a:t>
            </a:r>
            <a:endParaRPr lang="en-US" sz="1050" dirty="0"/>
          </a:p>
        </p:txBody>
      </p:sp>
      <p:sp>
        <p:nvSpPr>
          <p:cNvPr id="31" name="Shape 29"/>
          <p:cNvSpPr/>
          <p:nvPr/>
        </p:nvSpPr>
        <p:spPr>
          <a:xfrm>
            <a:off x="6217920" y="3017520"/>
            <a:ext cx="5742432" cy="914400"/>
          </a:xfrm>
          <a:prstGeom prst="rect">
            <a:avLst/>
          </a:prstGeom>
          <a:solidFill>
            <a:srgbClr val="E6F4F5"/>
          </a:solidFill>
          <a:ln w="12700">
            <a:solidFill>
              <a:srgbClr val="E6F4F5"/>
            </a:solidFill>
            <a:prstDash val="solid"/>
          </a:ln>
        </p:spPr>
        <p:txBody>
          <a:bodyPr/>
          <a:p/>
        </p:txBody>
      </p:sp>
      <p:sp>
        <p:nvSpPr>
          <p:cNvPr id="32" name="Shape 30"/>
          <p:cNvSpPr/>
          <p:nvPr/>
        </p:nvSpPr>
        <p:spPr>
          <a:xfrm>
            <a:off x="6217920" y="3017520"/>
            <a:ext cx="5742432" cy="365760"/>
          </a:xfrm>
          <a:prstGeom prst="rect">
            <a:avLst/>
          </a:prstGeom>
          <a:solidFill>
            <a:srgbClr val="0A5C36"/>
          </a:solidFill>
          <a:ln w="12700">
            <a:solidFill>
              <a:srgbClr val="0A5C36"/>
            </a:solidFill>
            <a:prstDash val="solid"/>
          </a:ln>
        </p:spPr>
        <p:txBody>
          <a:bodyPr/>
          <a:p/>
        </p:txBody>
      </p:sp>
      <p:sp>
        <p:nvSpPr>
          <p:cNvPr id="33" name="Text 31"/>
          <p:cNvSpPr txBox="1"/>
          <p:nvPr/>
        </p:nvSpPr>
        <p:spPr>
          <a:xfrm>
            <a:off x="6309360" y="3054096"/>
            <a:ext cx="3657600" cy="310896"/>
          </a:xfrm>
          <a:prstGeom prst="rect">
            <a:avLst/>
          </a:prstGeom>
          <a:noFill/>
          <a:ln/>
        </p:spPr>
        <p:txBody>
          <a:bodyPr wrap="square" lIns="25400" tIns="25400" rIns="25400" bIns="2540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H6 — Recognition not Recall</a:t>
            </a:r>
            <a:endParaRPr lang="en-US" sz="1100" dirty="0"/>
          </a:p>
        </p:txBody>
      </p:sp>
      <p:sp>
        <p:nvSpPr>
          <p:cNvPr id="34" name="Text 32"/>
          <p:cNvSpPr txBox="1"/>
          <p:nvPr/>
        </p:nvSpPr>
        <p:spPr>
          <a:xfrm>
            <a:off x="9966960" y="3054096"/>
            <a:ext cx="1920240" cy="310896"/>
          </a:xfrm>
          <a:prstGeom prst="rect">
            <a:avLst/>
          </a:prstGeom>
          <a:noFill/>
          <a:ln/>
        </p:spPr>
        <p:txBody>
          <a:bodyPr wrap="square" lIns="25400" tIns="25400" rIns="25400" bIns="2540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 FULL</a:t>
            </a:r>
            <a:endParaRPr lang="en-US" sz="1100" dirty="0"/>
          </a:p>
        </p:txBody>
      </p:sp>
      <p:sp>
        <p:nvSpPr>
          <p:cNvPr id="35" name="Text 33"/>
          <p:cNvSpPr txBox="1"/>
          <p:nvPr/>
        </p:nvSpPr>
        <p:spPr>
          <a:xfrm>
            <a:off x="6309360" y="3419856"/>
            <a:ext cx="5559552" cy="475488"/>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Emoji crop selectors · method buttons (not dropdown codes) · visual badges</a:t>
            </a:r>
            <a:endParaRPr lang="en-US" sz="1050" dirty="0"/>
          </a:p>
        </p:txBody>
      </p:sp>
      <p:sp>
        <p:nvSpPr>
          <p:cNvPr id="36" name="Shape 34"/>
          <p:cNvSpPr/>
          <p:nvPr/>
        </p:nvSpPr>
        <p:spPr>
          <a:xfrm>
            <a:off x="274320" y="3977640"/>
            <a:ext cx="5742432" cy="914400"/>
          </a:xfrm>
          <a:prstGeom prst="rect">
            <a:avLst/>
          </a:prstGeom>
          <a:solidFill>
            <a:srgbClr val="EBF0F7"/>
          </a:solidFill>
          <a:ln w="12700">
            <a:solidFill>
              <a:srgbClr val="EBF0F7"/>
            </a:solidFill>
            <a:prstDash val="solid"/>
          </a:ln>
        </p:spPr>
        <p:txBody>
          <a:bodyPr/>
          <a:p/>
        </p:txBody>
      </p:sp>
      <p:sp>
        <p:nvSpPr>
          <p:cNvPr id="37" name="Shape 35"/>
          <p:cNvSpPr/>
          <p:nvPr/>
        </p:nvSpPr>
        <p:spPr>
          <a:xfrm>
            <a:off x="274320" y="3977640"/>
            <a:ext cx="5742432" cy="365760"/>
          </a:xfrm>
          <a:prstGeom prst="rect">
            <a:avLst/>
          </a:prstGeom>
          <a:solidFill>
            <a:srgbClr val="B45309"/>
          </a:solidFill>
          <a:ln w="12700">
            <a:solidFill>
              <a:srgbClr val="B45309"/>
            </a:solidFill>
            <a:prstDash val="solid"/>
          </a:ln>
        </p:spPr>
        <p:txBody>
          <a:bodyPr/>
          <a:p/>
        </p:txBody>
      </p:sp>
      <p:sp>
        <p:nvSpPr>
          <p:cNvPr id="38" name="Text 36"/>
          <p:cNvSpPr txBox="1"/>
          <p:nvPr/>
        </p:nvSpPr>
        <p:spPr>
          <a:xfrm>
            <a:off x="365760" y="4014216"/>
            <a:ext cx="3657600" cy="310896"/>
          </a:xfrm>
          <a:prstGeom prst="rect">
            <a:avLst/>
          </a:prstGeom>
          <a:noFill/>
          <a:ln/>
        </p:spPr>
        <p:txBody>
          <a:bodyPr wrap="square" lIns="25400" tIns="25400" rIns="25400" bIns="2540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H7 — Flexibility &amp; Efficiency</a:t>
            </a:r>
            <a:endParaRPr lang="en-US" sz="1100" dirty="0"/>
          </a:p>
        </p:txBody>
      </p:sp>
      <p:sp>
        <p:nvSpPr>
          <p:cNvPr id="39" name="Text 37"/>
          <p:cNvSpPr txBox="1"/>
          <p:nvPr/>
        </p:nvSpPr>
        <p:spPr>
          <a:xfrm>
            <a:off x="4023360" y="4014216"/>
            <a:ext cx="1920240" cy="310896"/>
          </a:xfrm>
          <a:prstGeom prst="rect">
            <a:avLst/>
          </a:prstGeom>
          <a:noFill/>
          <a:ln/>
        </p:spPr>
        <p:txBody>
          <a:bodyPr wrap="square" lIns="25400" tIns="25400" rIns="25400" bIns="2540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 PARTIAL</a:t>
            </a:r>
            <a:endParaRPr lang="en-US" sz="1100" dirty="0"/>
          </a:p>
        </p:txBody>
      </p:sp>
      <p:sp>
        <p:nvSpPr>
          <p:cNvPr id="40" name="Text 38"/>
          <p:cNvSpPr txBox="1"/>
          <p:nvPr/>
        </p:nvSpPr>
        <p:spPr>
          <a:xfrm>
            <a:off x="365760" y="4379976"/>
            <a:ext cx="5559552" cy="475488"/>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Quick Actions on Dashboard only — no keyboard shortcuts or filters (15 deferred FRs)</a:t>
            </a:r>
            <a:endParaRPr lang="en-US" sz="1050" dirty="0"/>
          </a:p>
        </p:txBody>
      </p:sp>
      <p:sp>
        <p:nvSpPr>
          <p:cNvPr id="41" name="Shape 39"/>
          <p:cNvSpPr/>
          <p:nvPr/>
        </p:nvSpPr>
        <p:spPr>
          <a:xfrm>
            <a:off x="6217920" y="3977640"/>
            <a:ext cx="5742432" cy="914400"/>
          </a:xfrm>
          <a:prstGeom prst="rect">
            <a:avLst/>
          </a:prstGeom>
          <a:solidFill>
            <a:srgbClr val="E6F4F5"/>
          </a:solidFill>
          <a:ln w="12700">
            <a:solidFill>
              <a:srgbClr val="E6F4F5"/>
            </a:solidFill>
            <a:prstDash val="solid"/>
          </a:ln>
        </p:spPr>
        <p:txBody>
          <a:bodyPr/>
          <a:p/>
        </p:txBody>
      </p:sp>
      <p:sp>
        <p:nvSpPr>
          <p:cNvPr id="42" name="Shape 40"/>
          <p:cNvSpPr/>
          <p:nvPr/>
        </p:nvSpPr>
        <p:spPr>
          <a:xfrm>
            <a:off x="6217920" y="3977640"/>
            <a:ext cx="5742432" cy="365760"/>
          </a:xfrm>
          <a:prstGeom prst="rect">
            <a:avLst/>
          </a:prstGeom>
          <a:solidFill>
            <a:srgbClr val="0A5C36"/>
          </a:solidFill>
          <a:ln w="12700">
            <a:solidFill>
              <a:srgbClr val="0A5C36"/>
            </a:solidFill>
            <a:prstDash val="solid"/>
          </a:ln>
        </p:spPr>
        <p:txBody>
          <a:bodyPr/>
          <a:p/>
        </p:txBody>
      </p:sp>
      <p:sp>
        <p:nvSpPr>
          <p:cNvPr id="43" name="Text 41"/>
          <p:cNvSpPr txBox="1"/>
          <p:nvPr/>
        </p:nvSpPr>
        <p:spPr>
          <a:xfrm>
            <a:off x="6309360" y="4014216"/>
            <a:ext cx="3657600" cy="310896"/>
          </a:xfrm>
          <a:prstGeom prst="rect">
            <a:avLst/>
          </a:prstGeom>
          <a:noFill/>
          <a:ln/>
        </p:spPr>
        <p:txBody>
          <a:bodyPr wrap="square" lIns="25400" tIns="25400" rIns="25400" bIns="2540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H8 — Aesthetic &amp; Minimalist</a:t>
            </a:r>
            <a:endParaRPr lang="en-US" sz="1100" dirty="0"/>
          </a:p>
        </p:txBody>
      </p:sp>
      <p:sp>
        <p:nvSpPr>
          <p:cNvPr id="44" name="Text 42"/>
          <p:cNvSpPr txBox="1"/>
          <p:nvPr/>
        </p:nvSpPr>
        <p:spPr>
          <a:xfrm>
            <a:off x="9966960" y="4014216"/>
            <a:ext cx="1920240" cy="310896"/>
          </a:xfrm>
          <a:prstGeom prst="rect">
            <a:avLst/>
          </a:prstGeom>
          <a:noFill/>
          <a:ln/>
        </p:spPr>
        <p:txBody>
          <a:bodyPr wrap="square" lIns="25400" tIns="25400" rIns="25400" bIns="2540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 FULL</a:t>
            </a:r>
            <a:endParaRPr lang="en-US" sz="1100" dirty="0"/>
          </a:p>
        </p:txBody>
      </p:sp>
      <p:sp>
        <p:nvSpPr>
          <p:cNvPr id="45" name="Text 43"/>
          <p:cNvSpPr txBox="1"/>
          <p:nvPr/>
        </p:nvSpPr>
        <p:spPr>
          <a:xfrm>
            <a:off x="6309360" y="4379976"/>
            <a:ext cx="5559552" cy="475488"/>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Clean two-panel layout · minimal palette · no redundant information displayed</a:t>
            </a:r>
            <a:endParaRPr lang="en-US" sz="1050" dirty="0"/>
          </a:p>
        </p:txBody>
      </p:sp>
      <p:sp>
        <p:nvSpPr>
          <p:cNvPr id="46" name="Shape 44"/>
          <p:cNvSpPr/>
          <p:nvPr/>
        </p:nvSpPr>
        <p:spPr>
          <a:xfrm>
            <a:off x="274320" y="4937760"/>
            <a:ext cx="5742432" cy="914400"/>
          </a:xfrm>
          <a:prstGeom prst="rect">
            <a:avLst/>
          </a:prstGeom>
          <a:solidFill>
            <a:srgbClr val="E6F4F5"/>
          </a:solidFill>
          <a:ln w="12700">
            <a:solidFill>
              <a:srgbClr val="E6F4F5"/>
            </a:solidFill>
            <a:prstDash val="solid"/>
          </a:ln>
        </p:spPr>
        <p:txBody>
          <a:bodyPr/>
          <a:p/>
        </p:txBody>
      </p:sp>
      <p:sp>
        <p:nvSpPr>
          <p:cNvPr id="47" name="Shape 45"/>
          <p:cNvSpPr/>
          <p:nvPr/>
        </p:nvSpPr>
        <p:spPr>
          <a:xfrm>
            <a:off x="274320" y="4937760"/>
            <a:ext cx="5742432" cy="365760"/>
          </a:xfrm>
          <a:prstGeom prst="rect">
            <a:avLst/>
          </a:prstGeom>
          <a:solidFill>
            <a:srgbClr val="0A5C36"/>
          </a:solidFill>
          <a:ln w="12700">
            <a:solidFill>
              <a:srgbClr val="0A5C36"/>
            </a:solidFill>
            <a:prstDash val="solid"/>
          </a:ln>
        </p:spPr>
        <p:txBody>
          <a:bodyPr/>
          <a:p/>
        </p:txBody>
      </p:sp>
      <p:sp>
        <p:nvSpPr>
          <p:cNvPr id="48" name="Text 46"/>
          <p:cNvSpPr txBox="1"/>
          <p:nvPr/>
        </p:nvSpPr>
        <p:spPr>
          <a:xfrm>
            <a:off x="365760" y="4974336"/>
            <a:ext cx="3657600" cy="310896"/>
          </a:xfrm>
          <a:prstGeom prst="rect">
            <a:avLst/>
          </a:prstGeom>
          <a:noFill/>
          <a:ln/>
        </p:spPr>
        <p:txBody>
          <a:bodyPr wrap="square" lIns="25400" tIns="25400" rIns="25400" bIns="2540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H9 — Error Recovery</a:t>
            </a:r>
            <a:endParaRPr lang="en-US" sz="1100" dirty="0"/>
          </a:p>
        </p:txBody>
      </p:sp>
      <p:sp>
        <p:nvSpPr>
          <p:cNvPr id="49" name="Text 47"/>
          <p:cNvSpPr txBox="1"/>
          <p:nvPr/>
        </p:nvSpPr>
        <p:spPr>
          <a:xfrm>
            <a:off x="4023360" y="4974336"/>
            <a:ext cx="1920240" cy="310896"/>
          </a:xfrm>
          <a:prstGeom prst="rect">
            <a:avLst/>
          </a:prstGeom>
          <a:noFill/>
          <a:ln/>
        </p:spPr>
        <p:txBody>
          <a:bodyPr wrap="square" lIns="25400" tIns="25400" rIns="25400" bIns="2540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 FULL</a:t>
            </a:r>
            <a:endParaRPr lang="en-US" sz="1100" dirty="0"/>
          </a:p>
        </p:txBody>
      </p:sp>
      <p:sp>
        <p:nvSpPr>
          <p:cNvPr id="50" name="Text 48"/>
          <p:cNvSpPr txBox="1"/>
          <p:nvPr/>
        </p:nvSpPr>
        <p:spPr>
          <a:xfrm>
            <a:off x="365760" y="5340096"/>
            <a:ext cx="5559552" cy="475488"/>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Inline validation messages · specific field-level guidance on how to correct</a:t>
            </a:r>
            <a:endParaRPr lang="en-US" sz="1050" dirty="0"/>
          </a:p>
        </p:txBody>
      </p:sp>
      <p:sp>
        <p:nvSpPr>
          <p:cNvPr id="51" name="Shape 49"/>
          <p:cNvSpPr/>
          <p:nvPr/>
        </p:nvSpPr>
        <p:spPr>
          <a:xfrm>
            <a:off x="6217920" y="4937760"/>
            <a:ext cx="5742432" cy="914400"/>
          </a:xfrm>
          <a:prstGeom prst="rect">
            <a:avLst/>
          </a:prstGeom>
          <a:solidFill>
            <a:srgbClr val="EBF0F7"/>
          </a:solidFill>
          <a:ln w="12700">
            <a:solidFill>
              <a:srgbClr val="EBF0F7"/>
            </a:solidFill>
            <a:prstDash val="solid"/>
          </a:ln>
        </p:spPr>
        <p:txBody>
          <a:bodyPr/>
          <a:p/>
        </p:txBody>
      </p:sp>
      <p:sp>
        <p:nvSpPr>
          <p:cNvPr id="52" name="Shape 50"/>
          <p:cNvSpPr/>
          <p:nvPr/>
        </p:nvSpPr>
        <p:spPr>
          <a:xfrm>
            <a:off x="6217920" y="4937760"/>
            <a:ext cx="5742432" cy="365760"/>
          </a:xfrm>
          <a:prstGeom prst="rect">
            <a:avLst/>
          </a:prstGeom>
          <a:solidFill>
            <a:srgbClr val="B45309"/>
          </a:solidFill>
          <a:ln w="12700">
            <a:solidFill>
              <a:srgbClr val="B45309"/>
            </a:solidFill>
            <a:prstDash val="solid"/>
          </a:ln>
        </p:spPr>
        <p:txBody>
          <a:bodyPr/>
          <a:p/>
        </p:txBody>
      </p:sp>
      <p:sp>
        <p:nvSpPr>
          <p:cNvPr id="53" name="Text 51"/>
          <p:cNvSpPr txBox="1"/>
          <p:nvPr/>
        </p:nvSpPr>
        <p:spPr>
          <a:xfrm>
            <a:off x="6309360" y="4974336"/>
            <a:ext cx="3657600" cy="310896"/>
          </a:xfrm>
          <a:prstGeom prst="rect">
            <a:avLst/>
          </a:prstGeom>
          <a:noFill/>
          <a:ln/>
        </p:spPr>
        <p:txBody>
          <a:bodyPr wrap="square" lIns="25400" tIns="25400" rIns="25400" bIns="2540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H10 — Help &amp; Documentation</a:t>
            </a:r>
            <a:endParaRPr lang="en-US" sz="1100" dirty="0"/>
          </a:p>
        </p:txBody>
      </p:sp>
      <p:sp>
        <p:nvSpPr>
          <p:cNvPr id="54" name="Text 52"/>
          <p:cNvSpPr txBox="1"/>
          <p:nvPr/>
        </p:nvSpPr>
        <p:spPr>
          <a:xfrm>
            <a:off x="9966960" y="4974336"/>
            <a:ext cx="1920240" cy="310896"/>
          </a:xfrm>
          <a:prstGeom prst="rect">
            <a:avLst/>
          </a:prstGeom>
          <a:noFill/>
          <a:ln/>
        </p:spPr>
        <p:txBody>
          <a:bodyPr wrap="square" lIns="25400" tIns="25400" rIns="25400" bIns="2540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 PARTIAL</a:t>
            </a:r>
            <a:endParaRPr lang="en-US" sz="1100" dirty="0"/>
          </a:p>
        </p:txBody>
      </p:sp>
      <p:sp>
        <p:nvSpPr>
          <p:cNvPr id="55" name="Text 53"/>
          <p:cNvSpPr txBox="1"/>
          <p:nvPr/>
        </p:nvSpPr>
        <p:spPr>
          <a:xfrm>
            <a:off x="6309360" y="5340096"/>
            <a:ext cx="5559552" cy="475488"/>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Tooltip hints on nutrient fields only — no full help section (prototype scope)</a:t>
            </a:r>
            <a:endParaRPr lang="en-US" sz="1050" dirty="0"/>
          </a:p>
        </p:txBody>
      </p:sp>
      <p:sp>
        <p:nvSpPr>
          <p:cNvPr id="56" name="Shape 54"/>
          <p:cNvSpPr/>
          <p:nvPr/>
        </p:nvSpPr>
        <p:spPr>
          <a:xfrm>
            <a:off x="274320" y="5989320"/>
            <a:ext cx="11612880" cy="502920"/>
          </a:xfrm>
          <a:prstGeom prst="rect">
            <a:avLst/>
          </a:prstGeom>
          <a:solidFill>
            <a:srgbClr val="1E3A5F"/>
          </a:solidFill>
          <a:ln w="12700">
            <a:solidFill>
              <a:srgbClr val="1E3A5F"/>
            </a:solidFill>
            <a:prstDash val="solid"/>
          </a:ln>
        </p:spPr>
        <p:txBody>
          <a:bodyPr/>
          <a:p/>
        </p:txBody>
      </p:sp>
      <p:sp>
        <p:nvSpPr>
          <p:cNvPr id="57" name="Text 55"/>
          <p:cNvSpPr txBox="1"/>
          <p:nvPr/>
        </p:nvSpPr>
        <p:spPr>
          <a:xfrm>
            <a:off x="457200" y="6035040"/>
            <a:ext cx="11247120" cy="402336"/>
          </a:xfrm>
          <a:prstGeom prst="rect">
            <a:avLst/>
          </a:prstGeom>
          <a:noFill/>
          <a:ln/>
        </p:spPr>
        <p:txBody>
          <a:bodyPr wrap="square" lIns="25400" tIns="25400" rIns="25400" bIns="2540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Result: 8/10 Heuristics Fully Compliant · 2/10 Partially Compliant (H7, H10 — prototype scope) · 0/10 Non-Compliant  ·  SUS evaluation deferred pending ethics committee approval</a:t>
            </a:r>
            <a:endParaRPr lang="en-US" sz="1200" dirty="0"/>
          </a:p>
        </p:txBody>
      </p:sp>
      <p:sp>
        <p:nvSpPr>
          <p:cNvPr id="58" name="Shape 56"/>
          <p:cNvSpPr/>
          <p:nvPr/>
        </p:nvSpPr>
        <p:spPr>
          <a:xfrm>
            <a:off x="0" y="6510528"/>
            <a:ext cx="12161520" cy="347472"/>
          </a:xfrm>
          <a:prstGeom prst="rect">
            <a:avLst/>
          </a:prstGeom>
          <a:solidFill>
            <a:srgbClr val="E8EDF3"/>
          </a:solidFill>
          <a:ln w="12700">
            <a:solidFill>
              <a:srgbClr val="E8EDF3"/>
            </a:solidFill>
            <a:prstDash val="solid"/>
          </a:ln>
        </p:spPr>
        <p:txBody>
          <a:body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E3A5F"/>
          </a:solidFill>
          <a:ln w="12700">
            <a:solidFill>
              <a:srgbClr val="1E3A5F"/>
            </a:solidFill>
            <a:prstDash val="solid"/>
          </a:ln>
        </p:spPr>
        <p:txBody>
          <a:bodyPr/>
          <a:p/>
        </p:txBody>
      </p:sp>
      <p:sp>
        <p:nvSpPr>
          <p:cNvPr id="3" name="Text 1"/>
          <p:cNvSpPr txBox="1"/>
          <p:nvPr/>
        </p:nvSpPr>
        <p:spPr>
          <a:xfrm>
            <a:off x="365760" y="45720"/>
            <a:ext cx="10058400" cy="566928"/>
          </a:xfrm>
          <a:prstGeom prst="rect">
            <a:avLst/>
          </a:prstGeom>
          <a:noFill/>
          <a:ln/>
        </p:spPr>
        <p:txBody>
          <a:bodyPr wrap="square" lIns="25400" tIns="25400" rIns="25400" bIns="2540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DeLone &amp; McLean IS Success Model — All 3 Dimensions Met</a:t>
            </a:r>
            <a:endParaRPr lang="en-US" sz="2200" dirty="0"/>
          </a:p>
        </p:txBody>
      </p:sp>
      <p:sp>
        <p:nvSpPr>
          <p:cNvPr id="4" name="Text 2"/>
          <p:cNvSpPr txBox="1"/>
          <p:nvPr/>
        </p:nvSpPr>
        <p:spPr>
          <a:xfrm>
            <a:off x="365760" y="585216"/>
            <a:ext cx="10972800" cy="329184"/>
          </a:xfrm>
          <a:prstGeom prst="rect">
            <a:avLst/>
          </a:prstGeom>
          <a:noFill/>
          <a:ln/>
        </p:spPr>
        <p:txBody>
          <a:bodyPr wrap="square" lIns="25400" tIns="25400" rIns="25400" bIns="25400" rtlCol="0" anchor="ctr"/>
          <a:lstStyle/>
          <a:p>
            <a:pPr algn="l" indent="0" marL="0">
              <a:buNone/>
            </a:pPr>
            <a:r>
              <a:rPr lang="en-US" sz="1100" dirty="0">
                <a:solidFill>
                  <a:srgbClr val="B8CDE0"/>
                </a:solidFill>
                <a:latin typeface="Calibri" pitchFamily="34" charset="0"/>
                <a:ea typeface="Calibri" pitchFamily="34" charset="-122"/>
                <a:cs typeface="Calibri" pitchFamily="34" charset="-120"/>
              </a:rPr>
              <a:t>Introduced in Chapter 2 (Section 2.12) · Applied in Chapter 4 (Section 4.13) · Directly answers RQ4</a:t>
            </a:r>
            <a:endParaRPr lang="en-US" sz="1100" dirty="0"/>
          </a:p>
        </p:txBody>
      </p:sp>
      <p:sp>
        <p:nvSpPr>
          <p:cNvPr id="5" name="Shape 3"/>
          <p:cNvSpPr/>
          <p:nvPr/>
        </p:nvSpPr>
        <p:spPr>
          <a:xfrm>
            <a:off x="0" y="960120"/>
            <a:ext cx="12161520" cy="45720"/>
          </a:xfrm>
          <a:prstGeom prst="rect">
            <a:avLst/>
          </a:prstGeom>
          <a:solidFill>
            <a:srgbClr val="0D6B72"/>
          </a:solidFill>
          <a:ln w="12700">
            <a:solidFill>
              <a:srgbClr val="0D6B72"/>
            </a:solidFill>
            <a:prstDash val="solid"/>
          </a:ln>
        </p:spPr>
        <p:txBody>
          <a:bodyPr/>
          <a:p/>
        </p:txBody>
      </p:sp>
      <p:sp>
        <p:nvSpPr>
          <p:cNvPr id="6" name="Shape 4"/>
          <p:cNvSpPr/>
          <p:nvPr/>
        </p:nvSpPr>
        <p:spPr>
          <a:xfrm>
            <a:off x="274320" y="1078992"/>
            <a:ext cx="3822192" cy="658368"/>
          </a:xfrm>
          <a:prstGeom prst="rect">
            <a:avLst/>
          </a:prstGeom>
          <a:solidFill>
            <a:srgbClr val="1E3A5F"/>
          </a:solidFill>
          <a:ln w="12700">
            <a:solidFill>
              <a:srgbClr val="1E3A5F"/>
            </a:solidFill>
            <a:prstDash val="solid"/>
          </a:ln>
        </p:spPr>
        <p:txBody>
          <a:bodyPr/>
          <a:p/>
        </p:txBody>
      </p:sp>
      <p:sp>
        <p:nvSpPr>
          <p:cNvPr id="7" name="Text 5"/>
          <p:cNvSpPr txBox="1"/>
          <p:nvPr/>
        </p:nvSpPr>
        <p:spPr>
          <a:xfrm>
            <a:off x="365760" y="1115568"/>
            <a:ext cx="3657600" cy="621792"/>
          </a:xfrm>
          <a:prstGeom prst="rect">
            <a:avLst/>
          </a:prstGeom>
          <a:noFill/>
          <a:ln/>
        </p:spPr>
        <p:txBody>
          <a:bodyPr wrap="square" lIns="25400" tIns="25400" rIns="25400" bIns="2540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Dimension 1</a:t>
            </a:r>
            <a:endParaRPr lang="en-US" sz="1300" dirty="0"/>
          </a:p>
          <a:p>
            <a:pPr algn="l" indent="0" marL="0">
              <a:buNone/>
            </a:pPr>
            <a:r>
              <a:rPr lang="en-US" sz="1300" b="1" dirty="0">
                <a:solidFill>
                  <a:srgbClr val="FFFFFF"/>
                </a:solidFill>
                <a:latin typeface="Calibri" pitchFamily="34" charset="0"/>
                <a:ea typeface="Calibri" pitchFamily="34" charset="-122"/>
                <a:cs typeface="Calibri" pitchFamily="34" charset="-120"/>
              </a:rPr>
              <a:t>Information Quality</a:t>
            </a:r>
            <a:endParaRPr lang="en-US" sz="1300" dirty="0"/>
          </a:p>
        </p:txBody>
      </p:sp>
      <p:sp>
        <p:nvSpPr>
          <p:cNvPr id="8" name="Shape 6"/>
          <p:cNvSpPr/>
          <p:nvPr/>
        </p:nvSpPr>
        <p:spPr>
          <a:xfrm>
            <a:off x="274320" y="1737360"/>
            <a:ext cx="3822192" cy="438912"/>
          </a:xfrm>
          <a:prstGeom prst="rect">
            <a:avLst/>
          </a:prstGeom>
          <a:solidFill>
            <a:srgbClr val="EBF0F7"/>
          </a:solidFill>
          <a:ln w="12700">
            <a:solidFill>
              <a:srgbClr val="EBF0F7"/>
            </a:solidFill>
            <a:prstDash val="solid"/>
          </a:ln>
        </p:spPr>
        <p:txBody>
          <a:bodyPr/>
          <a:p/>
        </p:txBody>
      </p:sp>
      <p:sp>
        <p:nvSpPr>
          <p:cNvPr id="9" name="Text 7"/>
          <p:cNvSpPr txBox="1"/>
          <p:nvPr/>
        </p:nvSpPr>
        <p:spPr>
          <a:xfrm>
            <a:off x="365760" y="1764792"/>
            <a:ext cx="3639312" cy="384048"/>
          </a:xfrm>
          <a:prstGeom prst="rect">
            <a:avLst/>
          </a:prstGeom>
          <a:noFill/>
          <a:ln/>
        </p:spPr>
        <p:txBody>
          <a:bodyPr wrap="square" lIns="25400" tIns="25400" rIns="25400" bIns="25400" rtlCol="0" anchor="ctr"/>
          <a:lstStyle/>
          <a:p>
            <a:pPr algn="l" indent="0" marL="0">
              <a:buNone/>
            </a:pPr>
            <a:r>
              <a:rPr lang="en-US" sz="1000" i="1" dirty="0">
                <a:solidFill>
                  <a:srgbClr val="1E3A5F"/>
                </a:solidFill>
                <a:latin typeface="Calibri" pitchFamily="34" charset="0"/>
                <a:ea typeface="Calibri" pitchFamily="34" charset="-122"/>
                <a:cs typeface="Calibri" pitchFamily="34" charset="-120"/>
              </a:rPr>
              <a:t>Does the system produce accurate, explainable, practically useful information?</a:t>
            </a:r>
            <a:endParaRPr lang="en-US" sz="1000" dirty="0"/>
          </a:p>
        </p:txBody>
      </p:sp>
      <p:sp>
        <p:nvSpPr>
          <p:cNvPr id="10" name="Shape 8"/>
          <p:cNvSpPr/>
          <p:nvPr/>
        </p:nvSpPr>
        <p:spPr>
          <a:xfrm>
            <a:off x="274320" y="2176272"/>
            <a:ext cx="3822192" cy="3273552"/>
          </a:xfrm>
          <a:prstGeom prst="rect">
            <a:avLst/>
          </a:prstGeom>
          <a:solidFill>
            <a:srgbClr val="F5F7FA"/>
          </a:solidFill>
          <a:ln w="12700">
            <a:solidFill>
              <a:srgbClr val="F5F7FA"/>
            </a:solidFill>
            <a:prstDash val="solid"/>
          </a:ln>
        </p:spPr>
        <p:txBody>
          <a:bodyPr/>
          <a:p/>
        </p:txBody>
      </p:sp>
      <p:sp>
        <p:nvSpPr>
          <p:cNvPr id="11" name="Shape 9"/>
          <p:cNvSpPr/>
          <p:nvPr/>
        </p:nvSpPr>
        <p:spPr>
          <a:xfrm>
            <a:off x="411480" y="2505456"/>
            <a:ext cx="54864" cy="54864"/>
          </a:xfrm>
          <a:prstGeom prst="rect">
            <a:avLst/>
          </a:prstGeom>
          <a:solidFill>
            <a:srgbClr val="1E3A5F"/>
          </a:solidFill>
          <a:ln w="12700">
            <a:solidFill>
              <a:srgbClr val="1E3A5F"/>
            </a:solidFill>
            <a:prstDash val="solid"/>
          </a:ln>
        </p:spPr>
        <p:txBody>
          <a:bodyPr/>
          <a:p/>
        </p:txBody>
      </p:sp>
      <p:sp>
        <p:nvSpPr>
          <p:cNvPr id="12" name="Text 10"/>
          <p:cNvSpPr txBox="1"/>
          <p:nvPr/>
        </p:nvSpPr>
        <p:spPr>
          <a:xfrm>
            <a:off x="548640" y="2286000"/>
            <a:ext cx="3456432" cy="594360"/>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Test R²=0.9389 — exceeds Van Klompenburg (2020) benchmark upper bound of 0.92</a:t>
            </a:r>
            <a:endParaRPr lang="en-US" sz="1050" dirty="0"/>
          </a:p>
        </p:txBody>
      </p:sp>
      <p:sp>
        <p:nvSpPr>
          <p:cNvPr id="13" name="Shape 11"/>
          <p:cNvSpPr/>
          <p:nvPr/>
        </p:nvSpPr>
        <p:spPr>
          <a:xfrm>
            <a:off x="411480" y="3118104"/>
            <a:ext cx="54864" cy="54864"/>
          </a:xfrm>
          <a:prstGeom prst="rect">
            <a:avLst/>
          </a:prstGeom>
          <a:solidFill>
            <a:srgbClr val="1E3A5F"/>
          </a:solidFill>
          <a:ln w="12700">
            <a:solidFill>
              <a:srgbClr val="1E3A5F"/>
            </a:solidFill>
            <a:prstDash val="solid"/>
          </a:ln>
        </p:spPr>
        <p:txBody>
          <a:bodyPr/>
          <a:p/>
        </p:txBody>
      </p:sp>
      <p:sp>
        <p:nvSpPr>
          <p:cNvPr id="14" name="Text 12"/>
          <p:cNvSpPr txBox="1"/>
          <p:nvPr/>
        </p:nvSpPr>
        <p:spPr>
          <a:xfrm>
            <a:off x="548640" y="2898648"/>
            <a:ext cx="3456432" cy="594360"/>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MAE=0.165 kg/m² — accurate to within 165g/m² — useful for harvest planning</a:t>
            </a:r>
            <a:endParaRPr lang="en-US" sz="1050" dirty="0"/>
          </a:p>
        </p:txBody>
      </p:sp>
      <p:sp>
        <p:nvSpPr>
          <p:cNvPr id="15" name="Shape 13"/>
          <p:cNvSpPr/>
          <p:nvPr/>
        </p:nvSpPr>
        <p:spPr>
          <a:xfrm>
            <a:off x="411480" y="3730752"/>
            <a:ext cx="54864" cy="54864"/>
          </a:xfrm>
          <a:prstGeom prst="rect">
            <a:avLst/>
          </a:prstGeom>
          <a:solidFill>
            <a:srgbClr val="1E3A5F"/>
          </a:solidFill>
          <a:ln w="12700">
            <a:solidFill>
              <a:srgbClr val="1E3A5F"/>
            </a:solidFill>
            <a:prstDash val="solid"/>
          </a:ln>
        </p:spPr>
        <p:txBody>
          <a:bodyPr/>
          <a:p/>
        </p:txBody>
      </p:sp>
      <p:sp>
        <p:nvSpPr>
          <p:cNvPr id="16" name="Text 14"/>
          <p:cNvSpPr txBox="1"/>
          <p:nvPr/>
        </p:nvSpPr>
        <p:spPr>
          <a:xfrm>
            <a:off x="548640" y="3511296"/>
            <a:ext cx="3456432" cy="594360"/>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Feature importance rankings agronomically valid — externally confirmed by 5 papers</a:t>
            </a:r>
            <a:endParaRPr lang="en-US" sz="1050" dirty="0"/>
          </a:p>
        </p:txBody>
      </p:sp>
      <p:sp>
        <p:nvSpPr>
          <p:cNvPr id="17" name="Shape 15"/>
          <p:cNvSpPr/>
          <p:nvPr/>
        </p:nvSpPr>
        <p:spPr>
          <a:xfrm>
            <a:off x="411480" y="4343400"/>
            <a:ext cx="54864" cy="54864"/>
          </a:xfrm>
          <a:prstGeom prst="rect">
            <a:avLst/>
          </a:prstGeom>
          <a:solidFill>
            <a:srgbClr val="1E3A5F"/>
          </a:solidFill>
          <a:ln w="12700">
            <a:solidFill>
              <a:srgbClr val="1E3A5F"/>
            </a:solidFill>
            <a:prstDash val="solid"/>
          </a:ln>
        </p:spPr>
        <p:txBody>
          <a:bodyPr/>
          <a:p/>
        </p:txBody>
      </p:sp>
      <p:sp>
        <p:nvSpPr>
          <p:cNvPr id="18" name="Text 16"/>
          <p:cNvSpPr txBox="1"/>
          <p:nvPr/>
        </p:nvSpPr>
        <p:spPr>
          <a:xfrm>
            <a:off x="548640" y="4123944"/>
            <a:ext cx="3456432" cy="594360"/>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Plain-English UI — accessible to non-technical Singapore farm operators</a:t>
            </a:r>
            <a:endParaRPr lang="en-US" sz="1050" dirty="0"/>
          </a:p>
        </p:txBody>
      </p:sp>
      <p:sp>
        <p:nvSpPr>
          <p:cNvPr id="19" name="Shape 17"/>
          <p:cNvSpPr/>
          <p:nvPr/>
        </p:nvSpPr>
        <p:spPr>
          <a:xfrm>
            <a:off x="411480" y="4956048"/>
            <a:ext cx="54864" cy="54864"/>
          </a:xfrm>
          <a:prstGeom prst="rect">
            <a:avLst/>
          </a:prstGeom>
          <a:solidFill>
            <a:srgbClr val="1E3A5F"/>
          </a:solidFill>
          <a:ln w="12700">
            <a:solidFill>
              <a:srgbClr val="1E3A5F"/>
            </a:solidFill>
            <a:prstDash val="solid"/>
          </a:ln>
        </p:spPr>
        <p:txBody>
          <a:bodyPr/>
          <a:p/>
        </p:txBody>
      </p:sp>
      <p:sp>
        <p:nvSpPr>
          <p:cNvPr id="20" name="Text 18"/>
          <p:cNvSpPr txBox="1"/>
          <p:nvPr/>
        </p:nvSpPr>
        <p:spPr>
          <a:xfrm>
            <a:off x="548640" y="4736592"/>
            <a:ext cx="3456432" cy="594360"/>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Confidence score on every prediction — transparent uncertainty communication</a:t>
            </a:r>
            <a:endParaRPr lang="en-US" sz="1050" dirty="0"/>
          </a:p>
        </p:txBody>
      </p:sp>
      <p:sp>
        <p:nvSpPr>
          <p:cNvPr id="21" name="Shape 19"/>
          <p:cNvSpPr/>
          <p:nvPr/>
        </p:nvSpPr>
        <p:spPr>
          <a:xfrm>
            <a:off x="274320" y="5449824"/>
            <a:ext cx="3822192" cy="438912"/>
          </a:xfrm>
          <a:prstGeom prst="rect">
            <a:avLst/>
          </a:prstGeom>
          <a:solidFill>
            <a:srgbClr val="1E3A5F"/>
          </a:solidFill>
          <a:ln w="12700">
            <a:solidFill>
              <a:srgbClr val="1E3A5F"/>
            </a:solidFill>
            <a:prstDash val="solid"/>
          </a:ln>
        </p:spPr>
        <p:txBody>
          <a:bodyPr/>
          <a:p/>
        </p:txBody>
      </p:sp>
      <p:sp>
        <p:nvSpPr>
          <p:cNvPr id="22" name="Text 20"/>
          <p:cNvSpPr txBox="1"/>
          <p:nvPr/>
        </p:nvSpPr>
        <p:spPr>
          <a:xfrm>
            <a:off x="365760" y="5477256"/>
            <a:ext cx="3639312" cy="384048"/>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DIMENSION MET</a:t>
            </a:r>
            <a:endParaRPr lang="en-US" sz="1300" dirty="0"/>
          </a:p>
        </p:txBody>
      </p:sp>
      <p:sp>
        <p:nvSpPr>
          <p:cNvPr id="23" name="Shape 21"/>
          <p:cNvSpPr/>
          <p:nvPr/>
        </p:nvSpPr>
        <p:spPr>
          <a:xfrm>
            <a:off x="4251960" y="1078992"/>
            <a:ext cx="3822192" cy="658368"/>
          </a:xfrm>
          <a:prstGeom prst="rect">
            <a:avLst/>
          </a:prstGeom>
          <a:solidFill>
            <a:srgbClr val="0D6B72"/>
          </a:solidFill>
          <a:ln w="12700">
            <a:solidFill>
              <a:srgbClr val="0D6B72"/>
            </a:solidFill>
            <a:prstDash val="solid"/>
          </a:ln>
        </p:spPr>
        <p:txBody>
          <a:bodyPr/>
          <a:p/>
        </p:txBody>
      </p:sp>
      <p:sp>
        <p:nvSpPr>
          <p:cNvPr id="24" name="Text 22"/>
          <p:cNvSpPr txBox="1"/>
          <p:nvPr/>
        </p:nvSpPr>
        <p:spPr>
          <a:xfrm>
            <a:off x="4343400" y="1115568"/>
            <a:ext cx="3657600" cy="621792"/>
          </a:xfrm>
          <a:prstGeom prst="rect">
            <a:avLst/>
          </a:prstGeom>
          <a:noFill/>
          <a:ln/>
        </p:spPr>
        <p:txBody>
          <a:bodyPr wrap="square" lIns="25400" tIns="25400" rIns="25400" bIns="2540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Dimension 2</a:t>
            </a:r>
            <a:endParaRPr lang="en-US" sz="1300" dirty="0"/>
          </a:p>
          <a:p>
            <a:pPr algn="l" indent="0" marL="0">
              <a:buNone/>
            </a:pPr>
            <a:r>
              <a:rPr lang="en-US" sz="1300" b="1" dirty="0">
                <a:solidFill>
                  <a:srgbClr val="FFFFFF"/>
                </a:solidFill>
                <a:latin typeface="Calibri" pitchFamily="34" charset="0"/>
                <a:ea typeface="Calibri" pitchFamily="34" charset="-122"/>
                <a:cs typeface="Calibri" pitchFamily="34" charset="-120"/>
              </a:rPr>
              <a:t>System Quality</a:t>
            </a:r>
            <a:endParaRPr lang="en-US" sz="1300" dirty="0"/>
          </a:p>
        </p:txBody>
      </p:sp>
      <p:sp>
        <p:nvSpPr>
          <p:cNvPr id="25" name="Shape 23"/>
          <p:cNvSpPr/>
          <p:nvPr/>
        </p:nvSpPr>
        <p:spPr>
          <a:xfrm>
            <a:off x="4251960" y="1737360"/>
            <a:ext cx="3822192" cy="438912"/>
          </a:xfrm>
          <a:prstGeom prst="rect">
            <a:avLst/>
          </a:prstGeom>
          <a:solidFill>
            <a:srgbClr val="EBF0F7"/>
          </a:solidFill>
          <a:ln w="12700">
            <a:solidFill>
              <a:srgbClr val="EBF0F7"/>
            </a:solidFill>
            <a:prstDash val="solid"/>
          </a:ln>
        </p:spPr>
        <p:txBody>
          <a:bodyPr/>
          <a:p/>
        </p:txBody>
      </p:sp>
      <p:sp>
        <p:nvSpPr>
          <p:cNvPr id="26" name="Text 24"/>
          <p:cNvSpPr txBox="1"/>
          <p:nvPr/>
        </p:nvSpPr>
        <p:spPr>
          <a:xfrm>
            <a:off x="4343400" y="1764792"/>
            <a:ext cx="3639312" cy="384048"/>
          </a:xfrm>
          <a:prstGeom prst="rect">
            <a:avLst/>
          </a:prstGeom>
          <a:noFill/>
          <a:ln/>
        </p:spPr>
        <p:txBody>
          <a:bodyPr wrap="square" lIns="25400" tIns="25400" rIns="25400" bIns="25400" rtlCol="0" anchor="ctr"/>
          <a:lstStyle/>
          <a:p>
            <a:pPr algn="l" indent="0" marL="0">
              <a:buNone/>
            </a:pPr>
            <a:r>
              <a:rPr lang="en-US" sz="1000" i="1" dirty="0">
                <a:solidFill>
                  <a:srgbClr val="1E3A5F"/>
                </a:solidFill>
                <a:latin typeface="Calibri" pitchFamily="34" charset="0"/>
                <a:ea typeface="Calibri" pitchFamily="34" charset="-122"/>
                <a:cs typeface="Calibri" pitchFamily="34" charset="-120"/>
              </a:rPr>
              <a:t>Does the system perform reliably, securely and responsively for sustained use?</a:t>
            </a:r>
            <a:endParaRPr lang="en-US" sz="1000" dirty="0"/>
          </a:p>
        </p:txBody>
      </p:sp>
      <p:sp>
        <p:nvSpPr>
          <p:cNvPr id="27" name="Shape 25"/>
          <p:cNvSpPr/>
          <p:nvPr/>
        </p:nvSpPr>
        <p:spPr>
          <a:xfrm>
            <a:off x="4251960" y="2176272"/>
            <a:ext cx="3822192" cy="3273552"/>
          </a:xfrm>
          <a:prstGeom prst="rect">
            <a:avLst/>
          </a:prstGeom>
          <a:solidFill>
            <a:srgbClr val="F5F7FA"/>
          </a:solidFill>
          <a:ln w="12700">
            <a:solidFill>
              <a:srgbClr val="F5F7FA"/>
            </a:solidFill>
            <a:prstDash val="solid"/>
          </a:ln>
        </p:spPr>
        <p:txBody>
          <a:bodyPr/>
          <a:p/>
        </p:txBody>
      </p:sp>
      <p:sp>
        <p:nvSpPr>
          <p:cNvPr id="28" name="Shape 26"/>
          <p:cNvSpPr/>
          <p:nvPr/>
        </p:nvSpPr>
        <p:spPr>
          <a:xfrm>
            <a:off x="4389120" y="2505456"/>
            <a:ext cx="54864" cy="54864"/>
          </a:xfrm>
          <a:prstGeom prst="rect">
            <a:avLst/>
          </a:prstGeom>
          <a:solidFill>
            <a:srgbClr val="0D6B72"/>
          </a:solidFill>
          <a:ln w="12700">
            <a:solidFill>
              <a:srgbClr val="0D6B72"/>
            </a:solidFill>
            <a:prstDash val="solid"/>
          </a:ln>
        </p:spPr>
        <p:txBody>
          <a:bodyPr/>
          <a:p/>
        </p:txBody>
      </p:sp>
      <p:sp>
        <p:nvSpPr>
          <p:cNvPr id="29" name="Text 27"/>
          <p:cNvSpPr txBox="1"/>
          <p:nvPr/>
        </p:nvSpPr>
        <p:spPr>
          <a:xfrm>
            <a:off x="4526280" y="2286000"/>
            <a:ext cx="3456432" cy="594360"/>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12/12 functional test cases passed — happy-path and edge cases covered</a:t>
            </a:r>
            <a:endParaRPr lang="en-US" sz="1050" dirty="0"/>
          </a:p>
        </p:txBody>
      </p:sp>
      <p:sp>
        <p:nvSpPr>
          <p:cNvPr id="30" name="Shape 28"/>
          <p:cNvSpPr/>
          <p:nvPr/>
        </p:nvSpPr>
        <p:spPr>
          <a:xfrm>
            <a:off x="4389120" y="3118104"/>
            <a:ext cx="54864" cy="54864"/>
          </a:xfrm>
          <a:prstGeom prst="rect">
            <a:avLst/>
          </a:prstGeom>
          <a:solidFill>
            <a:srgbClr val="0D6B72"/>
          </a:solidFill>
          <a:ln w="12700">
            <a:solidFill>
              <a:srgbClr val="0D6B72"/>
            </a:solidFill>
            <a:prstDash val="solid"/>
          </a:ln>
        </p:spPr>
        <p:txBody>
          <a:bodyPr/>
          <a:p/>
        </p:txBody>
      </p:sp>
      <p:sp>
        <p:nvSpPr>
          <p:cNvPr id="31" name="Text 29"/>
          <p:cNvSpPr txBox="1"/>
          <p:nvPr/>
        </p:nvSpPr>
        <p:spPr>
          <a:xfrm>
            <a:off x="4526280" y="2898648"/>
            <a:ext cx="3456432" cy="594360"/>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4/4 OWASP security controls passed — A01, A02, A03, A07 verified</a:t>
            </a:r>
            <a:endParaRPr lang="en-US" sz="1050" dirty="0"/>
          </a:p>
        </p:txBody>
      </p:sp>
      <p:sp>
        <p:nvSpPr>
          <p:cNvPr id="32" name="Shape 30"/>
          <p:cNvSpPr/>
          <p:nvPr/>
        </p:nvSpPr>
        <p:spPr>
          <a:xfrm>
            <a:off x="4389120" y="3730752"/>
            <a:ext cx="54864" cy="54864"/>
          </a:xfrm>
          <a:prstGeom prst="rect">
            <a:avLst/>
          </a:prstGeom>
          <a:solidFill>
            <a:srgbClr val="0D6B72"/>
          </a:solidFill>
          <a:ln w="12700">
            <a:solidFill>
              <a:srgbClr val="0D6B72"/>
            </a:solidFill>
            <a:prstDash val="solid"/>
          </a:ln>
        </p:spPr>
        <p:txBody>
          <a:bodyPr/>
          <a:p/>
        </p:txBody>
      </p:sp>
      <p:sp>
        <p:nvSpPr>
          <p:cNvPr id="33" name="Text 31"/>
          <p:cNvSpPr txBox="1"/>
          <p:nvPr/>
        </p:nvSpPr>
        <p:spPr>
          <a:xfrm>
            <a:off x="4526280" y="3511296"/>
            <a:ext cx="3456432" cy="594360"/>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Sub-500ms for all non-AI endpoints — responsive for operator use</a:t>
            </a:r>
            <a:endParaRPr lang="en-US" sz="1050" dirty="0"/>
          </a:p>
        </p:txBody>
      </p:sp>
      <p:sp>
        <p:nvSpPr>
          <p:cNvPr id="34" name="Shape 32"/>
          <p:cNvSpPr/>
          <p:nvPr/>
        </p:nvSpPr>
        <p:spPr>
          <a:xfrm>
            <a:off x="4389120" y="4343400"/>
            <a:ext cx="54864" cy="54864"/>
          </a:xfrm>
          <a:prstGeom prst="rect">
            <a:avLst/>
          </a:prstGeom>
          <a:solidFill>
            <a:srgbClr val="0D6B72"/>
          </a:solidFill>
          <a:ln w="12700">
            <a:solidFill>
              <a:srgbClr val="0D6B72"/>
            </a:solidFill>
            <a:prstDash val="solid"/>
          </a:ln>
        </p:spPr>
        <p:txBody>
          <a:bodyPr/>
          <a:p/>
        </p:txBody>
      </p:sp>
      <p:sp>
        <p:nvSpPr>
          <p:cNvPr id="35" name="Text 33"/>
          <p:cNvSpPr txBox="1"/>
          <p:nvPr/>
        </p:nvSpPr>
        <p:spPr>
          <a:xfrm>
            <a:off x="4526280" y="4123944"/>
            <a:ext cx="3456432" cy="594360"/>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BCrypt-12 · 4,096 rounds · NIST (2018) — password security compliant</a:t>
            </a:r>
            <a:endParaRPr lang="en-US" sz="1050" dirty="0"/>
          </a:p>
        </p:txBody>
      </p:sp>
      <p:sp>
        <p:nvSpPr>
          <p:cNvPr id="36" name="Shape 34"/>
          <p:cNvSpPr/>
          <p:nvPr/>
        </p:nvSpPr>
        <p:spPr>
          <a:xfrm>
            <a:off x="4389120" y="4956048"/>
            <a:ext cx="54864" cy="54864"/>
          </a:xfrm>
          <a:prstGeom prst="rect">
            <a:avLst/>
          </a:prstGeom>
          <a:solidFill>
            <a:srgbClr val="0D6B72"/>
          </a:solidFill>
          <a:ln w="12700">
            <a:solidFill>
              <a:srgbClr val="0D6B72"/>
            </a:solidFill>
            <a:prstDash val="solid"/>
          </a:ln>
        </p:spPr>
        <p:txBody>
          <a:bodyPr/>
          <a:p/>
        </p:txBody>
      </p:sp>
      <p:sp>
        <p:nvSpPr>
          <p:cNvPr id="37" name="Text 35"/>
          <p:cNvSpPr txBox="1"/>
          <p:nvPr/>
        </p:nvSpPr>
        <p:spPr>
          <a:xfrm>
            <a:off x="4526280" y="4736592"/>
            <a:ext cx="3456432" cy="594360"/>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Data isolation at repository level — findByIdAndUserId() not just app logic</a:t>
            </a:r>
            <a:endParaRPr lang="en-US" sz="1050" dirty="0"/>
          </a:p>
        </p:txBody>
      </p:sp>
      <p:sp>
        <p:nvSpPr>
          <p:cNvPr id="38" name="Shape 36"/>
          <p:cNvSpPr/>
          <p:nvPr/>
        </p:nvSpPr>
        <p:spPr>
          <a:xfrm>
            <a:off x="4251960" y="5449824"/>
            <a:ext cx="3822192" cy="438912"/>
          </a:xfrm>
          <a:prstGeom prst="rect">
            <a:avLst/>
          </a:prstGeom>
          <a:solidFill>
            <a:srgbClr val="0D6B72"/>
          </a:solidFill>
          <a:ln w="12700">
            <a:solidFill>
              <a:srgbClr val="0D6B72"/>
            </a:solidFill>
            <a:prstDash val="solid"/>
          </a:ln>
        </p:spPr>
        <p:txBody>
          <a:bodyPr/>
          <a:p/>
        </p:txBody>
      </p:sp>
      <p:sp>
        <p:nvSpPr>
          <p:cNvPr id="39" name="Text 37"/>
          <p:cNvSpPr txBox="1"/>
          <p:nvPr/>
        </p:nvSpPr>
        <p:spPr>
          <a:xfrm>
            <a:off x="4343400" y="5477256"/>
            <a:ext cx="3639312" cy="384048"/>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DIMENSION MET</a:t>
            </a:r>
            <a:endParaRPr lang="en-US" sz="1300" dirty="0"/>
          </a:p>
        </p:txBody>
      </p:sp>
      <p:sp>
        <p:nvSpPr>
          <p:cNvPr id="40" name="Shape 38"/>
          <p:cNvSpPr/>
          <p:nvPr/>
        </p:nvSpPr>
        <p:spPr>
          <a:xfrm>
            <a:off x="8229600" y="1078992"/>
            <a:ext cx="3822192" cy="658368"/>
          </a:xfrm>
          <a:prstGeom prst="rect">
            <a:avLst/>
          </a:prstGeom>
          <a:solidFill>
            <a:srgbClr val="0A5C36"/>
          </a:solidFill>
          <a:ln w="12700">
            <a:solidFill>
              <a:srgbClr val="0A5C36"/>
            </a:solidFill>
            <a:prstDash val="solid"/>
          </a:ln>
        </p:spPr>
        <p:txBody>
          <a:bodyPr/>
          <a:p/>
        </p:txBody>
      </p:sp>
      <p:sp>
        <p:nvSpPr>
          <p:cNvPr id="41" name="Text 39"/>
          <p:cNvSpPr txBox="1"/>
          <p:nvPr/>
        </p:nvSpPr>
        <p:spPr>
          <a:xfrm>
            <a:off x="8321040" y="1115568"/>
            <a:ext cx="3657600" cy="621792"/>
          </a:xfrm>
          <a:prstGeom prst="rect">
            <a:avLst/>
          </a:prstGeom>
          <a:noFill/>
          <a:ln/>
        </p:spPr>
        <p:txBody>
          <a:bodyPr wrap="square" lIns="25400" tIns="25400" rIns="25400" bIns="2540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Dimension 3</a:t>
            </a:r>
            <a:endParaRPr lang="en-US" sz="1300" dirty="0"/>
          </a:p>
          <a:p>
            <a:pPr algn="l" indent="0" marL="0">
              <a:buNone/>
            </a:pPr>
            <a:r>
              <a:rPr lang="en-US" sz="1300" b="1" dirty="0">
                <a:solidFill>
                  <a:srgbClr val="FFFFFF"/>
                </a:solidFill>
                <a:latin typeface="Calibri" pitchFamily="34" charset="0"/>
                <a:ea typeface="Calibri" pitchFamily="34" charset="-122"/>
                <a:cs typeface="Calibri" pitchFamily="34" charset="-120"/>
              </a:rPr>
              <a:t>Net Benefits</a:t>
            </a:r>
            <a:endParaRPr lang="en-US" sz="1300" dirty="0"/>
          </a:p>
        </p:txBody>
      </p:sp>
      <p:sp>
        <p:nvSpPr>
          <p:cNvPr id="42" name="Shape 40"/>
          <p:cNvSpPr/>
          <p:nvPr/>
        </p:nvSpPr>
        <p:spPr>
          <a:xfrm>
            <a:off x="8229600" y="1737360"/>
            <a:ext cx="3822192" cy="438912"/>
          </a:xfrm>
          <a:prstGeom prst="rect">
            <a:avLst/>
          </a:prstGeom>
          <a:solidFill>
            <a:srgbClr val="EBF0F7"/>
          </a:solidFill>
          <a:ln w="12700">
            <a:solidFill>
              <a:srgbClr val="EBF0F7"/>
            </a:solidFill>
            <a:prstDash val="solid"/>
          </a:ln>
        </p:spPr>
        <p:txBody>
          <a:bodyPr/>
          <a:p/>
        </p:txBody>
      </p:sp>
      <p:sp>
        <p:nvSpPr>
          <p:cNvPr id="43" name="Text 41"/>
          <p:cNvSpPr txBox="1"/>
          <p:nvPr/>
        </p:nvSpPr>
        <p:spPr>
          <a:xfrm>
            <a:off x="8321040" y="1764792"/>
            <a:ext cx="3639312" cy="384048"/>
          </a:xfrm>
          <a:prstGeom prst="rect">
            <a:avLst/>
          </a:prstGeom>
          <a:noFill/>
          <a:ln/>
        </p:spPr>
        <p:txBody>
          <a:bodyPr wrap="square" lIns="25400" tIns="25400" rIns="25400" bIns="25400" rtlCol="0" anchor="ctr"/>
          <a:lstStyle/>
          <a:p>
            <a:pPr algn="l" indent="0" marL="0">
              <a:buNone/>
            </a:pPr>
            <a:r>
              <a:rPr lang="en-US" sz="1000" i="1" dirty="0">
                <a:solidFill>
                  <a:srgbClr val="1E3A5F"/>
                </a:solidFill>
                <a:latin typeface="Calibri" pitchFamily="34" charset="0"/>
                <a:ea typeface="Calibri" pitchFamily="34" charset="-122"/>
                <a:cs typeface="Calibri" pitchFamily="34" charset="-120"/>
              </a:rPr>
              <a:t>Does the system deliver tangible value to Singapore urban farm operators?</a:t>
            </a:r>
            <a:endParaRPr lang="en-US" sz="1000" dirty="0"/>
          </a:p>
        </p:txBody>
      </p:sp>
      <p:sp>
        <p:nvSpPr>
          <p:cNvPr id="44" name="Shape 42"/>
          <p:cNvSpPr/>
          <p:nvPr/>
        </p:nvSpPr>
        <p:spPr>
          <a:xfrm>
            <a:off x="8229600" y="2176272"/>
            <a:ext cx="3822192" cy="3273552"/>
          </a:xfrm>
          <a:prstGeom prst="rect">
            <a:avLst/>
          </a:prstGeom>
          <a:solidFill>
            <a:srgbClr val="F5F7FA"/>
          </a:solidFill>
          <a:ln w="12700">
            <a:solidFill>
              <a:srgbClr val="F5F7FA"/>
            </a:solidFill>
            <a:prstDash val="solid"/>
          </a:ln>
        </p:spPr>
        <p:txBody>
          <a:bodyPr/>
          <a:p/>
        </p:txBody>
      </p:sp>
      <p:sp>
        <p:nvSpPr>
          <p:cNvPr id="45" name="Shape 43"/>
          <p:cNvSpPr/>
          <p:nvPr/>
        </p:nvSpPr>
        <p:spPr>
          <a:xfrm>
            <a:off x="8366760" y="2505456"/>
            <a:ext cx="54864" cy="54864"/>
          </a:xfrm>
          <a:prstGeom prst="rect">
            <a:avLst/>
          </a:prstGeom>
          <a:solidFill>
            <a:srgbClr val="0A5C36"/>
          </a:solidFill>
          <a:ln w="12700">
            <a:solidFill>
              <a:srgbClr val="0A5C36"/>
            </a:solidFill>
            <a:prstDash val="solid"/>
          </a:ln>
        </p:spPr>
        <p:txBody>
          <a:bodyPr/>
          <a:p/>
        </p:txBody>
      </p:sp>
      <p:sp>
        <p:nvSpPr>
          <p:cNvPr id="46" name="Text 44"/>
          <p:cNvSpPr txBox="1"/>
          <p:nvPr/>
        </p:nvSpPr>
        <p:spPr>
          <a:xfrm>
            <a:off x="8503920" y="2286000"/>
            <a:ext cx="3456432" cy="594360"/>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Complete farm workflow — register → farm → crops → activities → AI prediction</a:t>
            </a:r>
            <a:endParaRPr lang="en-US" sz="1050" dirty="0"/>
          </a:p>
        </p:txBody>
      </p:sp>
      <p:sp>
        <p:nvSpPr>
          <p:cNvPr id="47" name="Shape 45"/>
          <p:cNvSpPr/>
          <p:nvPr/>
        </p:nvSpPr>
        <p:spPr>
          <a:xfrm>
            <a:off x="8366760" y="3118104"/>
            <a:ext cx="54864" cy="54864"/>
          </a:xfrm>
          <a:prstGeom prst="rect">
            <a:avLst/>
          </a:prstGeom>
          <a:solidFill>
            <a:srgbClr val="0A5C36"/>
          </a:solidFill>
          <a:ln w="12700">
            <a:solidFill>
              <a:srgbClr val="0A5C36"/>
            </a:solidFill>
            <a:prstDash val="solid"/>
          </a:ln>
        </p:spPr>
        <p:txBody>
          <a:bodyPr/>
          <a:p/>
        </p:txBody>
      </p:sp>
      <p:sp>
        <p:nvSpPr>
          <p:cNvPr id="48" name="Text 46"/>
          <p:cNvSpPr txBox="1"/>
          <p:nvPr/>
        </p:nvSpPr>
        <p:spPr>
          <a:xfrm>
            <a:off x="8503920" y="2898648"/>
            <a:ext cx="3456432" cy="594360"/>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Addresses all 4 research gaps identified in the literature review</a:t>
            </a:r>
            <a:endParaRPr lang="en-US" sz="1050" dirty="0"/>
          </a:p>
        </p:txBody>
      </p:sp>
      <p:sp>
        <p:nvSpPr>
          <p:cNvPr id="49" name="Shape 47"/>
          <p:cNvSpPr/>
          <p:nvPr/>
        </p:nvSpPr>
        <p:spPr>
          <a:xfrm>
            <a:off x="8366760" y="3730752"/>
            <a:ext cx="54864" cy="54864"/>
          </a:xfrm>
          <a:prstGeom prst="rect">
            <a:avLst/>
          </a:prstGeom>
          <a:solidFill>
            <a:srgbClr val="0A5C36"/>
          </a:solidFill>
          <a:ln w="12700">
            <a:solidFill>
              <a:srgbClr val="0A5C36"/>
            </a:solidFill>
            <a:prstDash val="solid"/>
          </a:ln>
        </p:spPr>
        <p:txBody>
          <a:bodyPr/>
          <a:p/>
        </p:txBody>
      </p:sp>
      <p:sp>
        <p:nvSpPr>
          <p:cNvPr id="50" name="Text 48"/>
          <p:cNvSpPr txBox="1"/>
          <p:nvPr/>
        </p:nvSpPr>
        <p:spPr>
          <a:xfrm>
            <a:off x="8503920" y="3511296"/>
            <a:ext cx="3456432" cy="594360"/>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8/10 Nielsen (1994) heuristics fully compliant — usable for intended audience</a:t>
            </a:r>
            <a:endParaRPr lang="en-US" sz="1050" dirty="0"/>
          </a:p>
        </p:txBody>
      </p:sp>
      <p:sp>
        <p:nvSpPr>
          <p:cNvPr id="51" name="Shape 49"/>
          <p:cNvSpPr/>
          <p:nvPr/>
        </p:nvSpPr>
        <p:spPr>
          <a:xfrm>
            <a:off x="8366760" y="4343400"/>
            <a:ext cx="54864" cy="54864"/>
          </a:xfrm>
          <a:prstGeom prst="rect">
            <a:avLst/>
          </a:prstGeom>
          <a:solidFill>
            <a:srgbClr val="0A5C36"/>
          </a:solidFill>
          <a:ln w="12700">
            <a:solidFill>
              <a:srgbClr val="0A5C36"/>
            </a:solidFill>
            <a:prstDash val="solid"/>
          </a:ln>
        </p:spPr>
        <p:txBody>
          <a:bodyPr/>
          <a:p/>
        </p:txBody>
      </p:sp>
      <p:sp>
        <p:nvSpPr>
          <p:cNvPr id="52" name="Text 50"/>
          <p:cNvSpPr txBox="1"/>
          <p:nvPr/>
        </p:nvSpPr>
        <p:spPr>
          <a:xfrm>
            <a:off x="8503920" y="4123944"/>
            <a:ext cx="3456432" cy="594360"/>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Feature importance gives actionable guidance: prioritise nutrient monitoring</a:t>
            </a:r>
            <a:endParaRPr lang="en-US" sz="1050" dirty="0"/>
          </a:p>
        </p:txBody>
      </p:sp>
      <p:sp>
        <p:nvSpPr>
          <p:cNvPr id="53" name="Shape 51"/>
          <p:cNvSpPr/>
          <p:nvPr/>
        </p:nvSpPr>
        <p:spPr>
          <a:xfrm>
            <a:off x="8366760" y="4956048"/>
            <a:ext cx="54864" cy="54864"/>
          </a:xfrm>
          <a:prstGeom prst="rect">
            <a:avLst/>
          </a:prstGeom>
          <a:solidFill>
            <a:srgbClr val="0A5C36"/>
          </a:solidFill>
          <a:ln w="12700">
            <a:solidFill>
              <a:srgbClr val="0A5C36"/>
            </a:solidFill>
            <a:prstDash val="solid"/>
          </a:ln>
        </p:spPr>
        <p:txBody>
          <a:bodyPr/>
          <a:p/>
        </p:txBody>
      </p:sp>
      <p:sp>
        <p:nvSpPr>
          <p:cNvPr id="54" name="Text 52"/>
          <p:cNvSpPr txBox="1"/>
          <p:nvPr/>
        </p:nvSpPr>
        <p:spPr>
          <a:xfrm>
            <a:off x="8503920" y="4736592"/>
            <a:ext cx="3456432" cy="594360"/>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SUS study deferred pending ethics approval — primary future work recommendation</a:t>
            </a:r>
            <a:endParaRPr lang="en-US" sz="1050" dirty="0"/>
          </a:p>
        </p:txBody>
      </p:sp>
      <p:sp>
        <p:nvSpPr>
          <p:cNvPr id="55" name="Shape 53"/>
          <p:cNvSpPr/>
          <p:nvPr/>
        </p:nvSpPr>
        <p:spPr>
          <a:xfrm>
            <a:off x="8229600" y="5449824"/>
            <a:ext cx="3822192" cy="438912"/>
          </a:xfrm>
          <a:prstGeom prst="rect">
            <a:avLst/>
          </a:prstGeom>
          <a:solidFill>
            <a:srgbClr val="0A5C36"/>
          </a:solidFill>
          <a:ln w="12700">
            <a:solidFill>
              <a:srgbClr val="0A5C36"/>
            </a:solidFill>
            <a:prstDash val="solid"/>
          </a:ln>
        </p:spPr>
        <p:txBody>
          <a:bodyPr/>
          <a:p/>
        </p:txBody>
      </p:sp>
      <p:sp>
        <p:nvSpPr>
          <p:cNvPr id="56" name="Text 54"/>
          <p:cNvSpPr txBox="1"/>
          <p:nvPr/>
        </p:nvSpPr>
        <p:spPr>
          <a:xfrm>
            <a:off x="8321040" y="5477256"/>
            <a:ext cx="3639312" cy="384048"/>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DIMENSION MET</a:t>
            </a:r>
            <a:endParaRPr lang="en-US" sz="1300" dirty="0"/>
          </a:p>
        </p:txBody>
      </p:sp>
      <p:sp>
        <p:nvSpPr>
          <p:cNvPr id="57" name="Shape 55"/>
          <p:cNvSpPr/>
          <p:nvPr/>
        </p:nvSpPr>
        <p:spPr>
          <a:xfrm>
            <a:off x="0" y="6510528"/>
            <a:ext cx="12161520" cy="347472"/>
          </a:xfrm>
          <a:prstGeom prst="rect">
            <a:avLst/>
          </a:prstGeom>
          <a:solidFill>
            <a:srgbClr val="E8EDF3"/>
          </a:solidFill>
          <a:ln w="12700">
            <a:solidFill>
              <a:srgbClr val="E8EDF3"/>
            </a:solidFill>
            <a:prstDash val="solid"/>
          </a:ln>
        </p:spPr>
        <p:txBody>
          <a:bodyPr/>
          <a:p/>
        </p:txBody>
      </p:sp>
      <p:sp>
        <p:nvSpPr>
          <p:cNvPr id="59" name="Text 57"/>
          <p:cNvSpPr txBox="1"/>
          <p:nvPr/>
        </p:nvSpPr>
        <p:spPr>
          <a:xfrm>
            <a:off x="9784080" y="6510528"/>
            <a:ext cx="2194560" cy="347472"/>
          </a:xfrm>
          <a:prstGeom prst="rect">
            <a:avLst/>
          </a:prstGeom>
          <a:noFill/>
          <a:ln/>
        </p:spPr>
        <p:txBody>
          <a:bodyPr wrap="square" lIns="25400" tIns="25400" rIns="25400" bIns="25400" rtlCol="0" anchor="ctr"/>
          <a:lstStyle/>
          <a:p>
            <a:pPr algn="r" indent="0" marL="0">
              <a:buNone/>
            </a:pPr>
            <a:r>
              <a:rPr lang="en-US" sz="1000" dirty="0">
                <a:solidFill>
                  <a:srgbClr val="718096"/>
                </a:solidFill>
                <a:latin typeface="Calibri" pitchFamily="34" charset="0"/>
                <a:ea typeface="Calibri" pitchFamily="34" charset="-122"/>
                <a:cs typeface="Calibri" pitchFamily="34" charset="-120"/>
              </a:rPr>
              <a:t>8:20 – 8:40</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E3A5F"/>
          </a:solidFill>
          <a:ln w="12700">
            <a:solidFill>
              <a:srgbClr val="1E3A5F"/>
            </a:solidFill>
            <a:prstDash val="solid"/>
          </a:ln>
        </p:spPr>
        <p:txBody>
          <a:bodyPr/>
          <a:p/>
        </p:txBody>
      </p:sp>
      <p:sp>
        <p:nvSpPr>
          <p:cNvPr id="3" name="Text 1"/>
          <p:cNvSpPr txBox="1"/>
          <p:nvPr/>
        </p:nvSpPr>
        <p:spPr>
          <a:xfrm>
            <a:off x="365760" y="45720"/>
            <a:ext cx="10058400" cy="566928"/>
          </a:xfrm>
          <a:prstGeom prst="rect">
            <a:avLst/>
          </a:prstGeom>
          <a:noFill/>
          <a:ln/>
        </p:spPr>
        <p:txBody>
          <a:bodyPr wrap="square" lIns="25400" tIns="25400" rIns="25400" bIns="2540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Conclusions — Research Questions Answered &amp; Four Contributions</a:t>
            </a:r>
            <a:endParaRPr lang="en-US" sz="2200" dirty="0"/>
          </a:p>
        </p:txBody>
      </p:sp>
      <p:sp>
        <p:nvSpPr>
          <p:cNvPr id="4" name="Shape 2"/>
          <p:cNvSpPr/>
          <p:nvPr/>
        </p:nvSpPr>
        <p:spPr>
          <a:xfrm>
            <a:off x="0" y="960120"/>
            <a:ext cx="12161520" cy="45720"/>
          </a:xfrm>
          <a:prstGeom prst="rect">
            <a:avLst/>
          </a:prstGeom>
          <a:solidFill>
            <a:srgbClr val="0D6B72"/>
          </a:solidFill>
          <a:ln w="12700">
            <a:solidFill>
              <a:srgbClr val="0D6B72"/>
            </a:solidFill>
            <a:prstDash val="solid"/>
          </a:ln>
        </p:spPr>
        <p:txBody>
          <a:bodyPr/>
          <a:p/>
        </p:txBody>
      </p:sp>
      <p:sp>
        <p:nvSpPr>
          <p:cNvPr id="5" name="Shape 3"/>
          <p:cNvSpPr/>
          <p:nvPr/>
        </p:nvSpPr>
        <p:spPr>
          <a:xfrm>
            <a:off x="274320" y="1078992"/>
            <a:ext cx="777240" cy="749808"/>
          </a:xfrm>
          <a:prstGeom prst="rect">
            <a:avLst/>
          </a:prstGeom>
          <a:solidFill>
            <a:srgbClr val="1E3A5F"/>
          </a:solidFill>
          <a:ln w="12700">
            <a:solidFill>
              <a:srgbClr val="1E3A5F"/>
            </a:solidFill>
            <a:prstDash val="solid"/>
          </a:ln>
        </p:spPr>
        <p:txBody>
          <a:bodyPr/>
          <a:p/>
        </p:txBody>
      </p:sp>
      <p:sp>
        <p:nvSpPr>
          <p:cNvPr id="6" name="Text 4"/>
          <p:cNvSpPr txBox="1"/>
          <p:nvPr/>
        </p:nvSpPr>
        <p:spPr>
          <a:xfrm>
            <a:off x="274320" y="1078992"/>
            <a:ext cx="777240" cy="749808"/>
          </a:xfrm>
          <a:prstGeom prst="rect">
            <a:avLst/>
          </a:prstGeom>
          <a:noFill/>
          <a:ln/>
        </p:spPr>
        <p:txBody>
          <a:bodyPr wrap="square" lIns="25400" tIns="25400" rIns="25400" bIns="254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RQ1</a:t>
            </a:r>
            <a:endParaRPr lang="en-US" sz="1400" dirty="0"/>
          </a:p>
        </p:txBody>
      </p:sp>
      <p:sp>
        <p:nvSpPr>
          <p:cNvPr id="7" name="Shape 5"/>
          <p:cNvSpPr/>
          <p:nvPr/>
        </p:nvSpPr>
        <p:spPr>
          <a:xfrm>
            <a:off x="1115568" y="1078992"/>
            <a:ext cx="10863072" cy="749808"/>
          </a:xfrm>
          <a:prstGeom prst="rect">
            <a:avLst/>
          </a:prstGeom>
          <a:solidFill>
            <a:srgbClr val="F5F7FA"/>
          </a:solidFill>
          <a:ln w="12700">
            <a:solidFill>
              <a:srgbClr val="F5F7FA"/>
            </a:solidFill>
            <a:prstDash val="solid"/>
          </a:ln>
        </p:spPr>
        <p:txBody>
          <a:bodyPr/>
          <a:p/>
        </p:txBody>
      </p:sp>
      <p:sp>
        <p:nvSpPr>
          <p:cNvPr id="8" name="Text 6"/>
          <p:cNvSpPr txBox="1"/>
          <p:nvPr/>
        </p:nvSpPr>
        <p:spPr>
          <a:xfrm>
            <a:off x="1234440" y="1152144"/>
            <a:ext cx="10652760" cy="603504"/>
          </a:xfrm>
          <a:prstGeom prst="rect">
            <a:avLst/>
          </a:prstGeom>
          <a:noFill/>
          <a:ln/>
        </p:spPr>
        <p:txBody>
          <a:bodyPr wrap="square" lIns="25400" tIns="25400" rIns="25400" bIns="25400" rtlCol="0" anchor="ctr"/>
          <a:lstStyle/>
          <a:p>
            <a:pPr algn="l" indent="0" marL="0">
              <a:buNone/>
            </a:pPr>
            <a:r>
              <a:rPr lang="en-US" sz="1200" dirty="0">
                <a:solidFill>
                  <a:srgbClr val="1A202C"/>
                </a:solidFill>
                <a:latin typeface="Calibri" pitchFamily="34" charset="0"/>
                <a:ea typeface="Calibri" pitchFamily="34" charset="-122"/>
                <a:cs typeface="Calibri" pitchFamily="34" charset="-120"/>
              </a:rPr>
              <a:t>Existing AMS platforms not designed for Singapore CEA. AI yield prediction exists only in academic papers — never in accessible web tools.</a:t>
            </a:r>
            <a:endParaRPr lang="en-US" sz="1200" dirty="0"/>
          </a:p>
        </p:txBody>
      </p:sp>
      <p:sp>
        <p:nvSpPr>
          <p:cNvPr id="9" name="Shape 7"/>
          <p:cNvSpPr/>
          <p:nvPr/>
        </p:nvSpPr>
        <p:spPr>
          <a:xfrm>
            <a:off x="274320" y="1947672"/>
            <a:ext cx="777240" cy="749808"/>
          </a:xfrm>
          <a:prstGeom prst="rect">
            <a:avLst/>
          </a:prstGeom>
          <a:solidFill>
            <a:srgbClr val="0D6B72"/>
          </a:solidFill>
          <a:ln w="12700">
            <a:solidFill>
              <a:srgbClr val="0D6B72"/>
            </a:solidFill>
            <a:prstDash val="solid"/>
          </a:ln>
        </p:spPr>
        <p:txBody>
          <a:bodyPr/>
          <a:p/>
        </p:txBody>
      </p:sp>
      <p:sp>
        <p:nvSpPr>
          <p:cNvPr id="10" name="Text 8"/>
          <p:cNvSpPr txBox="1"/>
          <p:nvPr/>
        </p:nvSpPr>
        <p:spPr>
          <a:xfrm>
            <a:off x="274320" y="1947672"/>
            <a:ext cx="777240" cy="749808"/>
          </a:xfrm>
          <a:prstGeom prst="rect">
            <a:avLst/>
          </a:prstGeom>
          <a:noFill/>
          <a:ln/>
        </p:spPr>
        <p:txBody>
          <a:bodyPr wrap="square" lIns="25400" tIns="25400" rIns="25400" bIns="254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RQ2</a:t>
            </a:r>
            <a:endParaRPr lang="en-US" sz="1400" dirty="0"/>
          </a:p>
        </p:txBody>
      </p:sp>
      <p:sp>
        <p:nvSpPr>
          <p:cNvPr id="11" name="Shape 9"/>
          <p:cNvSpPr/>
          <p:nvPr/>
        </p:nvSpPr>
        <p:spPr>
          <a:xfrm>
            <a:off x="1115568" y="1947672"/>
            <a:ext cx="10863072" cy="749808"/>
          </a:xfrm>
          <a:prstGeom prst="rect">
            <a:avLst/>
          </a:prstGeom>
          <a:solidFill>
            <a:srgbClr val="EBF0F7"/>
          </a:solidFill>
          <a:ln w="12700">
            <a:solidFill>
              <a:srgbClr val="EBF0F7"/>
            </a:solidFill>
            <a:prstDash val="solid"/>
          </a:ln>
        </p:spPr>
        <p:txBody>
          <a:bodyPr/>
          <a:p/>
        </p:txBody>
      </p:sp>
      <p:sp>
        <p:nvSpPr>
          <p:cNvPr id="12" name="Text 10"/>
          <p:cNvSpPr txBox="1"/>
          <p:nvPr/>
        </p:nvSpPr>
        <p:spPr>
          <a:xfrm>
            <a:off x="1234440" y="2020824"/>
            <a:ext cx="10652760" cy="603504"/>
          </a:xfrm>
          <a:prstGeom prst="rect">
            <a:avLst/>
          </a:prstGeom>
          <a:noFill/>
          <a:ln/>
        </p:spPr>
        <p:txBody>
          <a:bodyPr wrap="square" lIns="25400" tIns="25400" rIns="25400" bIns="25400" rtlCol="0" anchor="ctr"/>
          <a:lstStyle/>
          <a:p>
            <a:pPr algn="l" indent="0" marL="0">
              <a:buNone/>
            </a:pPr>
            <a:r>
              <a:rPr lang="en-US" sz="1200" dirty="0">
                <a:solidFill>
                  <a:srgbClr val="1A202C"/>
                </a:solidFill>
                <a:latin typeface="Calibri" pitchFamily="34" charset="0"/>
                <a:ea typeface="Calibri" pitchFamily="34" charset="-122"/>
                <a:cs typeface="Calibri" pitchFamily="34" charset="-120"/>
              </a:rPr>
              <a:t>AgriAI-SG built: ReactJS 18 + Spring Boot 3.2 + MySQL 8.0 + PyTorch Flask. 10 FRs. 12/12 tests. 4/4 OWASP passed.</a:t>
            </a:r>
            <a:endParaRPr lang="en-US" sz="1200" dirty="0"/>
          </a:p>
        </p:txBody>
      </p:sp>
      <p:sp>
        <p:nvSpPr>
          <p:cNvPr id="13" name="Shape 11"/>
          <p:cNvSpPr/>
          <p:nvPr/>
        </p:nvSpPr>
        <p:spPr>
          <a:xfrm>
            <a:off x="274320" y="2816352"/>
            <a:ext cx="777240" cy="749808"/>
          </a:xfrm>
          <a:prstGeom prst="rect">
            <a:avLst/>
          </a:prstGeom>
          <a:solidFill>
            <a:srgbClr val="0A5C36"/>
          </a:solidFill>
          <a:ln w="12700">
            <a:solidFill>
              <a:srgbClr val="0A5C36"/>
            </a:solidFill>
            <a:prstDash val="solid"/>
          </a:ln>
        </p:spPr>
        <p:txBody>
          <a:bodyPr/>
          <a:p/>
        </p:txBody>
      </p:sp>
      <p:sp>
        <p:nvSpPr>
          <p:cNvPr id="14" name="Text 12"/>
          <p:cNvSpPr txBox="1"/>
          <p:nvPr/>
        </p:nvSpPr>
        <p:spPr>
          <a:xfrm>
            <a:off x="274320" y="2816352"/>
            <a:ext cx="777240" cy="749808"/>
          </a:xfrm>
          <a:prstGeom prst="rect">
            <a:avLst/>
          </a:prstGeom>
          <a:noFill/>
          <a:ln/>
        </p:spPr>
        <p:txBody>
          <a:bodyPr wrap="square" lIns="25400" tIns="25400" rIns="25400" bIns="254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RQ3</a:t>
            </a:r>
            <a:endParaRPr lang="en-US" sz="1400" dirty="0"/>
          </a:p>
        </p:txBody>
      </p:sp>
      <p:sp>
        <p:nvSpPr>
          <p:cNvPr id="15" name="Shape 13"/>
          <p:cNvSpPr/>
          <p:nvPr/>
        </p:nvSpPr>
        <p:spPr>
          <a:xfrm>
            <a:off x="1115568" y="2816352"/>
            <a:ext cx="10863072" cy="749808"/>
          </a:xfrm>
          <a:prstGeom prst="rect">
            <a:avLst/>
          </a:prstGeom>
          <a:solidFill>
            <a:srgbClr val="F5F7FA"/>
          </a:solidFill>
          <a:ln w="12700">
            <a:solidFill>
              <a:srgbClr val="F5F7FA"/>
            </a:solidFill>
            <a:prstDash val="solid"/>
          </a:ln>
        </p:spPr>
        <p:txBody>
          <a:bodyPr/>
          <a:p/>
        </p:txBody>
      </p:sp>
      <p:sp>
        <p:nvSpPr>
          <p:cNvPr id="16" name="Text 14"/>
          <p:cNvSpPr txBox="1"/>
          <p:nvPr/>
        </p:nvSpPr>
        <p:spPr>
          <a:xfrm>
            <a:off x="1234440" y="2889504"/>
            <a:ext cx="10652760" cy="603504"/>
          </a:xfrm>
          <a:prstGeom prst="rect">
            <a:avLst/>
          </a:prstGeom>
          <a:noFill/>
          <a:ln/>
        </p:spPr>
        <p:txBody>
          <a:bodyPr wrap="square" lIns="25400" tIns="25400" rIns="25400" bIns="25400" rtlCol="0" anchor="ctr"/>
          <a:lstStyle/>
          <a:p>
            <a:pPr algn="l" indent="0" marL="0">
              <a:buNone/>
            </a:pPr>
            <a:r>
              <a:rPr lang="en-US" sz="1200" dirty="0">
                <a:solidFill>
                  <a:srgbClr val="1A202C"/>
                </a:solidFill>
                <a:latin typeface="Calibri" pitchFamily="34" charset="0"/>
                <a:ea typeface="Calibri" pitchFamily="34" charset="-122"/>
                <a:cs typeface="Calibri" pitchFamily="34" charset="-120"/>
              </a:rPr>
              <a:t>DNN Test R²=0.9389 · MAE=0.165 kg/m² · Gap=0.0016 — EXCEEDS Van Klompenburg (2020) benchmark of 0.75–0.92.</a:t>
            </a:r>
            <a:endParaRPr lang="en-US" sz="1200" dirty="0"/>
          </a:p>
        </p:txBody>
      </p:sp>
      <p:sp>
        <p:nvSpPr>
          <p:cNvPr id="17" name="Shape 15"/>
          <p:cNvSpPr/>
          <p:nvPr/>
        </p:nvSpPr>
        <p:spPr>
          <a:xfrm>
            <a:off x="274320" y="3685032"/>
            <a:ext cx="777240" cy="749808"/>
          </a:xfrm>
          <a:prstGeom prst="rect">
            <a:avLst/>
          </a:prstGeom>
          <a:solidFill>
            <a:srgbClr val="2C5F8A"/>
          </a:solidFill>
          <a:ln w="12700">
            <a:solidFill>
              <a:srgbClr val="2C5F8A"/>
            </a:solidFill>
            <a:prstDash val="solid"/>
          </a:ln>
        </p:spPr>
        <p:txBody>
          <a:bodyPr/>
          <a:p/>
        </p:txBody>
      </p:sp>
      <p:sp>
        <p:nvSpPr>
          <p:cNvPr id="18" name="Text 16"/>
          <p:cNvSpPr txBox="1"/>
          <p:nvPr/>
        </p:nvSpPr>
        <p:spPr>
          <a:xfrm>
            <a:off x="274320" y="3685032"/>
            <a:ext cx="777240" cy="749808"/>
          </a:xfrm>
          <a:prstGeom prst="rect">
            <a:avLst/>
          </a:prstGeom>
          <a:noFill/>
          <a:ln/>
        </p:spPr>
        <p:txBody>
          <a:bodyPr wrap="square" lIns="25400" tIns="25400" rIns="25400" bIns="254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RQ4</a:t>
            </a:r>
            <a:endParaRPr lang="en-US" sz="1400" dirty="0"/>
          </a:p>
        </p:txBody>
      </p:sp>
      <p:sp>
        <p:nvSpPr>
          <p:cNvPr id="19" name="Shape 17"/>
          <p:cNvSpPr/>
          <p:nvPr/>
        </p:nvSpPr>
        <p:spPr>
          <a:xfrm>
            <a:off x="1115568" y="3685032"/>
            <a:ext cx="10863072" cy="749808"/>
          </a:xfrm>
          <a:prstGeom prst="rect">
            <a:avLst/>
          </a:prstGeom>
          <a:solidFill>
            <a:srgbClr val="EBF0F7"/>
          </a:solidFill>
          <a:ln w="12700">
            <a:solidFill>
              <a:srgbClr val="EBF0F7"/>
            </a:solidFill>
            <a:prstDash val="solid"/>
          </a:ln>
        </p:spPr>
        <p:txBody>
          <a:bodyPr/>
          <a:p/>
        </p:txBody>
      </p:sp>
      <p:sp>
        <p:nvSpPr>
          <p:cNvPr id="20" name="Text 18"/>
          <p:cNvSpPr txBox="1"/>
          <p:nvPr/>
        </p:nvSpPr>
        <p:spPr>
          <a:xfrm>
            <a:off x="1234440" y="3758184"/>
            <a:ext cx="10652760" cy="603504"/>
          </a:xfrm>
          <a:prstGeom prst="rect">
            <a:avLst/>
          </a:prstGeom>
          <a:noFill/>
          <a:ln/>
        </p:spPr>
        <p:txBody>
          <a:bodyPr wrap="square" lIns="25400" tIns="25400" rIns="25400" bIns="25400" rtlCol="0" anchor="ctr"/>
          <a:lstStyle/>
          <a:p>
            <a:pPr algn="l" indent="0" marL="0">
              <a:buNone/>
            </a:pPr>
            <a:r>
              <a:rPr lang="en-US" sz="1200" dirty="0">
                <a:solidFill>
                  <a:srgbClr val="1A202C"/>
                </a:solidFill>
                <a:latin typeface="Calibri" pitchFamily="34" charset="0"/>
                <a:ea typeface="Calibri" pitchFamily="34" charset="-122"/>
                <a:cs typeface="Calibri" pitchFamily="34" charset="-120"/>
              </a:rPr>
              <a:t>DeLone &amp; McLean: Information Quality ✅ · System Quality ✅ · Net Benefits ✅ — ALL THREE DIMENSIONS MET.</a:t>
            </a:r>
            <a:endParaRPr lang="en-US" sz="1200" dirty="0"/>
          </a:p>
        </p:txBody>
      </p:sp>
      <p:sp>
        <p:nvSpPr>
          <p:cNvPr id="21" name="Text 19"/>
          <p:cNvSpPr txBox="1"/>
          <p:nvPr/>
        </p:nvSpPr>
        <p:spPr>
          <a:xfrm>
            <a:off x="274320" y="4663440"/>
            <a:ext cx="4572000" cy="347472"/>
          </a:xfrm>
          <a:prstGeom prst="rect">
            <a:avLst/>
          </a:prstGeom>
          <a:noFill/>
          <a:ln/>
        </p:spPr>
        <p:txBody>
          <a:bodyPr wrap="square" lIns="25400" tIns="25400" rIns="25400" bIns="25400" rtlCol="0" anchor="ctr"/>
          <a:lstStyle/>
          <a:p>
            <a:pPr algn="l" indent="0" marL="0">
              <a:buNone/>
            </a:pPr>
            <a:r>
              <a:rPr lang="en-US" sz="1300" b="1" dirty="0">
                <a:solidFill>
                  <a:srgbClr val="1E3A5F"/>
                </a:solidFill>
                <a:latin typeface="Calibri" pitchFamily="34" charset="0"/>
                <a:ea typeface="Calibri" pitchFamily="34" charset="-122"/>
                <a:cs typeface="Calibri" pitchFamily="34" charset="-120"/>
              </a:rPr>
              <a:t>Four Research Contributions:</a:t>
            </a:r>
            <a:endParaRPr lang="en-US" sz="1300" dirty="0"/>
          </a:p>
        </p:txBody>
      </p:sp>
      <p:sp>
        <p:nvSpPr>
          <p:cNvPr id="22" name="Shape 20"/>
          <p:cNvSpPr/>
          <p:nvPr/>
        </p:nvSpPr>
        <p:spPr>
          <a:xfrm>
            <a:off x="274320" y="5074920"/>
            <a:ext cx="2798064" cy="384048"/>
          </a:xfrm>
          <a:prstGeom prst="rect">
            <a:avLst/>
          </a:prstGeom>
          <a:solidFill>
            <a:srgbClr val="1E3A5F"/>
          </a:solidFill>
          <a:ln w="12700">
            <a:solidFill>
              <a:srgbClr val="1E3A5F"/>
            </a:solidFill>
            <a:prstDash val="solid"/>
          </a:ln>
        </p:spPr>
        <p:txBody>
          <a:bodyPr/>
          <a:p/>
        </p:txBody>
      </p:sp>
      <p:sp>
        <p:nvSpPr>
          <p:cNvPr id="23" name="Text 21"/>
          <p:cNvSpPr txBox="1"/>
          <p:nvPr/>
        </p:nvSpPr>
        <p:spPr>
          <a:xfrm>
            <a:off x="365760" y="5102352"/>
            <a:ext cx="1097280" cy="320040"/>
          </a:xfrm>
          <a:prstGeom prst="rect">
            <a:avLst/>
          </a:prstGeom>
          <a:noFill/>
          <a:ln/>
        </p:spPr>
        <p:txBody>
          <a:bodyPr wrap="square" lIns="25400" tIns="25400" rIns="25400" bIns="2540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Practical</a:t>
            </a:r>
            <a:endParaRPr lang="en-US" sz="1200" dirty="0"/>
          </a:p>
        </p:txBody>
      </p:sp>
      <p:sp>
        <p:nvSpPr>
          <p:cNvPr id="24" name="Shape 22"/>
          <p:cNvSpPr/>
          <p:nvPr/>
        </p:nvSpPr>
        <p:spPr>
          <a:xfrm>
            <a:off x="274320" y="5458968"/>
            <a:ext cx="2798064" cy="530352"/>
          </a:xfrm>
          <a:prstGeom prst="rect">
            <a:avLst/>
          </a:prstGeom>
          <a:solidFill>
            <a:srgbClr val="F5F7FA"/>
          </a:solidFill>
          <a:ln w="12700">
            <a:solidFill>
              <a:srgbClr val="F5F7FA"/>
            </a:solidFill>
            <a:prstDash val="solid"/>
          </a:ln>
        </p:spPr>
        <p:txBody>
          <a:bodyPr/>
          <a:p/>
        </p:txBody>
      </p:sp>
      <p:sp>
        <p:nvSpPr>
          <p:cNvPr id="25" name="Text 23"/>
          <p:cNvSpPr txBox="1"/>
          <p:nvPr/>
        </p:nvSpPr>
        <p:spPr>
          <a:xfrm>
            <a:off x="365760" y="5486400"/>
            <a:ext cx="2633472" cy="475488"/>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First accessible CEA-specific AI-DSS for Singapore small urban farm operators</a:t>
            </a:r>
            <a:endParaRPr lang="en-US" sz="1050" dirty="0"/>
          </a:p>
        </p:txBody>
      </p:sp>
      <p:sp>
        <p:nvSpPr>
          <p:cNvPr id="26" name="Shape 24"/>
          <p:cNvSpPr/>
          <p:nvPr/>
        </p:nvSpPr>
        <p:spPr>
          <a:xfrm>
            <a:off x="3218688" y="5074920"/>
            <a:ext cx="2798064" cy="384048"/>
          </a:xfrm>
          <a:prstGeom prst="rect">
            <a:avLst/>
          </a:prstGeom>
          <a:solidFill>
            <a:srgbClr val="0D6B72"/>
          </a:solidFill>
          <a:ln w="12700">
            <a:solidFill>
              <a:srgbClr val="0D6B72"/>
            </a:solidFill>
            <a:prstDash val="solid"/>
          </a:ln>
        </p:spPr>
        <p:txBody>
          <a:bodyPr/>
          <a:p/>
        </p:txBody>
      </p:sp>
      <p:sp>
        <p:nvSpPr>
          <p:cNvPr id="27" name="Text 25"/>
          <p:cNvSpPr txBox="1"/>
          <p:nvPr/>
        </p:nvSpPr>
        <p:spPr>
          <a:xfrm>
            <a:off x="3310128" y="5102352"/>
            <a:ext cx="1097280" cy="320040"/>
          </a:xfrm>
          <a:prstGeom prst="rect">
            <a:avLst/>
          </a:prstGeom>
          <a:noFill/>
          <a:ln/>
        </p:spPr>
        <p:txBody>
          <a:bodyPr wrap="square" lIns="25400" tIns="25400" rIns="25400" bIns="2540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Technical</a:t>
            </a:r>
            <a:endParaRPr lang="en-US" sz="1200" dirty="0"/>
          </a:p>
        </p:txBody>
      </p:sp>
      <p:sp>
        <p:nvSpPr>
          <p:cNvPr id="28" name="Shape 26"/>
          <p:cNvSpPr/>
          <p:nvPr/>
        </p:nvSpPr>
        <p:spPr>
          <a:xfrm>
            <a:off x="3218688" y="5458968"/>
            <a:ext cx="2798064" cy="530352"/>
          </a:xfrm>
          <a:prstGeom prst="rect">
            <a:avLst/>
          </a:prstGeom>
          <a:solidFill>
            <a:srgbClr val="F5F7FA"/>
          </a:solidFill>
          <a:ln w="12700">
            <a:solidFill>
              <a:srgbClr val="F5F7FA"/>
            </a:solidFill>
            <a:prstDash val="solid"/>
          </a:ln>
        </p:spPr>
        <p:txBody>
          <a:bodyPr/>
          <a:p/>
        </p:txBody>
      </p:sp>
      <p:sp>
        <p:nvSpPr>
          <p:cNvPr id="29" name="Text 27"/>
          <p:cNvSpPr txBox="1"/>
          <p:nvPr/>
        </p:nvSpPr>
        <p:spPr>
          <a:xfrm>
            <a:off x="3310128" y="5486400"/>
            <a:ext cx="2633472" cy="475488"/>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PyTorch DNN R²=0.9389 · gap=0.0016 · MAE=0.165 · exceeds academic benchmark</a:t>
            </a:r>
            <a:endParaRPr lang="en-US" sz="1050" dirty="0"/>
          </a:p>
        </p:txBody>
      </p:sp>
      <p:sp>
        <p:nvSpPr>
          <p:cNvPr id="30" name="Shape 28"/>
          <p:cNvSpPr/>
          <p:nvPr/>
        </p:nvSpPr>
        <p:spPr>
          <a:xfrm>
            <a:off x="6163056" y="5074920"/>
            <a:ext cx="2798064" cy="384048"/>
          </a:xfrm>
          <a:prstGeom prst="rect">
            <a:avLst/>
          </a:prstGeom>
          <a:solidFill>
            <a:srgbClr val="0A5C36"/>
          </a:solidFill>
          <a:ln w="12700">
            <a:solidFill>
              <a:srgbClr val="0A5C36"/>
            </a:solidFill>
            <a:prstDash val="solid"/>
          </a:ln>
        </p:spPr>
        <p:txBody>
          <a:bodyPr/>
          <a:p/>
        </p:txBody>
      </p:sp>
      <p:sp>
        <p:nvSpPr>
          <p:cNvPr id="31" name="Text 29"/>
          <p:cNvSpPr txBox="1"/>
          <p:nvPr/>
        </p:nvSpPr>
        <p:spPr>
          <a:xfrm>
            <a:off x="6254496" y="5102352"/>
            <a:ext cx="1097280" cy="320040"/>
          </a:xfrm>
          <a:prstGeom prst="rect">
            <a:avLst/>
          </a:prstGeom>
          <a:noFill/>
          <a:ln/>
        </p:spPr>
        <p:txBody>
          <a:bodyPr wrap="square" lIns="25400" tIns="25400" rIns="25400" bIns="2540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Academic</a:t>
            </a:r>
            <a:endParaRPr lang="en-US" sz="1200" dirty="0"/>
          </a:p>
        </p:txBody>
      </p:sp>
      <p:sp>
        <p:nvSpPr>
          <p:cNvPr id="32" name="Shape 30"/>
          <p:cNvSpPr/>
          <p:nvPr/>
        </p:nvSpPr>
        <p:spPr>
          <a:xfrm>
            <a:off x="6163056" y="5458968"/>
            <a:ext cx="2798064" cy="530352"/>
          </a:xfrm>
          <a:prstGeom prst="rect">
            <a:avLst/>
          </a:prstGeom>
          <a:solidFill>
            <a:srgbClr val="F5F7FA"/>
          </a:solidFill>
          <a:ln w="12700">
            <a:solidFill>
              <a:srgbClr val="F5F7FA"/>
            </a:solidFill>
            <a:prstDash val="solid"/>
          </a:ln>
        </p:spPr>
        <p:txBody>
          <a:bodyPr/>
          <a:p/>
        </p:txBody>
      </p:sp>
      <p:sp>
        <p:nvSpPr>
          <p:cNvPr id="33" name="Text 31"/>
          <p:cNvSpPr txBox="1"/>
          <p:nvPr/>
        </p:nvSpPr>
        <p:spPr>
          <a:xfrm>
            <a:off x="6254496" y="5486400"/>
            <a:ext cx="2633472" cy="475488"/>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Empirical DNN vs RF comparison fills Oikonomidis (2023) research gap</a:t>
            </a:r>
            <a:endParaRPr lang="en-US" sz="1050" dirty="0"/>
          </a:p>
        </p:txBody>
      </p:sp>
      <p:sp>
        <p:nvSpPr>
          <p:cNvPr id="34" name="Shape 32"/>
          <p:cNvSpPr/>
          <p:nvPr/>
        </p:nvSpPr>
        <p:spPr>
          <a:xfrm>
            <a:off x="9107424" y="5074920"/>
            <a:ext cx="2798064" cy="384048"/>
          </a:xfrm>
          <a:prstGeom prst="rect">
            <a:avLst/>
          </a:prstGeom>
          <a:solidFill>
            <a:srgbClr val="2C5F8A"/>
          </a:solidFill>
          <a:ln w="12700">
            <a:solidFill>
              <a:srgbClr val="2C5F8A"/>
            </a:solidFill>
            <a:prstDash val="solid"/>
          </a:ln>
        </p:spPr>
        <p:txBody>
          <a:bodyPr/>
          <a:p/>
        </p:txBody>
      </p:sp>
      <p:sp>
        <p:nvSpPr>
          <p:cNvPr id="35" name="Text 33"/>
          <p:cNvSpPr txBox="1"/>
          <p:nvPr/>
        </p:nvSpPr>
        <p:spPr>
          <a:xfrm>
            <a:off x="9198864" y="5102352"/>
            <a:ext cx="1097280" cy="320040"/>
          </a:xfrm>
          <a:prstGeom prst="rect">
            <a:avLst/>
          </a:prstGeom>
          <a:noFill/>
          <a:ln/>
        </p:spPr>
        <p:txBody>
          <a:bodyPr wrap="square" lIns="25400" tIns="25400" rIns="25400" bIns="2540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Security</a:t>
            </a:r>
            <a:endParaRPr lang="en-US" sz="1200" dirty="0"/>
          </a:p>
        </p:txBody>
      </p:sp>
      <p:sp>
        <p:nvSpPr>
          <p:cNvPr id="36" name="Shape 34"/>
          <p:cNvSpPr/>
          <p:nvPr/>
        </p:nvSpPr>
        <p:spPr>
          <a:xfrm>
            <a:off x="9107424" y="5458968"/>
            <a:ext cx="2798064" cy="530352"/>
          </a:xfrm>
          <a:prstGeom prst="rect">
            <a:avLst/>
          </a:prstGeom>
          <a:solidFill>
            <a:srgbClr val="F5F7FA"/>
          </a:solidFill>
          <a:ln w="12700">
            <a:solidFill>
              <a:srgbClr val="F5F7FA"/>
            </a:solidFill>
            <a:prstDash val="solid"/>
          </a:ln>
        </p:spPr>
        <p:txBody>
          <a:bodyPr/>
          <a:p/>
        </p:txBody>
      </p:sp>
      <p:sp>
        <p:nvSpPr>
          <p:cNvPr id="37" name="Text 35"/>
          <p:cNvSpPr txBox="1"/>
          <p:nvPr/>
        </p:nvSpPr>
        <p:spPr>
          <a:xfrm>
            <a:off x="9198864" y="5486400"/>
            <a:ext cx="2633472" cy="475488"/>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OWASP A01·A02·A03·A07 all implemented, tested and verified</a:t>
            </a:r>
            <a:endParaRPr lang="en-US" sz="1050" dirty="0"/>
          </a:p>
        </p:txBody>
      </p:sp>
      <p:sp>
        <p:nvSpPr>
          <p:cNvPr id="38" name="Shape 36"/>
          <p:cNvSpPr/>
          <p:nvPr/>
        </p:nvSpPr>
        <p:spPr>
          <a:xfrm>
            <a:off x="274320" y="6080760"/>
            <a:ext cx="11612880" cy="475488"/>
          </a:xfrm>
          <a:prstGeom prst="rect">
            <a:avLst/>
          </a:prstGeom>
          <a:solidFill>
            <a:srgbClr val="1E3A5F"/>
          </a:solidFill>
          <a:ln w="12700">
            <a:solidFill>
              <a:srgbClr val="1E3A5F"/>
            </a:solidFill>
            <a:prstDash val="solid"/>
          </a:ln>
        </p:spPr>
        <p:txBody>
          <a:bodyPr/>
          <a:p/>
        </p:txBody>
      </p:sp>
      <p:sp>
        <p:nvSpPr>
          <p:cNvPr id="39" name="Text 37"/>
          <p:cNvSpPr txBox="1"/>
          <p:nvPr/>
        </p:nvSpPr>
        <p:spPr>
          <a:xfrm>
            <a:off x="457200" y="6126480"/>
            <a:ext cx="11247120" cy="384048"/>
          </a:xfrm>
          <a:prstGeom prst="rect">
            <a:avLst/>
          </a:prstGeom>
          <a:noFill/>
          <a:ln/>
        </p:spPr>
        <p:txBody>
          <a:bodyPr wrap="square" lIns="25400" tIns="25400" rIns="25400" bIns="2540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AgriAI-SG demonstrates that an accessible, secure, AI-integrated CEA decision support system is technically feasible — directly supporting Singapore's 30 by 30 food security goal.</a:t>
            </a:r>
            <a:endParaRPr lang="en-US" sz="1200" dirty="0"/>
          </a:p>
        </p:txBody>
      </p:sp>
      <p:sp>
        <p:nvSpPr>
          <p:cNvPr id="41" name="Shape 38"/>
          <p:cNvSpPr/>
          <p:nvPr/>
        </p:nvSpPr>
        <p:spPr>
          <a:xfrm>
            <a:off x="0" y="6510528"/>
            <a:ext cx="12161520" cy="347472"/>
          </a:xfrm>
          <a:prstGeom prst="rect">
            <a:avLst/>
          </a:prstGeom>
          <a:solidFill>
            <a:srgbClr val="E8EDF3"/>
          </a:solidFill>
          <a:ln w="12700">
            <a:solidFill>
              <a:srgbClr val="E8EDF3"/>
            </a:solidFill>
            <a:prstDash val="solid"/>
          </a:ln>
        </p:spPr>
        <p:txBody>
          <a:bodyPr/>
          <a:p/>
        </p:txBody>
      </p:sp>
      <p:sp>
        <p:nvSpPr>
          <p:cNvPr id="43" name="Text 40"/>
          <p:cNvSpPr txBox="1"/>
          <p:nvPr/>
        </p:nvSpPr>
        <p:spPr>
          <a:xfrm>
            <a:off x="9784080" y="6510528"/>
            <a:ext cx="2194560" cy="347472"/>
          </a:xfrm>
          <a:prstGeom prst="rect">
            <a:avLst/>
          </a:prstGeom>
          <a:noFill/>
          <a:ln/>
        </p:spPr>
        <p:txBody>
          <a:bodyPr wrap="square" lIns="25400" tIns="25400" rIns="25400" bIns="25400" rtlCol="0" anchor="ctr"/>
          <a:lstStyle/>
          <a:p>
            <a:pPr algn="r" indent="0" marL="0">
              <a:buNone/>
            </a:pPr>
            <a:r>
              <a:rPr lang="en-US" sz="1000" dirty="0">
                <a:solidFill>
                  <a:srgbClr val="718096"/>
                </a:solidFill>
                <a:latin typeface="Calibri" pitchFamily="34" charset="0"/>
                <a:ea typeface="Calibri" pitchFamily="34" charset="-122"/>
                <a:cs typeface="Calibri" pitchFamily="34" charset="-120"/>
              </a:rPr>
              <a:t>8:40 – 9:20</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E3A5F"/>
          </a:solidFill>
          <a:ln w="12700">
            <a:solidFill>
              <a:srgbClr val="1E3A5F"/>
            </a:solidFill>
            <a:prstDash val="solid"/>
          </a:ln>
        </p:spPr>
        <p:txBody>
          <a:bodyPr/>
          <a:p/>
        </p:txBody>
      </p:sp>
      <p:sp>
        <p:nvSpPr>
          <p:cNvPr id="3" name="Text 1"/>
          <p:cNvSpPr txBox="1"/>
          <p:nvPr/>
        </p:nvSpPr>
        <p:spPr>
          <a:xfrm>
            <a:off x="365760" y="45720"/>
            <a:ext cx="10058400" cy="566928"/>
          </a:xfrm>
          <a:prstGeom prst="rect">
            <a:avLst/>
          </a:prstGeom>
          <a:noFill/>
          <a:ln/>
        </p:spPr>
        <p:txBody>
          <a:bodyPr wrap="square" lIns="25400" tIns="25400" rIns="25400" bIns="2540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Implications — Three Levels of Impact</a:t>
            </a:r>
            <a:endParaRPr lang="en-US" sz="2200" dirty="0"/>
          </a:p>
        </p:txBody>
      </p:sp>
      <p:sp>
        <p:nvSpPr>
          <p:cNvPr id="4" name="Shape 2"/>
          <p:cNvSpPr/>
          <p:nvPr/>
        </p:nvSpPr>
        <p:spPr>
          <a:xfrm>
            <a:off x="0" y="960120"/>
            <a:ext cx="12161520" cy="45720"/>
          </a:xfrm>
          <a:prstGeom prst="rect">
            <a:avLst/>
          </a:prstGeom>
          <a:solidFill>
            <a:srgbClr val="0D6B72"/>
          </a:solidFill>
          <a:ln w="12700">
            <a:solidFill>
              <a:srgbClr val="0D6B72"/>
            </a:solidFill>
            <a:prstDash val="solid"/>
          </a:ln>
        </p:spPr>
        <p:txBody>
          <a:bodyPr/>
          <a:p/>
        </p:txBody>
      </p:sp>
      <p:sp>
        <p:nvSpPr>
          <p:cNvPr id="5" name="Shape 3"/>
          <p:cNvSpPr/>
          <p:nvPr/>
        </p:nvSpPr>
        <p:spPr>
          <a:xfrm>
            <a:off x="274320" y="1078992"/>
            <a:ext cx="3822192" cy="475488"/>
          </a:xfrm>
          <a:prstGeom prst="rect">
            <a:avLst/>
          </a:prstGeom>
          <a:solidFill>
            <a:srgbClr val="1E3A5F"/>
          </a:solidFill>
          <a:ln w="12700">
            <a:solidFill>
              <a:srgbClr val="1E3A5F"/>
            </a:solidFill>
            <a:prstDash val="solid"/>
          </a:ln>
        </p:spPr>
        <p:txBody>
          <a:bodyPr/>
          <a:p/>
        </p:txBody>
      </p:sp>
      <p:sp>
        <p:nvSpPr>
          <p:cNvPr id="6" name="Text 4"/>
          <p:cNvSpPr txBox="1"/>
          <p:nvPr/>
        </p:nvSpPr>
        <p:spPr>
          <a:xfrm>
            <a:off x="365760" y="1106424"/>
            <a:ext cx="3657600" cy="420624"/>
          </a:xfrm>
          <a:prstGeom prst="rect">
            <a:avLst/>
          </a:prstGeom>
          <a:noFill/>
          <a:ln/>
        </p:spPr>
        <p:txBody>
          <a:bodyPr wrap="square" lIns="25400" tIns="25400" rIns="25400" bIns="2540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Farm Operator Level</a:t>
            </a:r>
            <a:endParaRPr lang="en-US" sz="1300" dirty="0"/>
          </a:p>
        </p:txBody>
      </p:sp>
      <p:sp>
        <p:nvSpPr>
          <p:cNvPr id="7" name="Shape 5"/>
          <p:cNvSpPr/>
          <p:nvPr/>
        </p:nvSpPr>
        <p:spPr>
          <a:xfrm>
            <a:off x="411480" y="2048256"/>
            <a:ext cx="54864" cy="54864"/>
          </a:xfrm>
          <a:prstGeom prst="rect">
            <a:avLst/>
          </a:prstGeom>
          <a:solidFill>
            <a:srgbClr val="1E3A5F"/>
          </a:solidFill>
          <a:ln w="12700">
            <a:solidFill>
              <a:srgbClr val="1E3A5F"/>
            </a:solidFill>
            <a:prstDash val="solid"/>
          </a:ln>
        </p:spPr>
        <p:txBody>
          <a:bodyPr/>
          <a:p/>
        </p:txBody>
      </p:sp>
      <p:sp>
        <p:nvSpPr>
          <p:cNvPr id="8" name="Text 6"/>
          <p:cNvSpPr txBox="1"/>
          <p:nvPr/>
        </p:nvSpPr>
        <p:spPr>
          <a:xfrm>
            <a:off x="548640" y="1664208"/>
            <a:ext cx="3456432" cy="914400"/>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First accessible AI-powered yield prediction tool for Singapore's small urban farm operators</a:t>
            </a:r>
            <a:endParaRPr lang="en-US" sz="1100" dirty="0"/>
          </a:p>
        </p:txBody>
      </p:sp>
      <p:sp>
        <p:nvSpPr>
          <p:cNvPr id="9" name="Shape 7"/>
          <p:cNvSpPr/>
          <p:nvPr/>
        </p:nvSpPr>
        <p:spPr>
          <a:xfrm>
            <a:off x="411480" y="3017520"/>
            <a:ext cx="54864" cy="54864"/>
          </a:xfrm>
          <a:prstGeom prst="rect">
            <a:avLst/>
          </a:prstGeom>
          <a:solidFill>
            <a:srgbClr val="1E3A5F"/>
          </a:solidFill>
          <a:ln w="12700">
            <a:solidFill>
              <a:srgbClr val="1E3A5F"/>
            </a:solidFill>
            <a:prstDash val="solid"/>
          </a:ln>
        </p:spPr>
        <p:txBody>
          <a:bodyPr/>
          <a:p/>
        </p:txBody>
      </p:sp>
      <p:sp>
        <p:nvSpPr>
          <p:cNvPr id="10" name="Text 8"/>
          <p:cNvSpPr txBox="1"/>
          <p:nvPr/>
        </p:nvSpPr>
        <p:spPr>
          <a:xfrm>
            <a:off x="548640" y="2633472"/>
            <a:ext cx="3456432" cy="914400"/>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Answers 'What should I plant and how much will I yield?' — previously required data science expertise</a:t>
            </a:r>
            <a:endParaRPr lang="en-US" sz="1100" dirty="0"/>
          </a:p>
        </p:txBody>
      </p:sp>
      <p:sp>
        <p:nvSpPr>
          <p:cNvPr id="11" name="Shape 9"/>
          <p:cNvSpPr/>
          <p:nvPr/>
        </p:nvSpPr>
        <p:spPr>
          <a:xfrm>
            <a:off x="411480" y="3986784"/>
            <a:ext cx="54864" cy="54864"/>
          </a:xfrm>
          <a:prstGeom prst="rect">
            <a:avLst/>
          </a:prstGeom>
          <a:solidFill>
            <a:srgbClr val="1E3A5F"/>
          </a:solidFill>
          <a:ln w="12700">
            <a:solidFill>
              <a:srgbClr val="1E3A5F"/>
            </a:solidFill>
            <a:prstDash val="solid"/>
          </a:ln>
        </p:spPr>
        <p:txBody>
          <a:bodyPr/>
          <a:p/>
        </p:txBody>
      </p:sp>
      <p:sp>
        <p:nvSpPr>
          <p:cNvPr id="12" name="Text 10"/>
          <p:cNvSpPr txBox="1"/>
          <p:nvPr/>
        </p:nvSpPr>
        <p:spPr>
          <a:xfrm>
            <a:off x="548640" y="3602736"/>
            <a:ext cx="3456432" cy="914400"/>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Feature importance: prioritise Nutrient TDS (40% impact) and Temperature (28%) above all other factors</a:t>
            </a:r>
            <a:endParaRPr lang="en-US" sz="1100" dirty="0"/>
          </a:p>
        </p:txBody>
      </p:sp>
      <p:sp>
        <p:nvSpPr>
          <p:cNvPr id="13" name="Shape 11"/>
          <p:cNvSpPr/>
          <p:nvPr/>
        </p:nvSpPr>
        <p:spPr>
          <a:xfrm>
            <a:off x="411480" y="4956048"/>
            <a:ext cx="54864" cy="54864"/>
          </a:xfrm>
          <a:prstGeom prst="rect">
            <a:avLst/>
          </a:prstGeom>
          <a:solidFill>
            <a:srgbClr val="1E3A5F"/>
          </a:solidFill>
          <a:ln w="12700">
            <a:solidFill>
              <a:srgbClr val="1E3A5F"/>
            </a:solidFill>
            <a:prstDash val="solid"/>
          </a:ln>
        </p:spPr>
        <p:txBody>
          <a:bodyPr/>
          <a:p/>
        </p:txBody>
      </p:sp>
      <p:sp>
        <p:nvSpPr>
          <p:cNvPr id="14" name="Text 12"/>
          <p:cNvSpPr txBox="1"/>
          <p:nvPr/>
        </p:nvSpPr>
        <p:spPr>
          <a:xfrm>
            <a:off x="548640" y="4572000"/>
            <a:ext cx="3456432" cy="914400"/>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Confidence scores on every prediction — transparent AI, operators know reliability of each forecast</a:t>
            </a:r>
            <a:endParaRPr lang="en-US" sz="1100" dirty="0"/>
          </a:p>
        </p:txBody>
      </p:sp>
      <p:sp>
        <p:nvSpPr>
          <p:cNvPr id="15" name="Shape 13"/>
          <p:cNvSpPr/>
          <p:nvPr/>
        </p:nvSpPr>
        <p:spPr>
          <a:xfrm>
            <a:off x="411480" y="5925312"/>
            <a:ext cx="54864" cy="54864"/>
          </a:xfrm>
          <a:prstGeom prst="rect">
            <a:avLst/>
          </a:prstGeom>
          <a:solidFill>
            <a:srgbClr val="1E3A5F"/>
          </a:solidFill>
          <a:ln w="12700">
            <a:solidFill>
              <a:srgbClr val="1E3A5F"/>
            </a:solidFill>
            <a:prstDash val="solid"/>
          </a:ln>
        </p:spPr>
        <p:txBody>
          <a:bodyPr/>
          <a:p/>
        </p:txBody>
      </p:sp>
      <p:sp>
        <p:nvSpPr>
          <p:cNvPr id="16" name="Text 14"/>
          <p:cNvSpPr txBox="1"/>
          <p:nvPr/>
        </p:nvSpPr>
        <p:spPr>
          <a:xfrm>
            <a:off x="548640" y="5541264"/>
            <a:ext cx="3456432" cy="914400"/>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Complete workflow: register → manage farms → log crops → track activities → get AI prediction</a:t>
            </a:r>
            <a:endParaRPr lang="en-US" sz="1100" dirty="0"/>
          </a:p>
        </p:txBody>
      </p:sp>
      <p:sp>
        <p:nvSpPr>
          <p:cNvPr id="17" name="Shape 15"/>
          <p:cNvSpPr/>
          <p:nvPr/>
        </p:nvSpPr>
        <p:spPr>
          <a:xfrm>
            <a:off x="4251960" y="1078992"/>
            <a:ext cx="3822192" cy="475488"/>
          </a:xfrm>
          <a:prstGeom prst="rect">
            <a:avLst/>
          </a:prstGeom>
          <a:solidFill>
            <a:srgbClr val="0D6B72"/>
          </a:solidFill>
          <a:ln w="12700">
            <a:solidFill>
              <a:srgbClr val="0D6B72"/>
            </a:solidFill>
            <a:prstDash val="solid"/>
          </a:ln>
        </p:spPr>
        <p:txBody>
          <a:bodyPr/>
          <a:p/>
        </p:txBody>
      </p:sp>
      <p:sp>
        <p:nvSpPr>
          <p:cNvPr id="18" name="Text 16"/>
          <p:cNvSpPr txBox="1"/>
          <p:nvPr/>
        </p:nvSpPr>
        <p:spPr>
          <a:xfrm>
            <a:off x="4343400" y="1106424"/>
            <a:ext cx="3657600" cy="420624"/>
          </a:xfrm>
          <a:prstGeom prst="rect">
            <a:avLst/>
          </a:prstGeom>
          <a:noFill/>
          <a:ln/>
        </p:spPr>
        <p:txBody>
          <a:bodyPr wrap="square" lIns="25400" tIns="25400" rIns="25400" bIns="2540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National Policy Level</a:t>
            </a:r>
            <a:endParaRPr lang="en-US" sz="1300" dirty="0"/>
          </a:p>
        </p:txBody>
      </p:sp>
      <p:sp>
        <p:nvSpPr>
          <p:cNvPr id="19" name="Shape 17"/>
          <p:cNvSpPr/>
          <p:nvPr/>
        </p:nvSpPr>
        <p:spPr>
          <a:xfrm>
            <a:off x="4389120" y="2048256"/>
            <a:ext cx="54864" cy="54864"/>
          </a:xfrm>
          <a:prstGeom prst="rect">
            <a:avLst/>
          </a:prstGeom>
          <a:solidFill>
            <a:srgbClr val="0D6B72"/>
          </a:solidFill>
          <a:ln w="12700">
            <a:solidFill>
              <a:srgbClr val="0D6B72"/>
            </a:solidFill>
            <a:prstDash val="solid"/>
          </a:ln>
        </p:spPr>
        <p:txBody>
          <a:bodyPr/>
          <a:p/>
        </p:txBody>
      </p:sp>
      <p:sp>
        <p:nvSpPr>
          <p:cNvPr id="20" name="Text 18"/>
          <p:cNvSpPr txBox="1"/>
          <p:nvPr/>
        </p:nvSpPr>
        <p:spPr>
          <a:xfrm>
            <a:off x="4526280" y="1664208"/>
            <a:ext cx="3456432" cy="914400"/>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Demonstrates AI-driven CEA management tools are technically feasible for Singapore's context</a:t>
            </a:r>
            <a:endParaRPr lang="en-US" sz="1100" dirty="0"/>
          </a:p>
        </p:txBody>
      </p:sp>
      <p:sp>
        <p:nvSpPr>
          <p:cNvPr id="21" name="Shape 19"/>
          <p:cNvSpPr/>
          <p:nvPr/>
        </p:nvSpPr>
        <p:spPr>
          <a:xfrm>
            <a:off x="4389120" y="3017520"/>
            <a:ext cx="54864" cy="54864"/>
          </a:xfrm>
          <a:prstGeom prst="rect">
            <a:avLst/>
          </a:prstGeom>
          <a:solidFill>
            <a:srgbClr val="0D6B72"/>
          </a:solidFill>
          <a:ln w="12700">
            <a:solidFill>
              <a:srgbClr val="0D6B72"/>
            </a:solidFill>
            <a:prstDash val="solid"/>
          </a:ln>
        </p:spPr>
        <p:txBody>
          <a:bodyPr/>
          <a:p/>
        </p:txBody>
      </p:sp>
      <p:sp>
        <p:nvSpPr>
          <p:cNvPr id="22" name="Text 20"/>
          <p:cNvSpPr txBox="1"/>
          <p:nvPr/>
        </p:nvSpPr>
        <p:spPr>
          <a:xfrm>
            <a:off x="4526280" y="2633472"/>
            <a:ext cx="3456432" cy="914400"/>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Directly supports SFA 30 by 30 food security initiative — data-driven farm planning now accessible</a:t>
            </a:r>
            <a:endParaRPr lang="en-US" sz="1100" dirty="0"/>
          </a:p>
        </p:txBody>
      </p:sp>
      <p:sp>
        <p:nvSpPr>
          <p:cNvPr id="23" name="Shape 21"/>
          <p:cNvSpPr/>
          <p:nvPr/>
        </p:nvSpPr>
        <p:spPr>
          <a:xfrm>
            <a:off x="4389120" y="3986784"/>
            <a:ext cx="54864" cy="54864"/>
          </a:xfrm>
          <a:prstGeom prst="rect">
            <a:avLst/>
          </a:prstGeom>
          <a:solidFill>
            <a:srgbClr val="0D6B72"/>
          </a:solidFill>
          <a:ln w="12700">
            <a:solidFill>
              <a:srgbClr val="0D6B72"/>
            </a:solidFill>
            <a:prstDash val="solid"/>
          </a:ln>
        </p:spPr>
        <p:txBody>
          <a:bodyPr/>
          <a:p/>
        </p:txBody>
      </p:sp>
      <p:sp>
        <p:nvSpPr>
          <p:cNvPr id="24" name="Text 22"/>
          <p:cNvSpPr txBox="1"/>
          <p:nvPr/>
        </p:nvSpPr>
        <p:spPr>
          <a:xfrm>
            <a:off x="4526280" y="3602736"/>
            <a:ext cx="3456432" cy="914400"/>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Single Masters student built system exceeding academic benchmarks — scalable model for the sector</a:t>
            </a:r>
            <a:endParaRPr lang="en-US" sz="1100" dirty="0"/>
          </a:p>
        </p:txBody>
      </p:sp>
      <p:sp>
        <p:nvSpPr>
          <p:cNvPr id="25" name="Shape 23"/>
          <p:cNvSpPr/>
          <p:nvPr/>
        </p:nvSpPr>
        <p:spPr>
          <a:xfrm>
            <a:off x="4389120" y="4956048"/>
            <a:ext cx="54864" cy="54864"/>
          </a:xfrm>
          <a:prstGeom prst="rect">
            <a:avLst/>
          </a:prstGeom>
          <a:solidFill>
            <a:srgbClr val="0D6B72"/>
          </a:solidFill>
          <a:ln w="12700">
            <a:solidFill>
              <a:srgbClr val="0D6B72"/>
            </a:solidFill>
            <a:prstDash val="solid"/>
          </a:ln>
        </p:spPr>
        <p:txBody>
          <a:bodyPr/>
          <a:p/>
        </p:txBody>
      </p:sp>
      <p:sp>
        <p:nvSpPr>
          <p:cNvPr id="26" name="Text 24"/>
          <p:cNvSpPr txBox="1"/>
          <p:nvPr/>
        </p:nvSpPr>
        <p:spPr>
          <a:xfrm>
            <a:off x="4526280" y="4572000"/>
            <a:ext cx="3456432" cy="914400"/>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PDPA (2021) compliance pathway identified — Singapore Government Commercial Cloud deployment</a:t>
            </a:r>
            <a:endParaRPr lang="en-US" sz="1100" dirty="0"/>
          </a:p>
        </p:txBody>
      </p:sp>
      <p:sp>
        <p:nvSpPr>
          <p:cNvPr id="27" name="Shape 25"/>
          <p:cNvSpPr/>
          <p:nvPr/>
        </p:nvSpPr>
        <p:spPr>
          <a:xfrm>
            <a:off x="4389120" y="5925312"/>
            <a:ext cx="54864" cy="54864"/>
          </a:xfrm>
          <a:prstGeom prst="rect">
            <a:avLst/>
          </a:prstGeom>
          <a:solidFill>
            <a:srgbClr val="0D6B72"/>
          </a:solidFill>
          <a:ln w="12700">
            <a:solidFill>
              <a:srgbClr val="0D6B72"/>
            </a:solidFill>
            <a:prstDash val="solid"/>
          </a:ln>
        </p:spPr>
        <p:txBody>
          <a:bodyPr/>
          <a:p/>
        </p:txBody>
      </p:sp>
      <p:sp>
        <p:nvSpPr>
          <p:cNvPr id="28" name="Text 26"/>
          <p:cNvSpPr txBox="1"/>
          <p:nvPr/>
        </p:nvSpPr>
        <p:spPr>
          <a:xfrm>
            <a:off x="4526280" y="5541264"/>
            <a:ext cx="3456432" cy="914400"/>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SFA partnership for real IoT sensor data collection recommended as highest-priority next step</a:t>
            </a:r>
            <a:endParaRPr lang="en-US" sz="1100" dirty="0"/>
          </a:p>
        </p:txBody>
      </p:sp>
      <p:sp>
        <p:nvSpPr>
          <p:cNvPr id="29" name="Shape 27"/>
          <p:cNvSpPr/>
          <p:nvPr/>
        </p:nvSpPr>
        <p:spPr>
          <a:xfrm>
            <a:off x="8229600" y="1078992"/>
            <a:ext cx="3822192" cy="475488"/>
          </a:xfrm>
          <a:prstGeom prst="rect">
            <a:avLst/>
          </a:prstGeom>
          <a:solidFill>
            <a:srgbClr val="0A5C36"/>
          </a:solidFill>
          <a:ln w="12700">
            <a:solidFill>
              <a:srgbClr val="0A5C36"/>
            </a:solidFill>
            <a:prstDash val="solid"/>
          </a:ln>
        </p:spPr>
        <p:txBody>
          <a:bodyPr/>
          <a:p/>
        </p:txBody>
      </p:sp>
      <p:sp>
        <p:nvSpPr>
          <p:cNvPr id="30" name="Text 28"/>
          <p:cNvSpPr txBox="1"/>
          <p:nvPr/>
        </p:nvSpPr>
        <p:spPr>
          <a:xfrm>
            <a:off x="8321040" y="1106424"/>
            <a:ext cx="3657600" cy="420624"/>
          </a:xfrm>
          <a:prstGeom prst="rect">
            <a:avLst/>
          </a:prstGeom>
          <a:noFill/>
          <a:ln/>
        </p:spPr>
        <p:txBody>
          <a:bodyPr wrap="square" lIns="25400" tIns="25400" rIns="25400" bIns="2540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Academic Level</a:t>
            </a:r>
            <a:endParaRPr lang="en-US" sz="1300" dirty="0"/>
          </a:p>
        </p:txBody>
      </p:sp>
      <p:sp>
        <p:nvSpPr>
          <p:cNvPr id="31" name="Shape 29"/>
          <p:cNvSpPr/>
          <p:nvPr/>
        </p:nvSpPr>
        <p:spPr>
          <a:xfrm>
            <a:off x="8366760" y="2048256"/>
            <a:ext cx="54864" cy="54864"/>
          </a:xfrm>
          <a:prstGeom prst="rect">
            <a:avLst/>
          </a:prstGeom>
          <a:solidFill>
            <a:srgbClr val="0A5C36"/>
          </a:solidFill>
          <a:ln w="12700">
            <a:solidFill>
              <a:srgbClr val="0A5C36"/>
            </a:solidFill>
            <a:prstDash val="solid"/>
          </a:ln>
        </p:spPr>
        <p:txBody>
          <a:bodyPr/>
          <a:p/>
        </p:txBody>
      </p:sp>
      <p:sp>
        <p:nvSpPr>
          <p:cNvPr id="32" name="Text 30"/>
          <p:cNvSpPr txBox="1"/>
          <p:nvPr/>
        </p:nvSpPr>
        <p:spPr>
          <a:xfrm>
            <a:off x="8503920" y="1664208"/>
            <a:ext cx="3456432" cy="914400"/>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Empirical DNN vs RF comparison fills specific gap identified by Oikonomidis et al. (2023)</a:t>
            </a:r>
            <a:endParaRPr lang="en-US" sz="1100" dirty="0"/>
          </a:p>
        </p:txBody>
      </p:sp>
      <p:sp>
        <p:nvSpPr>
          <p:cNvPr id="33" name="Shape 31"/>
          <p:cNvSpPr/>
          <p:nvPr/>
        </p:nvSpPr>
        <p:spPr>
          <a:xfrm>
            <a:off x="8366760" y="3017520"/>
            <a:ext cx="54864" cy="54864"/>
          </a:xfrm>
          <a:prstGeom prst="rect">
            <a:avLst/>
          </a:prstGeom>
          <a:solidFill>
            <a:srgbClr val="0A5C36"/>
          </a:solidFill>
          <a:ln w="12700">
            <a:solidFill>
              <a:srgbClr val="0A5C36"/>
            </a:solidFill>
            <a:prstDash val="solid"/>
          </a:ln>
        </p:spPr>
        <p:txBody>
          <a:bodyPr/>
          <a:p/>
        </p:txBody>
      </p:sp>
      <p:sp>
        <p:nvSpPr>
          <p:cNvPr id="34" name="Text 32"/>
          <p:cNvSpPr txBox="1"/>
          <p:nvPr/>
        </p:nvSpPr>
        <p:spPr>
          <a:xfrm>
            <a:off x="8503920" y="2633472"/>
            <a:ext cx="3456432" cy="914400"/>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DNN gap 0.0016 vs RF gap 0.0356 empirically confirms theoretical prediction of Khaki &amp; Wang (2019)</a:t>
            </a:r>
            <a:endParaRPr lang="en-US" sz="1100" dirty="0"/>
          </a:p>
        </p:txBody>
      </p:sp>
      <p:sp>
        <p:nvSpPr>
          <p:cNvPr id="35" name="Shape 33"/>
          <p:cNvSpPr/>
          <p:nvPr/>
        </p:nvSpPr>
        <p:spPr>
          <a:xfrm>
            <a:off x="8366760" y="3986784"/>
            <a:ext cx="54864" cy="54864"/>
          </a:xfrm>
          <a:prstGeom prst="rect">
            <a:avLst/>
          </a:prstGeom>
          <a:solidFill>
            <a:srgbClr val="0A5C36"/>
          </a:solidFill>
          <a:ln w="12700">
            <a:solidFill>
              <a:srgbClr val="0A5C36"/>
            </a:solidFill>
            <a:prstDash val="solid"/>
          </a:ln>
        </p:spPr>
        <p:txBody>
          <a:bodyPr/>
          <a:p/>
        </p:txBody>
      </p:sp>
      <p:sp>
        <p:nvSpPr>
          <p:cNvPr id="36" name="Text 34"/>
          <p:cNvSpPr txBox="1"/>
          <p:nvPr/>
        </p:nvSpPr>
        <p:spPr>
          <a:xfrm>
            <a:off x="8503920" y="3602736"/>
            <a:ext cx="3456432" cy="914400"/>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DSRM + DeLone &amp; McLean integration provides replicable framework for future AI-DSS IS research</a:t>
            </a:r>
            <a:endParaRPr lang="en-US" sz="1100" dirty="0"/>
          </a:p>
        </p:txBody>
      </p:sp>
      <p:sp>
        <p:nvSpPr>
          <p:cNvPr id="37" name="Shape 35"/>
          <p:cNvSpPr/>
          <p:nvPr/>
        </p:nvSpPr>
        <p:spPr>
          <a:xfrm>
            <a:off x="8366760" y="4956048"/>
            <a:ext cx="54864" cy="54864"/>
          </a:xfrm>
          <a:prstGeom prst="rect">
            <a:avLst/>
          </a:prstGeom>
          <a:solidFill>
            <a:srgbClr val="0A5C36"/>
          </a:solidFill>
          <a:ln w="12700">
            <a:solidFill>
              <a:srgbClr val="0A5C36"/>
            </a:solidFill>
            <a:prstDash val="solid"/>
          </a:ln>
        </p:spPr>
        <p:txBody>
          <a:bodyPr/>
          <a:p/>
        </p:txBody>
      </p:sp>
      <p:sp>
        <p:nvSpPr>
          <p:cNvPr id="38" name="Text 36"/>
          <p:cNvSpPr txBox="1"/>
          <p:nvPr/>
        </p:nvSpPr>
        <p:spPr>
          <a:xfrm>
            <a:off x="8503920" y="4572000"/>
            <a:ext cx="3456432" cy="914400"/>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Feature importance rankings externally validate established agronomy literature</a:t>
            </a:r>
            <a:endParaRPr lang="en-US" sz="1100" dirty="0"/>
          </a:p>
        </p:txBody>
      </p:sp>
      <p:sp>
        <p:nvSpPr>
          <p:cNvPr id="39" name="Shape 37"/>
          <p:cNvSpPr/>
          <p:nvPr/>
        </p:nvSpPr>
        <p:spPr>
          <a:xfrm>
            <a:off x="8366760" y="5925312"/>
            <a:ext cx="54864" cy="54864"/>
          </a:xfrm>
          <a:prstGeom prst="rect">
            <a:avLst/>
          </a:prstGeom>
          <a:solidFill>
            <a:srgbClr val="0A5C36"/>
          </a:solidFill>
          <a:ln w="12700">
            <a:solidFill>
              <a:srgbClr val="0A5C36"/>
            </a:solidFill>
            <a:prstDash val="solid"/>
          </a:ln>
        </p:spPr>
        <p:txBody>
          <a:bodyPr/>
          <a:p/>
        </p:txBody>
      </p:sp>
      <p:sp>
        <p:nvSpPr>
          <p:cNvPr id="40" name="Text 38"/>
          <p:cNvSpPr txBox="1"/>
          <p:nvPr/>
        </p:nvSpPr>
        <p:spPr>
          <a:xfrm>
            <a:off x="8503920" y="5541264"/>
            <a:ext cx="3456432" cy="914400"/>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Pipeline fully reproducible with random_state=42 — supports future researchers</a:t>
            </a:r>
            <a:endParaRPr lang="en-US" sz="1100" dirty="0"/>
          </a:p>
        </p:txBody>
      </p:sp>
      <p:sp>
        <p:nvSpPr>
          <p:cNvPr id="41" name="Shape 39"/>
          <p:cNvSpPr/>
          <p:nvPr/>
        </p:nvSpPr>
        <p:spPr>
          <a:xfrm>
            <a:off x="0" y="6510528"/>
            <a:ext cx="12161520" cy="347472"/>
          </a:xfrm>
          <a:prstGeom prst="rect">
            <a:avLst/>
          </a:prstGeom>
          <a:solidFill>
            <a:srgbClr val="E8EDF3"/>
          </a:solidFill>
          <a:ln w="12700">
            <a:solidFill>
              <a:srgbClr val="E8EDF3"/>
            </a:solidFill>
            <a:prstDash val="solid"/>
          </a:ln>
        </p:spPr>
        <p:txBody>
          <a:bodyPr/>
          <a:p/>
        </p:txBody>
      </p:sp>
      <p:sp>
        <p:nvSpPr>
          <p:cNvPr id="43" name="Text 41"/>
          <p:cNvSpPr txBox="1"/>
          <p:nvPr/>
        </p:nvSpPr>
        <p:spPr>
          <a:xfrm>
            <a:off x="9784080" y="6510528"/>
            <a:ext cx="2194560" cy="347472"/>
          </a:xfrm>
          <a:prstGeom prst="rect">
            <a:avLst/>
          </a:prstGeom>
          <a:noFill/>
          <a:ln/>
        </p:spPr>
        <p:txBody>
          <a:bodyPr wrap="square" lIns="25400" tIns="25400" rIns="25400" bIns="25400" rtlCol="0" anchor="ctr"/>
          <a:lstStyle/>
          <a:p>
            <a:pPr algn="r" indent="0" marL="0">
              <a:buNone/>
            </a:pPr>
            <a:r>
              <a:rPr lang="en-US" sz="1000" dirty="0">
                <a:solidFill>
                  <a:srgbClr val="718096"/>
                </a:solidFill>
                <a:latin typeface="Calibri" pitchFamily="34" charset="0"/>
                <a:ea typeface="Calibri" pitchFamily="34" charset="-122"/>
                <a:cs typeface="Calibri" pitchFamily="34" charset="-120"/>
              </a:rPr>
              <a:t>9:20 – 9:45</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E3A5F"/>
          </a:solidFill>
          <a:ln w="12700">
            <a:solidFill>
              <a:srgbClr val="1E3A5F"/>
            </a:solidFill>
            <a:prstDash val="solid"/>
          </a:ln>
        </p:spPr>
        <p:txBody>
          <a:bodyPr/>
          <a:p/>
        </p:txBody>
      </p:sp>
      <p:sp>
        <p:nvSpPr>
          <p:cNvPr id="3" name="Text 1"/>
          <p:cNvSpPr txBox="1"/>
          <p:nvPr/>
        </p:nvSpPr>
        <p:spPr>
          <a:xfrm>
            <a:off x="365760" y="45720"/>
            <a:ext cx="10058400" cy="566928"/>
          </a:xfrm>
          <a:prstGeom prst="rect">
            <a:avLst/>
          </a:prstGeom>
          <a:noFill/>
          <a:ln/>
        </p:spPr>
        <p:txBody>
          <a:bodyPr wrap="square" lIns="25400" tIns="25400" rIns="25400" bIns="2540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Limitations &amp; Future Development Roadmap</a:t>
            </a:r>
            <a:endParaRPr lang="en-US" sz="2200" dirty="0"/>
          </a:p>
        </p:txBody>
      </p:sp>
      <p:sp>
        <p:nvSpPr>
          <p:cNvPr id="4" name="Text 2"/>
          <p:cNvSpPr txBox="1"/>
          <p:nvPr/>
        </p:nvSpPr>
        <p:spPr>
          <a:xfrm>
            <a:off x="365760" y="585216"/>
            <a:ext cx="10972800" cy="329184"/>
          </a:xfrm>
          <a:prstGeom prst="rect">
            <a:avLst/>
          </a:prstGeom>
          <a:noFill/>
          <a:ln/>
        </p:spPr>
        <p:txBody>
          <a:bodyPr wrap="square" lIns="25400" tIns="25400" rIns="25400" bIns="25400" rtlCol="0" anchor="ctr"/>
          <a:lstStyle/>
          <a:p>
            <a:pPr algn="l" indent="0" marL="0">
              <a:buNone/>
            </a:pPr>
            <a:r>
              <a:rPr lang="en-US" sz="1100" dirty="0">
                <a:solidFill>
                  <a:srgbClr val="B8CDE0"/>
                </a:solidFill>
                <a:latin typeface="Calibri" pitchFamily="34" charset="0"/>
                <a:ea typeface="Calibri" pitchFamily="34" charset="-122"/>
                <a:cs typeface="Calibri" pitchFamily="34" charset="-120"/>
              </a:rPr>
              <a:t>Honest critical assessment — essential at Masters level</a:t>
            </a:r>
            <a:endParaRPr lang="en-US" sz="1100" dirty="0"/>
          </a:p>
        </p:txBody>
      </p:sp>
      <p:sp>
        <p:nvSpPr>
          <p:cNvPr id="5" name="Shape 3"/>
          <p:cNvSpPr/>
          <p:nvPr/>
        </p:nvSpPr>
        <p:spPr>
          <a:xfrm>
            <a:off x="0" y="960120"/>
            <a:ext cx="12161520" cy="45720"/>
          </a:xfrm>
          <a:prstGeom prst="rect">
            <a:avLst/>
          </a:prstGeom>
          <a:solidFill>
            <a:srgbClr val="0D6B72"/>
          </a:solidFill>
          <a:ln w="12700">
            <a:solidFill>
              <a:srgbClr val="0D6B72"/>
            </a:solidFill>
            <a:prstDash val="solid"/>
          </a:ln>
        </p:spPr>
        <p:txBody>
          <a:bodyPr/>
          <a:p/>
        </p:txBody>
      </p:sp>
      <p:sp>
        <p:nvSpPr>
          <p:cNvPr id="6" name="Text 4"/>
          <p:cNvSpPr txBox="1"/>
          <p:nvPr/>
        </p:nvSpPr>
        <p:spPr>
          <a:xfrm>
            <a:off x="274320" y="1078992"/>
            <a:ext cx="5303520" cy="347472"/>
          </a:xfrm>
          <a:prstGeom prst="rect">
            <a:avLst/>
          </a:prstGeom>
          <a:noFill/>
          <a:ln/>
        </p:spPr>
        <p:txBody>
          <a:bodyPr wrap="square" lIns="25400" tIns="25400" rIns="25400" bIns="25400" rtlCol="0" anchor="ctr"/>
          <a:lstStyle/>
          <a:p>
            <a:pPr algn="l" indent="0" marL="0">
              <a:buNone/>
            </a:pPr>
            <a:r>
              <a:rPr lang="en-US" sz="1300" b="1" dirty="0">
                <a:solidFill>
                  <a:srgbClr val="B45309"/>
                </a:solidFill>
                <a:latin typeface="Calibri" pitchFamily="34" charset="0"/>
                <a:ea typeface="Calibri" pitchFamily="34" charset="-122"/>
                <a:cs typeface="Calibri" pitchFamily="34" charset="-120"/>
              </a:rPr>
              <a:t>Current Limitations:</a:t>
            </a:r>
            <a:endParaRPr lang="en-US" sz="1300" dirty="0"/>
          </a:p>
        </p:txBody>
      </p:sp>
      <p:sp>
        <p:nvSpPr>
          <p:cNvPr id="7" name="Shape 5"/>
          <p:cNvSpPr/>
          <p:nvPr/>
        </p:nvSpPr>
        <p:spPr>
          <a:xfrm>
            <a:off x="274320" y="1490472"/>
            <a:ext cx="5303520" cy="384048"/>
          </a:xfrm>
          <a:prstGeom prst="rect">
            <a:avLst/>
          </a:prstGeom>
          <a:solidFill>
            <a:srgbClr val="B45309"/>
          </a:solidFill>
          <a:ln w="12700">
            <a:solidFill>
              <a:srgbClr val="B45309"/>
            </a:solidFill>
            <a:prstDash val="solid"/>
          </a:ln>
        </p:spPr>
        <p:txBody>
          <a:bodyPr/>
          <a:p/>
        </p:txBody>
      </p:sp>
      <p:sp>
        <p:nvSpPr>
          <p:cNvPr id="8" name="Text 6"/>
          <p:cNvSpPr txBox="1"/>
          <p:nvPr/>
        </p:nvSpPr>
        <p:spPr>
          <a:xfrm>
            <a:off x="384048" y="1527048"/>
            <a:ext cx="5120640" cy="320040"/>
          </a:xfrm>
          <a:prstGeom prst="rect">
            <a:avLst/>
          </a:prstGeom>
          <a:noFill/>
          <a:ln/>
        </p:spPr>
        <p:txBody>
          <a:bodyPr wrap="square" lIns="25400" tIns="25400" rIns="25400" bIns="2540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  Limited dataset scope</a:t>
            </a:r>
            <a:endParaRPr lang="en-US" sz="1200" dirty="0"/>
          </a:p>
        </p:txBody>
      </p:sp>
      <p:sp>
        <p:nvSpPr>
          <p:cNvPr id="9" name="Shape 7"/>
          <p:cNvSpPr/>
          <p:nvPr/>
        </p:nvSpPr>
        <p:spPr>
          <a:xfrm>
            <a:off x="274320" y="1874520"/>
            <a:ext cx="5303520" cy="594360"/>
          </a:xfrm>
          <a:prstGeom prst="rect">
            <a:avLst/>
          </a:prstGeom>
          <a:solidFill>
            <a:srgbClr val="F5F7FA"/>
          </a:solidFill>
          <a:ln w="12700">
            <a:solidFill>
              <a:srgbClr val="F5F7FA"/>
            </a:solidFill>
            <a:prstDash val="solid"/>
          </a:ln>
        </p:spPr>
        <p:txBody>
          <a:bodyPr/>
          <a:p/>
        </p:txBody>
      </p:sp>
      <p:sp>
        <p:nvSpPr>
          <p:cNvPr id="10" name="Text 8"/>
          <p:cNvSpPr txBox="1"/>
          <p:nvPr/>
        </p:nvSpPr>
        <p:spPr>
          <a:xfrm>
            <a:off x="384048" y="1911096"/>
            <a:ext cx="5120640" cy="530352"/>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Dataset sourced from a single published study — broader crop variety and growing environment coverage needed for wider applicability</a:t>
            </a:r>
            <a:endParaRPr lang="en-US" sz="1100" dirty="0"/>
          </a:p>
        </p:txBody>
      </p:sp>
      <p:sp>
        <p:nvSpPr>
          <p:cNvPr id="11" name="Shape 9"/>
          <p:cNvSpPr/>
          <p:nvPr/>
        </p:nvSpPr>
        <p:spPr>
          <a:xfrm>
            <a:off x="274320" y="2496312"/>
            <a:ext cx="5303520" cy="384048"/>
          </a:xfrm>
          <a:prstGeom prst="rect">
            <a:avLst/>
          </a:prstGeom>
          <a:solidFill>
            <a:srgbClr val="B45309"/>
          </a:solidFill>
          <a:ln w="12700">
            <a:solidFill>
              <a:srgbClr val="B45309"/>
            </a:solidFill>
            <a:prstDash val="solid"/>
          </a:ln>
        </p:spPr>
        <p:txBody>
          <a:bodyPr/>
          <a:p/>
        </p:txBody>
      </p:sp>
      <p:sp>
        <p:nvSpPr>
          <p:cNvPr id="12" name="Text 10"/>
          <p:cNvSpPr txBox="1"/>
          <p:nvPr/>
        </p:nvSpPr>
        <p:spPr>
          <a:xfrm>
            <a:off x="384048" y="2532888"/>
            <a:ext cx="5120640" cy="320040"/>
          </a:xfrm>
          <a:prstGeom prst="rect">
            <a:avLst/>
          </a:prstGeom>
          <a:noFill/>
          <a:ln/>
        </p:spPr>
        <p:txBody>
          <a:bodyPr wrap="square" lIns="25400" tIns="25400" rIns="25400" bIns="2540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  10 of 25 FRs implemented</a:t>
            </a:r>
            <a:endParaRPr lang="en-US" sz="1200" dirty="0"/>
          </a:p>
        </p:txBody>
      </p:sp>
      <p:sp>
        <p:nvSpPr>
          <p:cNvPr id="13" name="Shape 11"/>
          <p:cNvSpPr/>
          <p:nvPr/>
        </p:nvSpPr>
        <p:spPr>
          <a:xfrm>
            <a:off x="274320" y="2880360"/>
            <a:ext cx="5303520" cy="594360"/>
          </a:xfrm>
          <a:prstGeom prst="rect">
            <a:avLst/>
          </a:prstGeom>
          <a:solidFill>
            <a:srgbClr val="F5F7FA"/>
          </a:solidFill>
          <a:ln w="12700">
            <a:solidFill>
              <a:srgbClr val="F5F7FA"/>
            </a:solidFill>
            <a:prstDash val="solid"/>
          </a:ln>
        </p:spPr>
        <p:txBody>
          <a:bodyPr/>
          <a:p/>
        </p:txBody>
      </p:sp>
      <p:sp>
        <p:nvSpPr>
          <p:cNvPr id="14" name="Text 12"/>
          <p:cNvSpPr txBox="1"/>
          <p:nvPr/>
        </p:nvSpPr>
        <p:spPr>
          <a:xfrm>
            <a:off x="384048" y="2916936"/>
            <a:ext cx="5120640" cy="530352"/>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15 deferred: filters, forgot password, account lockout, metrics dashboard, LSTM/XGBoost</a:t>
            </a:r>
            <a:endParaRPr lang="en-US" sz="1100" dirty="0"/>
          </a:p>
        </p:txBody>
      </p:sp>
      <p:sp>
        <p:nvSpPr>
          <p:cNvPr id="15" name="Shape 13"/>
          <p:cNvSpPr/>
          <p:nvPr/>
        </p:nvSpPr>
        <p:spPr>
          <a:xfrm>
            <a:off x="274320" y="3502152"/>
            <a:ext cx="5303520" cy="384048"/>
          </a:xfrm>
          <a:prstGeom prst="rect">
            <a:avLst/>
          </a:prstGeom>
          <a:solidFill>
            <a:srgbClr val="B45309"/>
          </a:solidFill>
          <a:ln w="12700">
            <a:solidFill>
              <a:srgbClr val="B45309"/>
            </a:solidFill>
            <a:prstDash val="solid"/>
          </a:ln>
        </p:spPr>
        <p:txBody>
          <a:bodyPr/>
          <a:p/>
        </p:txBody>
      </p:sp>
      <p:sp>
        <p:nvSpPr>
          <p:cNvPr id="16" name="Text 14"/>
          <p:cNvSpPr txBox="1"/>
          <p:nvPr/>
        </p:nvSpPr>
        <p:spPr>
          <a:xfrm>
            <a:off x="384048" y="3538728"/>
            <a:ext cx="5120640" cy="320040"/>
          </a:xfrm>
          <a:prstGeom prst="rect">
            <a:avLst/>
          </a:prstGeom>
          <a:noFill/>
          <a:ln/>
        </p:spPr>
        <p:txBody>
          <a:bodyPr wrap="square" lIns="25400" tIns="25400" rIns="25400" bIns="2540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  No SUS usability study</a:t>
            </a:r>
            <a:endParaRPr lang="en-US" sz="1200" dirty="0"/>
          </a:p>
        </p:txBody>
      </p:sp>
      <p:sp>
        <p:nvSpPr>
          <p:cNvPr id="17" name="Shape 15"/>
          <p:cNvSpPr/>
          <p:nvPr/>
        </p:nvSpPr>
        <p:spPr>
          <a:xfrm>
            <a:off x="274320" y="3886200"/>
            <a:ext cx="5303520" cy="594360"/>
          </a:xfrm>
          <a:prstGeom prst="rect">
            <a:avLst/>
          </a:prstGeom>
          <a:solidFill>
            <a:srgbClr val="F5F7FA"/>
          </a:solidFill>
          <a:ln w="12700">
            <a:solidFill>
              <a:srgbClr val="F5F7FA"/>
            </a:solidFill>
            <a:prstDash val="solid"/>
          </a:ln>
        </p:spPr>
        <p:txBody>
          <a:bodyPr/>
          <a:p/>
        </p:txBody>
      </p:sp>
      <p:sp>
        <p:nvSpPr>
          <p:cNvPr id="18" name="Text 16"/>
          <p:cNvSpPr txBox="1"/>
          <p:nvPr/>
        </p:nvSpPr>
        <p:spPr>
          <a:xfrm>
            <a:off x="384048" y="3922776"/>
            <a:ext cx="5120640" cy="530352"/>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Participant testing requires ethics committee approval — heuristic evaluation used instead</a:t>
            </a:r>
            <a:endParaRPr lang="en-US" sz="1100" dirty="0"/>
          </a:p>
        </p:txBody>
      </p:sp>
      <p:sp>
        <p:nvSpPr>
          <p:cNvPr id="19" name="Shape 17"/>
          <p:cNvSpPr/>
          <p:nvPr/>
        </p:nvSpPr>
        <p:spPr>
          <a:xfrm>
            <a:off x="274320" y="4507992"/>
            <a:ext cx="5303520" cy="384048"/>
          </a:xfrm>
          <a:prstGeom prst="rect">
            <a:avLst/>
          </a:prstGeom>
          <a:solidFill>
            <a:srgbClr val="B45309"/>
          </a:solidFill>
          <a:ln w="12700">
            <a:solidFill>
              <a:srgbClr val="B45309"/>
            </a:solidFill>
            <a:prstDash val="solid"/>
          </a:ln>
        </p:spPr>
        <p:txBody>
          <a:bodyPr/>
          <a:p/>
        </p:txBody>
      </p:sp>
      <p:sp>
        <p:nvSpPr>
          <p:cNvPr id="20" name="Text 18"/>
          <p:cNvSpPr txBox="1"/>
          <p:nvPr/>
        </p:nvSpPr>
        <p:spPr>
          <a:xfrm>
            <a:off x="384048" y="4544568"/>
            <a:ext cx="5120640" cy="320040"/>
          </a:xfrm>
          <a:prstGeom prst="rect">
            <a:avLst/>
          </a:prstGeom>
          <a:noFill/>
          <a:ln/>
        </p:spPr>
        <p:txBody>
          <a:bodyPr wrap="square" lIns="25400" tIns="25400" rIns="25400" bIns="2540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  Localhost deployment only</a:t>
            </a:r>
            <a:endParaRPr lang="en-US" sz="1200" dirty="0"/>
          </a:p>
        </p:txBody>
      </p:sp>
      <p:sp>
        <p:nvSpPr>
          <p:cNvPr id="21" name="Shape 19"/>
          <p:cNvSpPr/>
          <p:nvPr/>
        </p:nvSpPr>
        <p:spPr>
          <a:xfrm>
            <a:off x="274320" y="4892040"/>
            <a:ext cx="5303520" cy="594360"/>
          </a:xfrm>
          <a:prstGeom prst="rect">
            <a:avLst/>
          </a:prstGeom>
          <a:solidFill>
            <a:srgbClr val="F5F7FA"/>
          </a:solidFill>
          <a:ln w="12700">
            <a:solidFill>
              <a:srgbClr val="F5F7FA"/>
            </a:solidFill>
            <a:prstDash val="solid"/>
          </a:ln>
        </p:spPr>
        <p:txBody>
          <a:bodyPr/>
          <a:p/>
        </p:txBody>
      </p:sp>
      <p:sp>
        <p:nvSpPr>
          <p:cNvPr id="22" name="Text 20"/>
          <p:cNvSpPr txBox="1"/>
          <p:nvPr/>
        </p:nvSpPr>
        <p:spPr>
          <a:xfrm>
            <a:off x="384048" y="4928616"/>
            <a:ext cx="5120640" cy="530352"/>
          </a:xfrm>
          <a:prstGeom prst="rect">
            <a:avLst/>
          </a:prstGeom>
          <a:noFill/>
          <a:ln/>
        </p:spPr>
        <p:txBody>
          <a:bodyPr wrap="square" lIns="25400" tIns="25400" rIns="25400" bIns="25400" rtlCol="0" anchor="ctr"/>
          <a:lstStyle/>
          <a:p>
            <a:pPr algn="l" indent="0" marL="0">
              <a:buNone/>
            </a:pPr>
            <a:r>
              <a:rPr lang="en-US" sz="1100" dirty="0">
                <a:solidFill>
                  <a:srgbClr val="1A202C"/>
                </a:solidFill>
                <a:latin typeface="Calibri" pitchFamily="34" charset="0"/>
                <a:ea typeface="Calibri" pitchFamily="34" charset="-122"/>
                <a:cs typeface="Calibri" pitchFamily="34" charset="-120"/>
              </a:rPr>
              <a:t>Concurrent load and cloud latency not tested — Docker Compose deployment not yet done</a:t>
            </a:r>
            <a:endParaRPr lang="en-US" sz="1100" dirty="0"/>
          </a:p>
        </p:txBody>
      </p:sp>
      <p:sp>
        <p:nvSpPr>
          <p:cNvPr id="23" name="Text 21"/>
          <p:cNvSpPr txBox="1"/>
          <p:nvPr/>
        </p:nvSpPr>
        <p:spPr>
          <a:xfrm>
            <a:off x="5943600" y="1078992"/>
            <a:ext cx="6035040" cy="347472"/>
          </a:xfrm>
          <a:prstGeom prst="rect">
            <a:avLst/>
          </a:prstGeom>
          <a:noFill/>
          <a:ln/>
        </p:spPr>
        <p:txBody>
          <a:bodyPr wrap="square" lIns="25400" tIns="25400" rIns="25400" bIns="25400" rtlCol="0" anchor="ctr"/>
          <a:lstStyle/>
          <a:p>
            <a:pPr algn="l" indent="0" marL="0">
              <a:buNone/>
            </a:pPr>
            <a:r>
              <a:rPr lang="en-US" sz="1300" b="1" dirty="0">
                <a:solidFill>
                  <a:srgbClr val="1E3A5F"/>
                </a:solidFill>
                <a:latin typeface="Calibri" pitchFamily="34" charset="0"/>
                <a:ea typeface="Calibri" pitchFamily="34" charset="-122"/>
                <a:cs typeface="Calibri" pitchFamily="34" charset="-120"/>
              </a:rPr>
              <a:t>Future Development Roadmap:</a:t>
            </a:r>
            <a:endParaRPr lang="en-US" sz="1300" dirty="0"/>
          </a:p>
        </p:txBody>
      </p:sp>
      <p:sp>
        <p:nvSpPr>
          <p:cNvPr id="24" name="Shape 22"/>
          <p:cNvSpPr/>
          <p:nvPr/>
        </p:nvSpPr>
        <p:spPr>
          <a:xfrm>
            <a:off x="5943600" y="1490472"/>
            <a:ext cx="6035040" cy="384048"/>
          </a:xfrm>
          <a:prstGeom prst="rect">
            <a:avLst/>
          </a:prstGeom>
          <a:solidFill>
            <a:srgbClr val="1E3A5F"/>
          </a:solidFill>
          <a:ln w="12700">
            <a:solidFill>
              <a:srgbClr val="1E3A5F"/>
            </a:solidFill>
            <a:prstDash val="solid"/>
          </a:ln>
        </p:spPr>
        <p:txBody>
          <a:bodyPr/>
          <a:p/>
        </p:txBody>
      </p:sp>
      <p:sp>
        <p:nvSpPr>
          <p:cNvPr id="25" name="Text 23"/>
          <p:cNvSpPr txBox="1"/>
          <p:nvPr/>
        </p:nvSpPr>
        <p:spPr>
          <a:xfrm>
            <a:off x="6053328" y="1527048"/>
            <a:ext cx="5852160" cy="320040"/>
          </a:xfrm>
          <a:prstGeom prst="rect">
            <a:avLst/>
          </a:prstGeom>
          <a:noFill/>
          <a:ln/>
        </p:spPr>
        <p:txBody>
          <a:bodyPr wrap="square" lIns="25400" tIns="25400" rIns="25400" bIns="2540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Near-Term (0–12 months)</a:t>
            </a:r>
            <a:endParaRPr lang="en-US" sz="1200" dirty="0"/>
          </a:p>
        </p:txBody>
      </p:sp>
      <p:sp>
        <p:nvSpPr>
          <p:cNvPr id="26" name="Shape 24"/>
          <p:cNvSpPr/>
          <p:nvPr/>
        </p:nvSpPr>
        <p:spPr>
          <a:xfrm>
            <a:off x="6080760" y="2057400"/>
            <a:ext cx="45720" cy="45720"/>
          </a:xfrm>
          <a:prstGeom prst="rect">
            <a:avLst/>
          </a:prstGeom>
          <a:solidFill>
            <a:srgbClr val="1E3A5F"/>
          </a:solidFill>
          <a:ln w="12700">
            <a:solidFill>
              <a:srgbClr val="1E3A5F"/>
            </a:solidFill>
            <a:prstDash val="solid"/>
          </a:ln>
        </p:spPr>
        <p:txBody>
          <a:bodyPr/>
          <a:p/>
        </p:txBody>
      </p:sp>
      <p:sp>
        <p:nvSpPr>
          <p:cNvPr id="27" name="Text 25"/>
          <p:cNvSpPr txBox="1"/>
          <p:nvPr/>
        </p:nvSpPr>
        <p:spPr>
          <a:xfrm>
            <a:off x="6236208" y="1965960"/>
            <a:ext cx="5669280" cy="274320"/>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Collect real IoT sensor data from SFA-registered Singapore CEA farms</a:t>
            </a:r>
            <a:endParaRPr lang="en-US" sz="1050" dirty="0"/>
          </a:p>
        </p:txBody>
      </p:sp>
      <p:sp>
        <p:nvSpPr>
          <p:cNvPr id="28" name="Shape 26"/>
          <p:cNvSpPr/>
          <p:nvPr/>
        </p:nvSpPr>
        <p:spPr>
          <a:xfrm>
            <a:off x="6080760" y="2313432"/>
            <a:ext cx="45720" cy="45720"/>
          </a:xfrm>
          <a:prstGeom prst="rect">
            <a:avLst/>
          </a:prstGeom>
          <a:solidFill>
            <a:srgbClr val="1E3A5F"/>
          </a:solidFill>
          <a:ln w="12700">
            <a:solidFill>
              <a:srgbClr val="1E3A5F"/>
            </a:solidFill>
            <a:prstDash val="solid"/>
          </a:ln>
        </p:spPr>
        <p:txBody>
          <a:bodyPr/>
          <a:p/>
        </p:txBody>
      </p:sp>
      <p:sp>
        <p:nvSpPr>
          <p:cNvPr id="29" name="Text 27"/>
          <p:cNvSpPr txBox="1"/>
          <p:nvPr/>
        </p:nvSpPr>
        <p:spPr>
          <a:xfrm>
            <a:off x="6236208" y="2221992"/>
            <a:ext cx="5669280" cy="274320"/>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Expand dataset coverage across more crop types and growing environments</a:t>
            </a:r>
            <a:endParaRPr lang="en-US" sz="1050" dirty="0"/>
          </a:p>
        </p:txBody>
      </p:sp>
      <p:sp>
        <p:nvSpPr>
          <p:cNvPr id="30" name="Shape 28"/>
          <p:cNvSpPr/>
          <p:nvPr/>
        </p:nvSpPr>
        <p:spPr>
          <a:xfrm>
            <a:off x="6080760" y="2569464"/>
            <a:ext cx="45720" cy="45720"/>
          </a:xfrm>
          <a:prstGeom prst="rect">
            <a:avLst/>
          </a:prstGeom>
          <a:solidFill>
            <a:srgbClr val="1E3A5F"/>
          </a:solidFill>
          <a:ln w="12700">
            <a:solidFill>
              <a:srgbClr val="1E3A5F"/>
            </a:solidFill>
            <a:prstDash val="solid"/>
          </a:ln>
        </p:spPr>
        <p:txBody>
          <a:bodyPr/>
          <a:p/>
        </p:txBody>
      </p:sp>
      <p:sp>
        <p:nvSpPr>
          <p:cNvPr id="31" name="Text 29"/>
          <p:cNvSpPr txBox="1"/>
          <p:nvPr/>
        </p:nvSpPr>
        <p:spPr>
          <a:xfrm>
            <a:off x="6236208" y="2478024"/>
            <a:ext cx="5669280" cy="274320"/>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Implement 15 deferred FRs including filters and forgot password</a:t>
            </a:r>
            <a:endParaRPr lang="en-US" sz="1050" dirty="0"/>
          </a:p>
        </p:txBody>
      </p:sp>
      <p:sp>
        <p:nvSpPr>
          <p:cNvPr id="32" name="Shape 30"/>
          <p:cNvSpPr/>
          <p:nvPr/>
        </p:nvSpPr>
        <p:spPr>
          <a:xfrm>
            <a:off x="6080760" y="2825496"/>
            <a:ext cx="45720" cy="45720"/>
          </a:xfrm>
          <a:prstGeom prst="rect">
            <a:avLst/>
          </a:prstGeom>
          <a:solidFill>
            <a:srgbClr val="1E3A5F"/>
          </a:solidFill>
          <a:ln w="12700">
            <a:solidFill>
              <a:srgbClr val="1E3A5F"/>
            </a:solidFill>
            <a:prstDash val="solid"/>
          </a:ln>
        </p:spPr>
        <p:txBody>
          <a:bodyPr/>
          <a:p/>
        </p:txBody>
      </p:sp>
      <p:sp>
        <p:nvSpPr>
          <p:cNvPr id="33" name="Text 31"/>
          <p:cNvSpPr txBox="1"/>
          <p:nvPr/>
        </p:nvSpPr>
        <p:spPr>
          <a:xfrm>
            <a:off x="6236208" y="2734056"/>
            <a:ext cx="5669280" cy="274320"/>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Apply for ethics committee approval for formal SUS usability study</a:t>
            </a:r>
            <a:endParaRPr lang="en-US" sz="1050" dirty="0"/>
          </a:p>
        </p:txBody>
      </p:sp>
      <p:sp>
        <p:nvSpPr>
          <p:cNvPr id="34" name="Shape 32"/>
          <p:cNvSpPr/>
          <p:nvPr/>
        </p:nvSpPr>
        <p:spPr>
          <a:xfrm>
            <a:off x="5943600" y="2999232"/>
            <a:ext cx="6035040" cy="384048"/>
          </a:xfrm>
          <a:prstGeom prst="rect">
            <a:avLst/>
          </a:prstGeom>
          <a:solidFill>
            <a:srgbClr val="0D6B72"/>
          </a:solidFill>
          <a:ln w="12700">
            <a:solidFill>
              <a:srgbClr val="0D6B72"/>
            </a:solidFill>
            <a:prstDash val="solid"/>
          </a:ln>
        </p:spPr>
        <p:txBody>
          <a:bodyPr/>
          <a:p/>
        </p:txBody>
      </p:sp>
      <p:sp>
        <p:nvSpPr>
          <p:cNvPr id="35" name="Text 33"/>
          <p:cNvSpPr txBox="1"/>
          <p:nvPr/>
        </p:nvSpPr>
        <p:spPr>
          <a:xfrm>
            <a:off x="6053328" y="3035808"/>
            <a:ext cx="5852160" cy="320040"/>
          </a:xfrm>
          <a:prstGeom prst="rect">
            <a:avLst/>
          </a:prstGeom>
          <a:noFill/>
          <a:ln/>
        </p:spPr>
        <p:txBody>
          <a:bodyPr wrap="square" lIns="25400" tIns="25400" rIns="25400" bIns="2540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Medium-Term (1–3 years)</a:t>
            </a:r>
            <a:endParaRPr lang="en-US" sz="1200" dirty="0"/>
          </a:p>
        </p:txBody>
      </p:sp>
      <p:sp>
        <p:nvSpPr>
          <p:cNvPr id="36" name="Shape 34"/>
          <p:cNvSpPr/>
          <p:nvPr/>
        </p:nvSpPr>
        <p:spPr>
          <a:xfrm>
            <a:off x="6080760" y="3566160"/>
            <a:ext cx="45720" cy="45720"/>
          </a:xfrm>
          <a:prstGeom prst="rect">
            <a:avLst/>
          </a:prstGeom>
          <a:solidFill>
            <a:srgbClr val="0D6B72"/>
          </a:solidFill>
          <a:ln w="12700">
            <a:solidFill>
              <a:srgbClr val="0D6B72"/>
            </a:solidFill>
            <a:prstDash val="solid"/>
          </a:ln>
        </p:spPr>
        <p:txBody>
          <a:bodyPr/>
          <a:p/>
        </p:txBody>
      </p:sp>
      <p:sp>
        <p:nvSpPr>
          <p:cNvPr id="37" name="Text 35"/>
          <p:cNvSpPr txBox="1"/>
          <p:nvPr/>
        </p:nvSpPr>
        <p:spPr>
          <a:xfrm>
            <a:off x="6236208" y="3474720"/>
            <a:ext cx="5669280" cy="274320"/>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LSTM time-series modelling on minute-by-minute IoT readings</a:t>
            </a:r>
            <a:endParaRPr lang="en-US" sz="1050" dirty="0"/>
          </a:p>
        </p:txBody>
      </p:sp>
      <p:sp>
        <p:nvSpPr>
          <p:cNvPr id="38" name="Shape 36"/>
          <p:cNvSpPr/>
          <p:nvPr/>
        </p:nvSpPr>
        <p:spPr>
          <a:xfrm>
            <a:off x="6080760" y="3822192"/>
            <a:ext cx="45720" cy="45720"/>
          </a:xfrm>
          <a:prstGeom prst="rect">
            <a:avLst/>
          </a:prstGeom>
          <a:solidFill>
            <a:srgbClr val="0D6B72"/>
          </a:solidFill>
          <a:ln w="12700">
            <a:solidFill>
              <a:srgbClr val="0D6B72"/>
            </a:solidFill>
            <a:prstDash val="solid"/>
          </a:ln>
        </p:spPr>
        <p:txBody>
          <a:bodyPr/>
          <a:p/>
        </p:txBody>
      </p:sp>
      <p:sp>
        <p:nvSpPr>
          <p:cNvPr id="39" name="Text 37"/>
          <p:cNvSpPr txBox="1"/>
          <p:nvPr/>
        </p:nvSpPr>
        <p:spPr>
          <a:xfrm>
            <a:off x="6236208" y="3730752"/>
            <a:ext cx="5669280" cy="274320"/>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Docker Compose packaging for Singapore G-Cloud deployment</a:t>
            </a:r>
            <a:endParaRPr lang="en-US" sz="1050" dirty="0"/>
          </a:p>
        </p:txBody>
      </p:sp>
      <p:sp>
        <p:nvSpPr>
          <p:cNvPr id="40" name="Shape 38"/>
          <p:cNvSpPr/>
          <p:nvPr/>
        </p:nvSpPr>
        <p:spPr>
          <a:xfrm>
            <a:off x="6080760" y="4078224"/>
            <a:ext cx="45720" cy="45720"/>
          </a:xfrm>
          <a:prstGeom prst="rect">
            <a:avLst/>
          </a:prstGeom>
          <a:solidFill>
            <a:srgbClr val="0D6B72"/>
          </a:solidFill>
          <a:ln w="12700">
            <a:solidFill>
              <a:srgbClr val="0D6B72"/>
            </a:solidFill>
            <a:prstDash val="solid"/>
          </a:ln>
        </p:spPr>
        <p:txBody>
          <a:bodyPr/>
          <a:p/>
        </p:txBody>
      </p:sp>
      <p:sp>
        <p:nvSpPr>
          <p:cNvPr id="41" name="Text 39"/>
          <p:cNvSpPr txBox="1"/>
          <p:nvPr/>
        </p:nvSpPr>
        <p:spPr>
          <a:xfrm>
            <a:off x="6236208" y="3986784"/>
            <a:ext cx="5669280" cy="274320"/>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Formal SUS study with 20–30 Singapore CEA operators</a:t>
            </a:r>
            <a:endParaRPr lang="en-US" sz="1050" dirty="0"/>
          </a:p>
        </p:txBody>
      </p:sp>
      <p:sp>
        <p:nvSpPr>
          <p:cNvPr id="42" name="Shape 40"/>
          <p:cNvSpPr/>
          <p:nvPr/>
        </p:nvSpPr>
        <p:spPr>
          <a:xfrm>
            <a:off x="6080760" y="4334256"/>
            <a:ext cx="45720" cy="45720"/>
          </a:xfrm>
          <a:prstGeom prst="rect">
            <a:avLst/>
          </a:prstGeom>
          <a:solidFill>
            <a:srgbClr val="0D6B72"/>
          </a:solidFill>
          <a:ln w="12700">
            <a:solidFill>
              <a:srgbClr val="0D6B72"/>
            </a:solidFill>
            <a:prstDash val="solid"/>
          </a:ln>
        </p:spPr>
        <p:txBody>
          <a:bodyPr/>
          <a:p/>
        </p:txBody>
      </p:sp>
      <p:sp>
        <p:nvSpPr>
          <p:cNvPr id="43" name="Text 41"/>
          <p:cNvSpPr txBox="1"/>
          <p:nvPr/>
        </p:nvSpPr>
        <p:spPr>
          <a:xfrm>
            <a:off x="6236208" y="4242816"/>
            <a:ext cx="5669280" cy="274320"/>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k-fold cross-validation + XGBoost comparative analysis</a:t>
            </a:r>
            <a:endParaRPr lang="en-US" sz="1050" dirty="0"/>
          </a:p>
        </p:txBody>
      </p:sp>
      <p:sp>
        <p:nvSpPr>
          <p:cNvPr id="44" name="Shape 42"/>
          <p:cNvSpPr/>
          <p:nvPr/>
        </p:nvSpPr>
        <p:spPr>
          <a:xfrm>
            <a:off x="5943600" y="4507992"/>
            <a:ext cx="6035040" cy="384048"/>
          </a:xfrm>
          <a:prstGeom prst="rect">
            <a:avLst/>
          </a:prstGeom>
          <a:solidFill>
            <a:srgbClr val="0A5C36"/>
          </a:solidFill>
          <a:ln w="12700">
            <a:solidFill>
              <a:srgbClr val="0A5C36"/>
            </a:solidFill>
            <a:prstDash val="solid"/>
          </a:ln>
        </p:spPr>
        <p:txBody>
          <a:bodyPr/>
          <a:p/>
        </p:txBody>
      </p:sp>
      <p:sp>
        <p:nvSpPr>
          <p:cNvPr id="45" name="Text 43"/>
          <p:cNvSpPr txBox="1"/>
          <p:nvPr/>
        </p:nvSpPr>
        <p:spPr>
          <a:xfrm>
            <a:off x="6053328" y="4544568"/>
            <a:ext cx="5852160" cy="320040"/>
          </a:xfrm>
          <a:prstGeom prst="rect">
            <a:avLst/>
          </a:prstGeom>
          <a:noFill/>
          <a:ln/>
        </p:spPr>
        <p:txBody>
          <a:bodyPr wrap="square" lIns="25400" tIns="25400" rIns="25400" bIns="2540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Long-Term (3+ years)</a:t>
            </a:r>
            <a:endParaRPr lang="en-US" sz="1200" dirty="0"/>
          </a:p>
        </p:txBody>
      </p:sp>
      <p:sp>
        <p:nvSpPr>
          <p:cNvPr id="46" name="Shape 44"/>
          <p:cNvSpPr/>
          <p:nvPr/>
        </p:nvSpPr>
        <p:spPr>
          <a:xfrm>
            <a:off x="6080760" y="5074920"/>
            <a:ext cx="45720" cy="45720"/>
          </a:xfrm>
          <a:prstGeom prst="rect">
            <a:avLst/>
          </a:prstGeom>
          <a:solidFill>
            <a:srgbClr val="0A5C36"/>
          </a:solidFill>
          <a:ln w="12700">
            <a:solidFill>
              <a:srgbClr val="0A5C36"/>
            </a:solidFill>
            <a:prstDash val="solid"/>
          </a:ln>
        </p:spPr>
        <p:txBody>
          <a:bodyPr/>
          <a:p/>
        </p:txBody>
      </p:sp>
      <p:sp>
        <p:nvSpPr>
          <p:cNvPr id="47" name="Text 45"/>
          <p:cNvSpPr txBox="1"/>
          <p:nvPr/>
        </p:nvSpPr>
        <p:spPr>
          <a:xfrm>
            <a:off x="6236208" y="4983480"/>
            <a:ext cx="5669280" cy="274320"/>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Real-time IoT sensor integration — automated data collection</a:t>
            </a:r>
            <a:endParaRPr lang="en-US" sz="1050" dirty="0"/>
          </a:p>
        </p:txBody>
      </p:sp>
      <p:sp>
        <p:nvSpPr>
          <p:cNvPr id="48" name="Shape 46"/>
          <p:cNvSpPr/>
          <p:nvPr/>
        </p:nvSpPr>
        <p:spPr>
          <a:xfrm>
            <a:off x="6080760" y="5330952"/>
            <a:ext cx="45720" cy="45720"/>
          </a:xfrm>
          <a:prstGeom prst="rect">
            <a:avLst/>
          </a:prstGeom>
          <a:solidFill>
            <a:srgbClr val="0A5C36"/>
          </a:solidFill>
          <a:ln w="12700">
            <a:solidFill>
              <a:srgbClr val="0A5C36"/>
            </a:solidFill>
            <a:prstDash val="solid"/>
          </a:ln>
        </p:spPr>
        <p:txBody>
          <a:bodyPr/>
          <a:p/>
        </p:txBody>
      </p:sp>
      <p:sp>
        <p:nvSpPr>
          <p:cNvPr id="49" name="Text 47"/>
          <p:cNvSpPr txBox="1"/>
          <p:nvPr/>
        </p:nvSpPr>
        <p:spPr>
          <a:xfrm>
            <a:off x="6236208" y="5239512"/>
            <a:ext cx="5669280" cy="274320"/>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SFA partnership for multi-farm validated Singapore dataset</a:t>
            </a:r>
            <a:endParaRPr lang="en-US" sz="1050" dirty="0"/>
          </a:p>
        </p:txBody>
      </p:sp>
      <p:sp>
        <p:nvSpPr>
          <p:cNvPr id="50" name="Shape 48"/>
          <p:cNvSpPr/>
          <p:nvPr/>
        </p:nvSpPr>
        <p:spPr>
          <a:xfrm>
            <a:off x="6080760" y="5586984"/>
            <a:ext cx="45720" cy="45720"/>
          </a:xfrm>
          <a:prstGeom prst="rect">
            <a:avLst/>
          </a:prstGeom>
          <a:solidFill>
            <a:srgbClr val="0A5C36"/>
          </a:solidFill>
          <a:ln w="12700">
            <a:solidFill>
              <a:srgbClr val="0A5C36"/>
            </a:solidFill>
            <a:prstDash val="solid"/>
          </a:ln>
        </p:spPr>
        <p:txBody>
          <a:bodyPr/>
          <a:p/>
        </p:txBody>
      </p:sp>
      <p:sp>
        <p:nvSpPr>
          <p:cNvPr id="51" name="Text 49"/>
          <p:cNvSpPr txBox="1"/>
          <p:nvPr/>
        </p:nvSpPr>
        <p:spPr>
          <a:xfrm>
            <a:off x="6236208" y="5495544"/>
            <a:ext cx="5669280" cy="274320"/>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PDPA (2021) compliant G-Cloud production deployment</a:t>
            </a:r>
            <a:endParaRPr lang="en-US" sz="1050" dirty="0"/>
          </a:p>
        </p:txBody>
      </p:sp>
      <p:sp>
        <p:nvSpPr>
          <p:cNvPr id="52" name="Shape 50"/>
          <p:cNvSpPr/>
          <p:nvPr/>
        </p:nvSpPr>
        <p:spPr>
          <a:xfrm>
            <a:off x="6080760" y="5843016"/>
            <a:ext cx="45720" cy="45720"/>
          </a:xfrm>
          <a:prstGeom prst="rect">
            <a:avLst/>
          </a:prstGeom>
          <a:solidFill>
            <a:srgbClr val="0A5C36"/>
          </a:solidFill>
          <a:ln w="12700">
            <a:solidFill>
              <a:srgbClr val="0A5C36"/>
            </a:solidFill>
            <a:prstDash val="solid"/>
          </a:ln>
        </p:spPr>
        <p:txBody>
          <a:bodyPr/>
          <a:p/>
        </p:txBody>
      </p:sp>
      <p:sp>
        <p:nvSpPr>
          <p:cNvPr id="53" name="Text 51"/>
          <p:cNvSpPr txBox="1"/>
          <p:nvPr/>
        </p:nvSpPr>
        <p:spPr>
          <a:xfrm>
            <a:off x="6236208" y="5751576"/>
            <a:ext cx="5669280" cy="274320"/>
          </a:xfrm>
          <a:prstGeom prst="rect">
            <a:avLst/>
          </a:prstGeom>
          <a:noFill/>
          <a:ln/>
        </p:spPr>
        <p:txBody>
          <a:bodyPr wrap="square" lIns="25400" tIns="25400" rIns="25400" bIns="25400" rtlCol="0" anchor="ctr"/>
          <a:lstStyle/>
          <a:p>
            <a:pPr algn="l" indent="0" marL="0">
              <a:buNone/>
            </a:pPr>
            <a:r>
              <a:rPr lang="en-US" sz="1050" dirty="0">
                <a:solidFill>
                  <a:srgbClr val="1A202C"/>
                </a:solidFill>
                <a:latin typeface="Calibri" pitchFamily="34" charset="0"/>
                <a:ea typeface="Calibri" pitchFamily="34" charset="-122"/>
                <a:cs typeface="Calibri" pitchFamily="34" charset="-120"/>
              </a:rPr>
              <a:t>Longitudinal evaluation over full growing seasons with real operators</a:t>
            </a:r>
            <a:endParaRPr lang="en-US" sz="1050" dirty="0"/>
          </a:p>
        </p:txBody>
      </p:sp>
      <p:sp>
        <p:nvSpPr>
          <p:cNvPr id="54" name="Shape 52"/>
          <p:cNvSpPr/>
          <p:nvPr/>
        </p:nvSpPr>
        <p:spPr>
          <a:xfrm>
            <a:off x="0" y="6510528"/>
            <a:ext cx="12161520" cy="347472"/>
          </a:xfrm>
          <a:prstGeom prst="rect">
            <a:avLst/>
          </a:prstGeom>
          <a:solidFill>
            <a:srgbClr val="E8EDF3"/>
          </a:solidFill>
          <a:ln w="12700">
            <a:solidFill>
              <a:srgbClr val="E8EDF3"/>
            </a:solidFill>
            <a:prstDash val="solid"/>
          </a:ln>
        </p:spPr>
        <p:txBody>
          <a:body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2026-09-07T23:17:31Z</dcterms:created>
  <dcterms:modified xsi:type="dcterms:W3CDTF">2026-09-07T23:17:31Z</dcterms:modified>
</cp:coreProperties>
</file>